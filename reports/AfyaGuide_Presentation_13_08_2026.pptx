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438" y="-5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570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611"/>
        </a:solidFill>
        <a:effectLst/>
      </p:bgPr>
    </p:bg>
    <p:spTree>
      <p:nvGrpSpPr>
        <p:cNvPr id="1" name=""/>
        <p:cNvGrpSpPr/>
        <p:nvPr/>
      </p:nvGrpSpPr>
      <p:grpSpPr>
        <a:xfrm>
          <a:off x="0" y="0"/>
          <a:ext cx="0" cy="0"/>
          <a:chOff x="0" y="0"/>
          <a:chExt cx="0" cy="0"/>
        </a:xfrm>
      </p:grpSpPr>
      <p:sp>
        <p:nvSpPr>
          <p:cNvPr id="2" name="Shape 0"/>
          <p:cNvSpPr/>
          <p:nvPr/>
        </p:nvSpPr>
        <p:spPr>
          <a:xfrm>
            <a:off x="8869680" y="-1645920"/>
            <a:ext cx="5669280" cy="5669280"/>
          </a:xfrm>
          <a:prstGeom prst="ellipse">
            <a:avLst/>
          </a:prstGeom>
          <a:solidFill>
            <a:srgbClr val="B4550F">
              <a:alpha val="45000"/>
            </a:srgbClr>
          </a:solidFill>
          <a:ln/>
        </p:spPr>
      </p:sp>
      <p:sp>
        <p:nvSpPr>
          <p:cNvPr id="3" name="Shape 1"/>
          <p:cNvSpPr/>
          <p:nvPr/>
        </p:nvSpPr>
        <p:spPr>
          <a:xfrm>
            <a:off x="9966960" y="4206240"/>
            <a:ext cx="3291840" cy="3291840"/>
          </a:xfrm>
          <a:prstGeom prst="ellipse">
            <a:avLst/>
          </a:prstGeom>
          <a:solidFill>
            <a:srgbClr val="E36F1E">
              <a:alpha val="65000"/>
            </a:srgbClr>
          </a:solidFill>
          <a:ln/>
        </p:spPr>
      </p:sp>
      <p:sp>
        <p:nvSpPr>
          <p:cNvPr id="4" name="Text 2"/>
          <p:cNvSpPr/>
          <p:nvPr/>
        </p:nvSpPr>
        <p:spPr>
          <a:xfrm>
            <a:off x="822960" y="1783080"/>
            <a:ext cx="8686800" cy="365760"/>
          </a:xfrm>
          <a:prstGeom prst="rect">
            <a:avLst/>
          </a:prstGeom>
          <a:noFill/>
          <a:ln/>
        </p:spPr>
        <p:txBody>
          <a:bodyPr wrap="square" lIns="0" tIns="0" rIns="0" bIns="0" rtlCol="0" anchor="ctr"/>
          <a:lstStyle/>
          <a:p>
            <a:pPr marL="0" indent="0">
              <a:buNone/>
            </a:pPr>
            <a:r>
              <a:rPr lang="en-US" sz="1400" b="1" kern="0" spc="200" dirty="0">
                <a:solidFill>
                  <a:srgbClr val="E36F1E"/>
                </a:solidFill>
                <a:latin typeface="Calibri" pitchFamily="34" charset="0"/>
                <a:ea typeface="Calibri" pitchFamily="34" charset="-122"/>
                <a:cs typeface="Calibri" pitchFamily="34" charset="-120"/>
              </a:rPr>
              <a:t>INTELLIGENT HEALTH FACILITY RECOMMENDATION SYSTEM</a:t>
            </a:r>
            <a:endParaRPr lang="en-US" sz="1400" dirty="0"/>
          </a:p>
        </p:txBody>
      </p:sp>
      <p:sp>
        <p:nvSpPr>
          <p:cNvPr id="5" name="Text 3"/>
          <p:cNvSpPr/>
          <p:nvPr/>
        </p:nvSpPr>
        <p:spPr>
          <a:xfrm>
            <a:off x="777240" y="2103120"/>
            <a:ext cx="8961120" cy="1371600"/>
          </a:xfrm>
          <a:prstGeom prst="rect">
            <a:avLst/>
          </a:prstGeom>
          <a:noFill/>
          <a:ln/>
        </p:spPr>
        <p:txBody>
          <a:bodyPr wrap="square" lIns="0" tIns="0" rIns="0" bIns="0" rtlCol="0" anchor="ctr"/>
          <a:lstStyle/>
          <a:p>
            <a:pPr marL="0" indent="0">
              <a:buNone/>
            </a:pPr>
            <a:r>
              <a:rPr lang="en-US" sz="6800" b="1" dirty="0">
                <a:solidFill>
                  <a:srgbClr val="FFF6EC"/>
                </a:solidFill>
                <a:latin typeface="Cambria" pitchFamily="34" charset="0"/>
                <a:ea typeface="Cambria" pitchFamily="34" charset="-122"/>
                <a:cs typeface="Cambria" pitchFamily="34" charset="-120"/>
              </a:rPr>
              <a:t>AfyaGuide</a:t>
            </a:r>
            <a:endParaRPr lang="en-US" sz="6800" dirty="0"/>
          </a:p>
        </p:txBody>
      </p:sp>
      <p:sp>
        <p:nvSpPr>
          <p:cNvPr id="6" name="Text 4"/>
          <p:cNvSpPr/>
          <p:nvPr/>
        </p:nvSpPr>
        <p:spPr>
          <a:xfrm>
            <a:off x="822960" y="3429000"/>
            <a:ext cx="8046720" cy="502920"/>
          </a:xfrm>
          <a:prstGeom prst="rect">
            <a:avLst/>
          </a:prstGeom>
          <a:noFill/>
          <a:ln/>
        </p:spPr>
        <p:txBody>
          <a:bodyPr wrap="square" lIns="0" tIns="0" rIns="0" bIns="0" rtlCol="0" anchor="ctr"/>
          <a:lstStyle/>
          <a:p>
            <a:pPr marL="0" indent="0">
              <a:lnSpc>
                <a:spcPct val="115000"/>
              </a:lnSpc>
              <a:buNone/>
            </a:pPr>
            <a:r>
              <a:rPr lang="en-US" sz="1450" dirty="0">
                <a:solidFill>
                  <a:srgbClr val="D8C6B6"/>
                </a:solidFill>
                <a:latin typeface="Calibri" pitchFamily="34" charset="0"/>
                <a:ea typeface="Calibri" pitchFamily="34" charset="-122"/>
                <a:cs typeface="Calibri" pitchFamily="34" charset="-120"/>
              </a:rPr>
              <a:t>Turning Kenya's Master Health Facility Registry (KMHFR) into instant, explainable guidance on where to seek care.</a:t>
            </a:r>
            <a:endParaRPr lang="en-US" sz="1450" dirty="0"/>
          </a:p>
        </p:txBody>
      </p:sp>
      <p:sp>
        <p:nvSpPr>
          <p:cNvPr id="7" name="Text 5"/>
          <p:cNvSpPr/>
          <p:nvPr/>
        </p:nvSpPr>
        <p:spPr>
          <a:xfrm>
            <a:off x="822960" y="3977640"/>
            <a:ext cx="8595360" cy="1051560"/>
          </a:xfrm>
          <a:prstGeom prst="rect">
            <a:avLst/>
          </a:prstGeom>
          <a:noFill/>
          <a:ln/>
        </p:spPr>
        <p:txBody>
          <a:bodyPr wrap="square" lIns="0" tIns="0" rIns="0" bIns="0" rtlCol="0" anchor="ctr"/>
          <a:lstStyle/>
          <a:p>
            <a:pPr marL="0" indent="0">
              <a:lnSpc>
                <a:spcPct val="125000"/>
              </a:lnSpc>
              <a:buNone/>
            </a:pPr>
            <a:r>
              <a:rPr lang="en-US" sz="1150" dirty="0">
                <a:solidFill>
                  <a:srgbClr val="B8A493"/>
                </a:solidFill>
                <a:latin typeface="Calibri" pitchFamily="34" charset="0"/>
                <a:ea typeface="Calibri" pitchFamily="34" charset="-122"/>
                <a:cs typeface="Calibri" pitchFamily="34" charset="-120"/>
              </a:rPr>
              <a:t>A capstone data science project that cleans and merges 12,050 registered facilities with over 200,000 raw service records, builds a 340-entry health-need taxonomy to translate everyday language into clinical services, and scores candidate facilities on service match, care level, and distance — returning ranked results with a plain-language reason for each.</a:t>
            </a:r>
            <a:endParaRPr lang="en-US" sz="1150" dirty="0"/>
          </a:p>
        </p:txBody>
      </p:sp>
      <p:sp>
        <p:nvSpPr>
          <p:cNvPr id="8" name="Text 6"/>
          <p:cNvSpPr/>
          <p:nvPr/>
        </p:nvSpPr>
        <p:spPr>
          <a:xfrm>
            <a:off x="822960" y="5897880"/>
            <a:ext cx="54864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Faith Njoroge &amp; Michael  Owor</a:t>
            </a:r>
            <a:endParaRPr lang="en-US" sz="1200" dirty="0"/>
          </a:p>
        </p:txBody>
      </p:sp>
      <p:sp>
        <p:nvSpPr>
          <p:cNvPr id="9" name="Text 7"/>
          <p:cNvSpPr/>
          <p:nvPr/>
        </p:nvSpPr>
        <p:spPr>
          <a:xfrm>
            <a:off x="822960" y="6153912"/>
            <a:ext cx="7315200" cy="256032"/>
          </a:xfrm>
          <a:prstGeom prst="rect">
            <a:avLst/>
          </a:prstGeom>
          <a:noFill/>
          <a:ln/>
        </p:spPr>
        <p:txBody>
          <a:bodyPr wrap="square" lIns="0" tIns="0" rIns="0" bIns="0" rtlCol="0" anchor="ctr"/>
          <a:lstStyle/>
          <a:p>
            <a:pPr marL="0" indent="0">
              <a:buNone/>
            </a:pPr>
            <a:r>
              <a:rPr lang="en-US" sz="1050" dirty="0">
                <a:solidFill>
                  <a:srgbClr val="8A7364"/>
                </a:solidFill>
                <a:latin typeface="Calibri" pitchFamily="34" charset="0"/>
                <a:ea typeface="Calibri" pitchFamily="34" charset="-122"/>
                <a:cs typeface="Calibri" pitchFamily="34" charset="-120"/>
              </a:rPr>
              <a:t>Ngao Labs Capstone Project  |  Nairobi, Kenya</a:t>
            </a:r>
            <a:endParaRPr lang="en-US" sz="1050" dirty="0"/>
          </a:p>
        </p:txBody>
      </p:sp>
      <p:sp>
        <p:nvSpPr>
          <p:cNvPr id="10" name="Text 8"/>
          <p:cNvSpPr/>
          <p:nvPr/>
        </p:nvSpPr>
        <p:spPr>
          <a:xfrm>
            <a:off x="548640" y="6492240"/>
            <a:ext cx="2743200" cy="256032"/>
          </a:xfrm>
          <a:prstGeom prst="rect">
            <a:avLst/>
          </a:prstGeom>
          <a:noFill/>
          <a:ln/>
        </p:spPr>
        <p:txBody>
          <a:bodyPr wrap="square" lIns="0" tIns="0" rIns="0" bIns="0" rtlCol="0" anchor="ctr"/>
          <a:lstStyle/>
          <a:p>
            <a:pPr marL="0" indent="0">
              <a:buNone/>
            </a:pPr>
            <a:r>
              <a:rPr lang="en-US" sz="850" dirty="0">
                <a:solidFill>
                  <a:srgbClr val="C9B7A8"/>
                </a:solidFill>
                <a:latin typeface="Calibri" pitchFamily="34" charset="0"/>
                <a:ea typeface="Calibri" pitchFamily="34" charset="-122"/>
                <a:cs typeface="Calibri" pitchFamily="34" charset="-120"/>
              </a:rPr>
              <a:t>AfyaGuide</a:t>
            </a:r>
            <a:endParaRPr lang="en-US" sz="850" dirty="0"/>
          </a:p>
        </p:txBody>
      </p:sp>
      <p:sp>
        <p:nvSpPr>
          <p:cNvPr id="11" name="Text 9"/>
          <p:cNvSpPr/>
          <p:nvPr/>
        </p:nvSpPr>
        <p:spPr>
          <a:xfrm>
            <a:off x="10728655" y="6492240"/>
            <a:ext cx="914400" cy="256032"/>
          </a:xfrm>
          <a:prstGeom prst="rect">
            <a:avLst/>
          </a:prstGeom>
          <a:noFill/>
          <a:ln/>
        </p:spPr>
        <p:txBody>
          <a:bodyPr wrap="square" lIns="0" tIns="0" rIns="0" bIns="0" rtlCol="0" anchor="ctr"/>
          <a:lstStyle/>
          <a:p>
            <a:pPr marL="0" indent="0" algn="r">
              <a:buNone/>
            </a:pPr>
            <a:r>
              <a:rPr lang="en-US" sz="850" dirty="0">
                <a:solidFill>
                  <a:srgbClr val="C9B7A8"/>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marL="0" indent="0">
              <a:buNone/>
            </a:pPr>
            <a:r>
              <a:rPr lang="en-US" sz="1100" b="1" kern="0" spc="200" dirty="0">
                <a:solidFill>
                  <a:srgbClr val="E36F1E"/>
                </a:solidFill>
                <a:latin typeface="Calibri" pitchFamily="34" charset="0"/>
                <a:ea typeface="Calibri" pitchFamily="34" charset="-122"/>
                <a:cs typeface="Calibri" pitchFamily="34" charset="-120"/>
              </a:rPr>
              <a:t>01 — PROBLEM &amp; CONTEXT</a:t>
            </a:r>
            <a:endParaRPr lang="en-US" sz="1100" dirty="0"/>
          </a:p>
        </p:txBody>
      </p:sp>
      <p:sp>
        <p:nvSpPr>
          <p:cNvPr id="3" name="Text 1"/>
          <p:cNvSpPr/>
          <p:nvPr/>
        </p:nvSpPr>
        <p:spPr>
          <a:xfrm>
            <a:off x="548640" y="512064"/>
            <a:ext cx="11094415" cy="457200"/>
          </a:xfrm>
          <a:prstGeom prst="rect">
            <a:avLst/>
          </a:prstGeom>
          <a:noFill/>
          <a:ln/>
        </p:spPr>
        <p:txBody>
          <a:bodyPr wrap="square" lIns="0" tIns="0" rIns="0" bIns="0" rtlCol="0" anchor="ctr"/>
          <a:lstStyle/>
          <a:p>
            <a:pPr marL="0" indent="0">
              <a:buNone/>
            </a:pPr>
            <a:r>
              <a:rPr lang="en-US" sz="2400" b="1" dirty="0">
                <a:solidFill>
                  <a:srgbClr val="241611"/>
                </a:solidFill>
                <a:latin typeface="Cambria" pitchFamily="34" charset="0"/>
                <a:ea typeface="Cambria" pitchFamily="34" charset="-122"/>
                <a:cs typeface="Cambria" pitchFamily="34" charset="-120"/>
              </a:rPr>
              <a:t>The Problem &amp; Kenya's Facility Landscape</a:t>
            </a:r>
            <a:endParaRPr lang="en-US" sz="2400" dirty="0"/>
          </a:p>
        </p:txBody>
      </p:sp>
      <p:sp>
        <p:nvSpPr>
          <p:cNvPr id="4" name="Text 2"/>
          <p:cNvSpPr/>
          <p:nvPr/>
        </p:nvSpPr>
        <p:spPr>
          <a:xfrm>
            <a:off x="548640" y="1481328"/>
            <a:ext cx="5532120" cy="1051560"/>
          </a:xfrm>
          <a:prstGeom prst="rect">
            <a:avLst/>
          </a:prstGeom>
          <a:noFill/>
          <a:ln/>
        </p:spPr>
        <p:txBody>
          <a:bodyPr wrap="square" lIns="0" tIns="0" rIns="0" bIns="0" rtlCol="0" anchor="ctr"/>
          <a:lstStyle/>
          <a:p>
            <a:pPr marL="0" indent="0">
              <a:lnSpc>
                <a:spcPct val="115000"/>
              </a:lnSpc>
              <a:buNone/>
            </a:pPr>
            <a:r>
              <a:rPr lang="en-US" sz="1050" dirty="0">
                <a:solidFill>
                  <a:srgbClr val="3A2E26"/>
                </a:solidFill>
                <a:latin typeface="Calibri" pitchFamily="34" charset="0"/>
                <a:ea typeface="Calibri" pitchFamily="34" charset="-122"/>
                <a:cs typeface="Calibri" pitchFamily="34" charset="-120"/>
              </a:rPr>
              <a:t>Kenyans deciding where to seek care typically rely on guesswork, distance, or word of mouth — not on what a facility actually offers or is equipped to handle. KMHFR already holds the detailed answer: every facility's services, capability level, and location. But that registry is built for administrators, not structured for an ordinary person searching by health need, so the knowledge stays locked away exactly when it matters most.</a:t>
            </a:r>
            <a:endParaRPr lang="en-US" sz="1050" dirty="0"/>
          </a:p>
        </p:txBody>
      </p:sp>
      <p:sp>
        <p:nvSpPr>
          <p:cNvPr id="5" name="Shape 3"/>
          <p:cNvSpPr/>
          <p:nvPr/>
        </p:nvSpPr>
        <p:spPr>
          <a:xfrm>
            <a:off x="548640" y="2651760"/>
            <a:ext cx="1755648" cy="1143000"/>
          </a:xfrm>
          <a:prstGeom prst="roundRect">
            <a:avLst>
              <a:gd name="adj" fmla="val 5600"/>
            </a:avLst>
          </a:prstGeom>
          <a:solidFill>
            <a:srgbClr val="FBE8D6"/>
          </a:solidFill>
          <a:ln/>
        </p:spPr>
      </p:sp>
      <p:sp>
        <p:nvSpPr>
          <p:cNvPr id="6" name="Text 4"/>
          <p:cNvSpPr/>
          <p:nvPr/>
        </p:nvSpPr>
        <p:spPr>
          <a:xfrm>
            <a:off x="667512" y="2724912"/>
            <a:ext cx="1517904" cy="480060"/>
          </a:xfrm>
          <a:prstGeom prst="rect">
            <a:avLst/>
          </a:prstGeom>
          <a:noFill/>
          <a:ln/>
        </p:spPr>
        <p:txBody>
          <a:bodyPr wrap="square" lIns="0" tIns="0" rIns="0" bIns="0" rtlCol="0" anchor="ctr"/>
          <a:lstStyle/>
          <a:p>
            <a:pPr marL="0" indent="0">
              <a:buNone/>
            </a:pPr>
            <a:r>
              <a:rPr lang="en-US" sz="1800" b="1" dirty="0">
                <a:solidFill>
                  <a:srgbClr val="B4550F"/>
                </a:solidFill>
                <a:latin typeface="Cambria" pitchFamily="34" charset="0"/>
                <a:ea typeface="Cambria" pitchFamily="34" charset="-122"/>
                <a:cs typeface="Cambria" pitchFamily="34" charset="-120"/>
              </a:rPr>
              <a:t>12,050</a:t>
            </a:r>
            <a:endParaRPr lang="en-US" sz="1800" dirty="0"/>
          </a:p>
        </p:txBody>
      </p:sp>
      <p:sp>
        <p:nvSpPr>
          <p:cNvPr id="7" name="Text 5"/>
          <p:cNvSpPr/>
          <p:nvPr/>
        </p:nvSpPr>
        <p:spPr>
          <a:xfrm>
            <a:off x="667512" y="3154680"/>
            <a:ext cx="1517904" cy="594360"/>
          </a:xfrm>
          <a:prstGeom prst="rect">
            <a:avLst/>
          </a:prstGeom>
          <a:noFill/>
          <a:ln/>
        </p:spPr>
        <p:txBody>
          <a:bodyPr wrap="square" lIns="0" tIns="0" rIns="0" bIns="0" rtlCol="0" anchor="t"/>
          <a:lstStyle/>
          <a:p>
            <a:pPr marL="0" indent="0">
              <a:lnSpc>
                <a:spcPct val="102000"/>
              </a:lnSpc>
              <a:buNone/>
            </a:pPr>
            <a:r>
              <a:rPr lang="en-US" sz="850" dirty="0">
                <a:solidFill>
                  <a:srgbClr val="5C4A3D"/>
                </a:solidFill>
                <a:latin typeface="Calibri" pitchFamily="34" charset="0"/>
                <a:ea typeface="Calibri" pitchFamily="34" charset="-122"/>
                <a:cs typeface="Calibri" pitchFamily="34" charset="-120"/>
              </a:rPr>
              <a:t>registered facilities in KMHFR — profiled but hard to search by need</a:t>
            </a:r>
            <a:endParaRPr lang="en-US" sz="850" dirty="0"/>
          </a:p>
        </p:txBody>
      </p:sp>
      <p:sp>
        <p:nvSpPr>
          <p:cNvPr id="8" name="Shape 6"/>
          <p:cNvSpPr/>
          <p:nvPr/>
        </p:nvSpPr>
        <p:spPr>
          <a:xfrm>
            <a:off x="2432304" y="2651760"/>
            <a:ext cx="1755648" cy="1143000"/>
          </a:xfrm>
          <a:prstGeom prst="roundRect">
            <a:avLst>
              <a:gd name="adj" fmla="val 5600"/>
            </a:avLst>
          </a:prstGeom>
          <a:solidFill>
            <a:srgbClr val="FBE8D6"/>
          </a:solidFill>
          <a:ln/>
        </p:spPr>
      </p:sp>
      <p:sp>
        <p:nvSpPr>
          <p:cNvPr id="9" name="Text 7"/>
          <p:cNvSpPr/>
          <p:nvPr/>
        </p:nvSpPr>
        <p:spPr>
          <a:xfrm>
            <a:off x="2551176" y="2724912"/>
            <a:ext cx="1517904" cy="480060"/>
          </a:xfrm>
          <a:prstGeom prst="rect">
            <a:avLst/>
          </a:prstGeom>
          <a:noFill/>
          <a:ln/>
        </p:spPr>
        <p:txBody>
          <a:bodyPr wrap="square" lIns="0" tIns="0" rIns="0" bIns="0" rtlCol="0" anchor="ctr"/>
          <a:lstStyle/>
          <a:p>
            <a:pPr marL="0" indent="0">
              <a:buNone/>
            </a:pPr>
            <a:r>
              <a:rPr lang="en-US" sz="1800" b="1" dirty="0">
                <a:solidFill>
                  <a:srgbClr val="B4550F"/>
                </a:solidFill>
                <a:latin typeface="Cambria" pitchFamily="34" charset="0"/>
                <a:ea typeface="Cambria" pitchFamily="34" charset="-122"/>
                <a:cs typeface="Cambria" pitchFamily="34" charset="-120"/>
              </a:rPr>
              <a:t>205,755</a:t>
            </a:r>
            <a:endParaRPr lang="en-US" sz="1800" dirty="0"/>
          </a:p>
        </p:txBody>
      </p:sp>
      <p:sp>
        <p:nvSpPr>
          <p:cNvPr id="10" name="Text 8"/>
          <p:cNvSpPr/>
          <p:nvPr/>
        </p:nvSpPr>
        <p:spPr>
          <a:xfrm>
            <a:off x="2551176" y="3154680"/>
            <a:ext cx="1517904" cy="594360"/>
          </a:xfrm>
          <a:prstGeom prst="rect">
            <a:avLst/>
          </a:prstGeom>
          <a:noFill/>
          <a:ln/>
        </p:spPr>
        <p:txBody>
          <a:bodyPr wrap="square" lIns="0" tIns="0" rIns="0" bIns="0" rtlCol="0" anchor="t"/>
          <a:lstStyle/>
          <a:p>
            <a:pPr marL="0" indent="0">
              <a:lnSpc>
                <a:spcPct val="102000"/>
              </a:lnSpc>
              <a:buNone/>
            </a:pPr>
            <a:r>
              <a:rPr lang="en-US" sz="850" dirty="0">
                <a:solidFill>
                  <a:srgbClr val="5C4A3D"/>
                </a:solidFill>
                <a:latin typeface="Calibri" pitchFamily="34" charset="0"/>
                <a:ea typeface="Calibri" pitchFamily="34" charset="-122"/>
                <a:cs typeface="Calibri" pitchFamily="34" charset="-120"/>
              </a:rPr>
              <a:t>raw scraped service records — inconsistent, duplicated, not user-facing</a:t>
            </a:r>
            <a:endParaRPr lang="en-US" sz="850" dirty="0"/>
          </a:p>
        </p:txBody>
      </p:sp>
      <p:sp>
        <p:nvSpPr>
          <p:cNvPr id="11" name="Shape 9"/>
          <p:cNvSpPr/>
          <p:nvPr/>
        </p:nvSpPr>
        <p:spPr>
          <a:xfrm>
            <a:off x="4315968" y="2651760"/>
            <a:ext cx="1755648" cy="1143000"/>
          </a:xfrm>
          <a:prstGeom prst="roundRect">
            <a:avLst>
              <a:gd name="adj" fmla="val 5600"/>
            </a:avLst>
          </a:prstGeom>
          <a:solidFill>
            <a:srgbClr val="FBE8D6"/>
          </a:solidFill>
          <a:ln/>
        </p:spPr>
      </p:sp>
      <p:sp>
        <p:nvSpPr>
          <p:cNvPr id="12" name="Text 10"/>
          <p:cNvSpPr/>
          <p:nvPr/>
        </p:nvSpPr>
        <p:spPr>
          <a:xfrm>
            <a:off x="4434840" y="2724912"/>
            <a:ext cx="1517904" cy="480060"/>
          </a:xfrm>
          <a:prstGeom prst="rect">
            <a:avLst/>
          </a:prstGeom>
          <a:noFill/>
          <a:ln/>
        </p:spPr>
        <p:txBody>
          <a:bodyPr wrap="square" lIns="0" tIns="0" rIns="0" bIns="0" rtlCol="0" anchor="ctr"/>
          <a:lstStyle/>
          <a:p>
            <a:pPr marL="0" indent="0">
              <a:buNone/>
            </a:pPr>
            <a:r>
              <a:rPr lang="en-US" sz="1800" b="1" dirty="0">
                <a:solidFill>
                  <a:srgbClr val="B4550F"/>
                </a:solidFill>
                <a:latin typeface="Cambria" pitchFamily="34" charset="0"/>
                <a:ea typeface="Cambria" pitchFamily="34" charset="-122"/>
                <a:cs typeface="Cambria" pitchFamily="34" charset="-120"/>
              </a:rPr>
              <a:t>0</a:t>
            </a:r>
            <a:endParaRPr lang="en-US" sz="1800" dirty="0"/>
          </a:p>
        </p:txBody>
      </p:sp>
      <p:sp>
        <p:nvSpPr>
          <p:cNvPr id="13" name="Text 11"/>
          <p:cNvSpPr/>
          <p:nvPr/>
        </p:nvSpPr>
        <p:spPr>
          <a:xfrm>
            <a:off x="4434840" y="3154680"/>
            <a:ext cx="1517904" cy="594360"/>
          </a:xfrm>
          <a:prstGeom prst="rect">
            <a:avLst/>
          </a:prstGeom>
          <a:noFill/>
          <a:ln/>
        </p:spPr>
        <p:txBody>
          <a:bodyPr wrap="square" lIns="0" tIns="0" rIns="0" bIns="0" rtlCol="0" anchor="t"/>
          <a:lstStyle/>
          <a:p>
            <a:pPr marL="0" indent="0">
              <a:lnSpc>
                <a:spcPct val="102000"/>
              </a:lnSpc>
              <a:buNone/>
            </a:pPr>
            <a:r>
              <a:rPr lang="en-US" sz="850" dirty="0">
                <a:solidFill>
                  <a:srgbClr val="5C4A3D"/>
                </a:solidFill>
                <a:latin typeface="Calibri" pitchFamily="34" charset="0"/>
                <a:ea typeface="Calibri" pitchFamily="34" charset="-122"/>
                <a:cs typeface="Calibri" pitchFamily="34" charset="-120"/>
              </a:rPr>
              <a:t>existing tools turning a plain-language concern into a ranked, explained list</a:t>
            </a:r>
            <a:endParaRPr lang="en-US" sz="850" dirty="0"/>
          </a:p>
        </p:txBody>
      </p:sp>
      <p:sp>
        <p:nvSpPr>
          <p:cNvPr id="14" name="Shape 12"/>
          <p:cNvSpPr/>
          <p:nvPr/>
        </p:nvSpPr>
        <p:spPr>
          <a:xfrm>
            <a:off x="548640" y="3931920"/>
            <a:ext cx="5522976" cy="777240"/>
          </a:xfrm>
          <a:prstGeom prst="roundRect">
            <a:avLst>
              <a:gd name="adj" fmla="val 8235"/>
            </a:avLst>
          </a:prstGeom>
          <a:solidFill>
            <a:srgbClr val="B4550F"/>
          </a:solidFill>
          <a:ln/>
        </p:spPr>
      </p:sp>
      <p:sp>
        <p:nvSpPr>
          <p:cNvPr id="15" name="Text 13"/>
          <p:cNvSpPr/>
          <p:nvPr/>
        </p:nvSpPr>
        <p:spPr>
          <a:xfrm>
            <a:off x="731520" y="3931920"/>
            <a:ext cx="5157216" cy="777240"/>
          </a:xfrm>
          <a:prstGeom prst="rect">
            <a:avLst/>
          </a:prstGeom>
          <a:noFill/>
          <a:ln/>
        </p:spPr>
        <p:txBody>
          <a:bodyPr wrap="square" lIns="0" tIns="0" rIns="0" bIns="0" rtlCol="0" anchor="ctr"/>
          <a:lstStyle/>
          <a:p>
            <a:pPr marL="0" indent="0">
              <a:lnSpc>
                <a:spcPct val="110000"/>
              </a:lnSpc>
              <a:buNone/>
            </a:pPr>
            <a:r>
              <a:rPr lang="en-US" sz="1000" b="1" dirty="0">
                <a:solidFill>
                  <a:srgbClr val="FFFFFF"/>
                </a:solidFill>
                <a:latin typeface="Calibri" pitchFamily="34" charset="0"/>
                <a:ea typeface="Calibri" pitchFamily="34" charset="-122"/>
                <a:cs typeface="Calibri" pitchFamily="34" charset="-120"/>
              </a:rPr>
              <a:t>The result: delayed care, wasted trips, and referrals discovered only after arrival. A facility can look nearby and convenient, yet lack the required service or sit below the level of care a case needs — a gap plain distance search can't see.</a:t>
            </a:r>
            <a:endParaRPr lang="en-US" sz="1000" dirty="0"/>
          </a:p>
        </p:txBody>
      </p:sp>
      <p:sp>
        <p:nvSpPr>
          <p:cNvPr id="16" name="Text 14"/>
          <p:cNvSpPr/>
          <p:nvPr/>
        </p:nvSpPr>
        <p:spPr>
          <a:xfrm>
            <a:off x="548640" y="4892040"/>
            <a:ext cx="5522976" cy="731520"/>
          </a:xfrm>
          <a:prstGeom prst="rect">
            <a:avLst/>
          </a:prstGeom>
          <a:noFill/>
          <a:ln/>
        </p:spPr>
        <p:txBody>
          <a:bodyPr wrap="square" lIns="0" tIns="0" rIns="0" bIns="0" rtlCol="0" anchor="ctr"/>
          <a:lstStyle/>
          <a:p>
            <a:pPr marL="0" indent="0">
              <a:lnSpc>
                <a:spcPct val="115000"/>
              </a:lnSpc>
              <a:buNone/>
            </a:pPr>
            <a:r>
              <a:rPr lang="en-US" sz="1000" i="1" dirty="0">
                <a:solidFill>
                  <a:srgbClr val="5C4A3D"/>
                </a:solidFill>
                <a:latin typeface="Calibri" pitchFamily="34" charset="0"/>
                <a:ea typeface="Calibri" pitchFamily="34" charset="-122"/>
                <a:cs typeface="Calibri" pitchFamily="34" charset="-120"/>
              </a:rPr>
              <a:t>This is a gap AfyaGuide is built to close: taking the structured knowledge already inside KMHFR and making it searchable the way a person actually thinks — “my baby has a high fever,” not “paediatric outpatient services, Level 3+.”</a:t>
            </a:r>
            <a:endParaRPr lang="en-US" sz="1000" dirty="0"/>
          </a:p>
        </p:txBody>
      </p:sp>
      <p:sp>
        <p:nvSpPr>
          <p:cNvPr id="17" name="Text 15"/>
          <p:cNvSpPr/>
          <p:nvPr/>
        </p:nvSpPr>
        <p:spPr>
          <a:xfrm>
            <a:off x="6400800" y="1481328"/>
            <a:ext cx="5257800" cy="274320"/>
          </a:xfrm>
          <a:prstGeom prst="rect">
            <a:avLst/>
          </a:prstGeom>
          <a:noFill/>
          <a:ln/>
        </p:spPr>
        <p:txBody>
          <a:bodyPr wrap="square" lIns="0" tIns="0" rIns="0" bIns="0" rtlCol="0" anchor="ctr"/>
          <a:lstStyle/>
          <a:p>
            <a:pPr marL="0" indent="0">
              <a:buNone/>
            </a:pPr>
            <a:r>
              <a:rPr lang="en-US" sz="1250" b="1" dirty="0">
                <a:solidFill>
                  <a:srgbClr val="241611"/>
                </a:solidFill>
                <a:latin typeface="Calibri" pitchFamily="34" charset="0"/>
                <a:ea typeface="Calibri" pitchFamily="34" charset="-122"/>
                <a:cs typeface="Calibri" pitchFamily="34" charset="-120"/>
              </a:rPr>
              <a:t>Kenya's Essential Package for Health (KEPH)</a:t>
            </a:r>
            <a:endParaRPr lang="en-US" sz="1250" dirty="0"/>
          </a:p>
        </p:txBody>
      </p:sp>
      <p:sp>
        <p:nvSpPr>
          <p:cNvPr id="18" name="Text 16"/>
          <p:cNvSpPr/>
          <p:nvPr/>
        </p:nvSpPr>
        <p:spPr>
          <a:xfrm>
            <a:off x="6400800" y="1755648"/>
            <a:ext cx="5257800" cy="777240"/>
          </a:xfrm>
          <a:prstGeom prst="rect">
            <a:avLst/>
          </a:prstGeom>
          <a:noFill/>
          <a:ln/>
        </p:spPr>
        <p:txBody>
          <a:bodyPr wrap="square" lIns="0" tIns="0" rIns="0" bIns="0" rtlCol="0" anchor="ctr"/>
          <a:lstStyle/>
          <a:p>
            <a:pPr marL="0" indent="0">
              <a:lnSpc>
                <a:spcPct val="112000"/>
              </a:lnSpc>
              <a:buNone/>
            </a:pPr>
            <a:r>
              <a:rPr lang="en-US" sz="980" dirty="0">
                <a:solidFill>
                  <a:srgbClr val="3A2E26"/>
                </a:solidFill>
                <a:latin typeface="Calibri" pitchFamily="34" charset="0"/>
                <a:ea typeface="Calibri" pitchFamily="34" charset="-122"/>
                <a:cs typeface="Calibri" pitchFamily="34" charset="-120"/>
              </a:rPr>
              <a:t>Every facility in KMHFR is classified into one of six levels by scope and complexity of care. AfyaGuide uses this level as a scoring input, so a recommendation never routes someone below the level their need requires — distinguishing a Dispensary equipped only for basic outpatient visits from a County Referral Hospital capable of complex surgery.</a:t>
            </a:r>
            <a:endParaRPr lang="en-US" sz="980" dirty="0"/>
          </a:p>
        </p:txBody>
      </p:sp>
      <p:sp>
        <p:nvSpPr>
          <p:cNvPr id="19" name="Shape 17"/>
          <p:cNvSpPr/>
          <p:nvPr/>
        </p:nvSpPr>
        <p:spPr>
          <a:xfrm>
            <a:off x="6400800" y="2624328"/>
            <a:ext cx="310896" cy="310896"/>
          </a:xfrm>
          <a:prstGeom prst="roundRect">
            <a:avLst>
              <a:gd name="adj" fmla="val 14706"/>
            </a:avLst>
          </a:prstGeom>
          <a:solidFill>
            <a:srgbClr val="B4550F"/>
          </a:solidFill>
          <a:ln/>
        </p:spPr>
      </p:sp>
      <p:sp>
        <p:nvSpPr>
          <p:cNvPr id="20" name="Text 18"/>
          <p:cNvSpPr/>
          <p:nvPr/>
        </p:nvSpPr>
        <p:spPr>
          <a:xfrm>
            <a:off x="6400800" y="2624328"/>
            <a:ext cx="310896"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L1</a:t>
            </a:r>
            <a:endParaRPr lang="en-US" sz="950" dirty="0"/>
          </a:p>
        </p:txBody>
      </p:sp>
      <p:sp>
        <p:nvSpPr>
          <p:cNvPr id="21" name="Text 19"/>
          <p:cNvSpPr/>
          <p:nvPr/>
        </p:nvSpPr>
        <p:spPr>
          <a:xfrm>
            <a:off x="6803136" y="2578608"/>
            <a:ext cx="1417320" cy="384048"/>
          </a:xfrm>
          <a:prstGeom prst="rect">
            <a:avLst/>
          </a:prstGeom>
          <a:noFill/>
          <a:ln/>
        </p:spPr>
        <p:txBody>
          <a:bodyPr wrap="square" lIns="0" tIns="0" rIns="0" bIns="0" rtlCol="0" anchor="ctr"/>
          <a:lstStyle/>
          <a:p>
            <a:pPr marL="0" indent="0">
              <a:lnSpc>
                <a:spcPct val="100000"/>
              </a:lnSpc>
              <a:buNone/>
            </a:pPr>
            <a:r>
              <a:rPr lang="en-US" sz="870" b="1" dirty="0">
                <a:solidFill>
                  <a:srgbClr val="241611"/>
                </a:solidFill>
                <a:latin typeface="Calibri" pitchFamily="34" charset="0"/>
                <a:ea typeface="Calibri" pitchFamily="34" charset="-122"/>
                <a:cs typeface="Calibri" pitchFamily="34" charset="-120"/>
              </a:rPr>
              <a:t>Community Level</a:t>
            </a:r>
            <a:endParaRPr lang="en-US" sz="870" dirty="0"/>
          </a:p>
        </p:txBody>
      </p:sp>
      <p:sp>
        <p:nvSpPr>
          <p:cNvPr id="22" name="Shape 20"/>
          <p:cNvSpPr/>
          <p:nvPr/>
        </p:nvSpPr>
        <p:spPr>
          <a:xfrm>
            <a:off x="8275320" y="2670048"/>
            <a:ext cx="473659" cy="219456"/>
          </a:xfrm>
          <a:prstGeom prst="roundRect">
            <a:avLst>
              <a:gd name="adj" fmla="val 12500"/>
            </a:avLst>
          </a:prstGeom>
          <a:solidFill>
            <a:srgbClr val="E36F1E"/>
          </a:solidFill>
          <a:ln/>
        </p:spPr>
      </p:sp>
      <p:sp>
        <p:nvSpPr>
          <p:cNvPr id="23" name="Text 21"/>
          <p:cNvSpPr/>
          <p:nvPr/>
        </p:nvSpPr>
        <p:spPr>
          <a:xfrm>
            <a:off x="8858707" y="2578608"/>
            <a:ext cx="2772461" cy="384048"/>
          </a:xfrm>
          <a:prstGeom prst="rect">
            <a:avLst/>
          </a:prstGeom>
          <a:noFill/>
          <a:ln/>
        </p:spPr>
        <p:txBody>
          <a:bodyPr wrap="square" lIns="0" tIns="0" rIns="0" bIns="0" rtlCol="0" anchor="ctr"/>
          <a:lstStyle/>
          <a:p>
            <a:pPr marL="0" indent="0">
              <a:lnSpc>
                <a:spcPct val="100000"/>
              </a:lnSpc>
              <a:buNone/>
            </a:pPr>
            <a:r>
              <a:rPr lang="en-US" sz="820" dirty="0">
                <a:solidFill>
                  <a:srgbClr val="5C4A3D"/>
                </a:solidFill>
                <a:latin typeface="Calibri" pitchFamily="34" charset="0"/>
                <a:ea typeface="Calibri" pitchFamily="34" charset="-122"/>
                <a:cs typeface="Calibri" pitchFamily="34" charset="-120"/>
              </a:rPr>
              <a:t>Household health promotion, basic first aid</a:t>
            </a:r>
            <a:endParaRPr lang="en-US" sz="820" dirty="0"/>
          </a:p>
        </p:txBody>
      </p:sp>
      <p:sp>
        <p:nvSpPr>
          <p:cNvPr id="24" name="Shape 22"/>
          <p:cNvSpPr/>
          <p:nvPr/>
        </p:nvSpPr>
        <p:spPr>
          <a:xfrm>
            <a:off x="6400800" y="3081528"/>
            <a:ext cx="310896" cy="310896"/>
          </a:xfrm>
          <a:prstGeom prst="roundRect">
            <a:avLst>
              <a:gd name="adj" fmla="val 14706"/>
            </a:avLst>
          </a:prstGeom>
          <a:solidFill>
            <a:srgbClr val="B4550F"/>
          </a:solidFill>
          <a:ln/>
        </p:spPr>
      </p:sp>
      <p:sp>
        <p:nvSpPr>
          <p:cNvPr id="25" name="Text 23"/>
          <p:cNvSpPr/>
          <p:nvPr/>
        </p:nvSpPr>
        <p:spPr>
          <a:xfrm>
            <a:off x="6400800" y="3081528"/>
            <a:ext cx="310896"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L2</a:t>
            </a:r>
            <a:endParaRPr lang="en-US" sz="950" dirty="0"/>
          </a:p>
        </p:txBody>
      </p:sp>
      <p:sp>
        <p:nvSpPr>
          <p:cNvPr id="26" name="Text 24"/>
          <p:cNvSpPr/>
          <p:nvPr/>
        </p:nvSpPr>
        <p:spPr>
          <a:xfrm>
            <a:off x="6803136" y="3035808"/>
            <a:ext cx="1417320" cy="384048"/>
          </a:xfrm>
          <a:prstGeom prst="rect">
            <a:avLst/>
          </a:prstGeom>
          <a:noFill/>
          <a:ln/>
        </p:spPr>
        <p:txBody>
          <a:bodyPr wrap="square" lIns="0" tIns="0" rIns="0" bIns="0" rtlCol="0" anchor="ctr"/>
          <a:lstStyle/>
          <a:p>
            <a:pPr marL="0" indent="0">
              <a:lnSpc>
                <a:spcPct val="100000"/>
              </a:lnSpc>
              <a:buNone/>
            </a:pPr>
            <a:r>
              <a:rPr lang="en-US" sz="870" b="1" dirty="0">
                <a:solidFill>
                  <a:srgbClr val="241611"/>
                </a:solidFill>
                <a:latin typeface="Calibri" pitchFamily="34" charset="0"/>
                <a:ea typeface="Calibri" pitchFamily="34" charset="-122"/>
                <a:cs typeface="Calibri" pitchFamily="34" charset="-120"/>
              </a:rPr>
              <a:t>Dispensary</a:t>
            </a:r>
            <a:endParaRPr lang="en-US" sz="870" dirty="0"/>
          </a:p>
        </p:txBody>
      </p:sp>
      <p:sp>
        <p:nvSpPr>
          <p:cNvPr id="27" name="Shape 25"/>
          <p:cNvSpPr/>
          <p:nvPr/>
        </p:nvSpPr>
        <p:spPr>
          <a:xfrm>
            <a:off x="8275320" y="3127248"/>
            <a:ext cx="676656" cy="219456"/>
          </a:xfrm>
          <a:prstGeom prst="roundRect">
            <a:avLst>
              <a:gd name="adj" fmla="val 12500"/>
            </a:avLst>
          </a:prstGeom>
          <a:solidFill>
            <a:srgbClr val="E36F1E"/>
          </a:solidFill>
          <a:ln/>
        </p:spPr>
      </p:sp>
      <p:sp>
        <p:nvSpPr>
          <p:cNvPr id="28" name="Text 26"/>
          <p:cNvSpPr/>
          <p:nvPr/>
        </p:nvSpPr>
        <p:spPr>
          <a:xfrm>
            <a:off x="9061704" y="3035808"/>
            <a:ext cx="2569464" cy="384048"/>
          </a:xfrm>
          <a:prstGeom prst="rect">
            <a:avLst/>
          </a:prstGeom>
          <a:noFill/>
          <a:ln/>
        </p:spPr>
        <p:txBody>
          <a:bodyPr wrap="square" lIns="0" tIns="0" rIns="0" bIns="0" rtlCol="0" anchor="ctr"/>
          <a:lstStyle/>
          <a:p>
            <a:pPr marL="0" indent="0">
              <a:lnSpc>
                <a:spcPct val="100000"/>
              </a:lnSpc>
              <a:buNone/>
            </a:pPr>
            <a:r>
              <a:rPr lang="en-US" sz="820" dirty="0">
                <a:solidFill>
                  <a:srgbClr val="5C4A3D"/>
                </a:solidFill>
                <a:latin typeface="Calibri" pitchFamily="34" charset="0"/>
                <a:ea typeface="Calibri" pitchFamily="34" charset="-122"/>
                <a:cs typeface="Calibri" pitchFamily="34" charset="-120"/>
              </a:rPr>
              <a:t>First clinical contact, basic outpatient care</a:t>
            </a:r>
            <a:endParaRPr lang="en-US" sz="820" dirty="0"/>
          </a:p>
        </p:txBody>
      </p:sp>
      <p:sp>
        <p:nvSpPr>
          <p:cNvPr id="29" name="Shape 27"/>
          <p:cNvSpPr/>
          <p:nvPr/>
        </p:nvSpPr>
        <p:spPr>
          <a:xfrm>
            <a:off x="6400800" y="3538728"/>
            <a:ext cx="310896" cy="310896"/>
          </a:xfrm>
          <a:prstGeom prst="roundRect">
            <a:avLst>
              <a:gd name="adj" fmla="val 14706"/>
            </a:avLst>
          </a:prstGeom>
          <a:solidFill>
            <a:srgbClr val="B4550F"/>
          </a:solidFill>
          <a:ln/>
        </p:spPr>
      </p:sp>
      <p:sp>
        <p:nvSpPr>
          <p:cNvPr id="30" name="Text 28"/>
          <p:cNvSpPr/>
          <p:nvPr/>
        </p:nvSpPr>
        <p:spPr>
          <a:xfrm>
            <a:off x="6400800" y="3538728"/>
            <a:ext cx="310896"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L3</a:t>
            </a:r>
            <a:endParaRPr lang="en-US" sz="950" dirty="0"/>
          </a:p>
        </p:txBody>
      </p:sp>
      <p:sp>
        <p:nvSpPr>
          <p:cNvPr id="31" name="Text 29"/>
          <p:cNvSpPr/>
          <p:nvPr/>
        </p:nvSpPr>
        <p:spPr>
          <a:xfrm>
            <a:off x="6803136" y="3493008"/>
            <a:ext cx="1417320" cy="384048"/>
          </a:xfrm>
          <a:prstGeom prst="rect">
            <a:avLst/>
          </a:prstGeom>
          <a:noFill/>
          <a:ln/>
        </p:spPr>
        <p:txBody>
          <a:bodyPr wrap="square" lIns="0" tIns="0" rIns="0" bIns="0" rtlCol="0" anchor="ctr"/>
          <a:lstStyle/>
          <a:p>
            <a:pPr marL="0" indent="0">
              <a:lnSpc>
                <a:spcPct val="100000"/>
              </a:lnSpc>
              <a:buNone/>
            </a:pPr>
            <a:r>
              <a:rPr lang="en-US" sz="870" b="1" dirty="0">
                <a:solidFill>
                  <a:srgbClr val="241611"/>
                </a:solidFill>
                <a:latin typeface="Calibri" pitchFamily="34" charset="0"/>
                <a:ea typeface="Calibri" pitchFamily="34" charset="-122"/>
                <a:cs typeface="Calibri" pitchFamily="34" charset="-120"/>
              </a:rPr>
              <a:t>Health Centre</a:t>
            </a:r>
            <a:endParaRPr lang="en-US" sz="870" dirty="0"/>
          </a:p>
        </p:txBody>
      </p:sp>
      <p:sp>
        <p:nvSpPr>
          <p:cNvPr id="32" name="Shape 30"/>
          <p:cNvSpPr/>
          <p:nvPr/>
        </p:nvSpPr>
        <p:spPr>
          <a:xfrm>
            <a:off x="8275320" y="3584448"/>
            <a:ext cx="930402" cy="219456"/>
          </a:xfrm>
          <a:prstGeom prst="roundRect">
            <a:avLst>
              <a:gd name="adj" fmla="val 12500"/>
            </a:avLst>
          </a:prstGeom>
          <a:solidFill>
            <a:srgbClr val="E36F1E"/>
          </a:solidFill>
          <a:ln/>
        </p:spPr>
      </p:sp>
      <p:sp>
        <p:nvSpPr>
          <p:cNvPr id="33" name="Text 31"/>
          <p:cNvSpPr/>
          <p:nvPr/>
        </p:nvSpPr>
        <p:spPr>
          <a:xfrm>
            <a:off x="9315450" y="3493008"/>
            <a:ext cx="2315718" cy="384048"/>
          </a:xfrm>
          <a:prstGeom prst="rect">
            <a:avLst/>
          </a:prstGeom>
          <a:noFill/>
          <a:ln/>
        </p:spPr>
        <p:txBody>
          <a:bodyPr wrap="square" lIns="0" tIns="0" rIns="0" bIns="0" rtlCol="0" anchor="ctr"/>
          <a:lstStyle/>
          <a:p>
            <a:pPr marL="0" indent="0">
              <a:lnSpc>
                <a:spcPct val="100000"/>
              </a:lnSpc>
              <a:buNone/>
            </a:pPr>
            <a:r>
              <a:rPr lang="en-US" sz="820" dirty="0">
                <a:solidFill>
                  <a:srgbClr val="5C4A3D"/>
                </a:solidFill>
                <a:latin typeface="Calibri" pitchFamily="34" charset="0"/>
                <a:ea typeface="Calibri" pitchFamily="34" charset="-122"/>
                <a:cs typeface="Calibri" pitchFamily="34" charset="-120"/>
              </a:rPr>
              <a:t>Expanded outpatient care, maternity, minor procedures</a:t>
            </a:r>
            <a:endParaRPr lang="en-US" sz="820" dirty="0"/>
          </a:p>
        </p:txBody>
      </p:sp>
      <p:sp>
        <p:nvSpPr>
          <p:cNvPr id="34" name="Shape 32"/>
          <p:cNvSpPr/>
          <p:nvPr/>
        </p:nvSpPr>
        <p:spPr>
          <a:xfrm>
            <a:off x="6400800" y="3995928"/>
            <a:ext cx="310896" cy="310896"/>
          </a:xfrm>
          <a:prstGeom prst="roundRect">
            <a:avLst>
              <a:gd name="adj" fmla="val 14706"/>
            </a:avLst>
          </a:prstGeom>
          <a:solidFill>
            <a:srgbClr val="B4550F"/>
          </a:solidFill>
          <a:ln/>
        </p:spPr>
      </p:sp>
      <p:sp>
        <p:nvSpPr>
          <p:cNvPr id="35" name="Text 33"/>
          <p:cNvSpPr/>
          <p:nvPr/>
        </p:nvSpPr>
        <p:spPr>
          <a:xfrm>
            <a:off x="6400800" y="3995928"/>
            <a:ext cx="310896"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L4</a:t>
            </a:r>
            <a:endParaRPr lang="en-US" sz="950" dirty="0"/>
          </a:p>
        </p:txBody>
      </p:sp>
      <p:sp>
        <p:nvSpPr>
          <p:cNvPr id="36" name="Text 34"/>
          <p:cNvSpPr/>
          <p:nvPr/>
        </p:nvSpPr>
        <p:spPr>
          <a:xfrm>
            <a:off x="6803136" y="3950208"/>
            <a:ext cx="1417320" cy="384048"/>
          </a:xfrm>
          <a:prstGeom prst="rect">
            <a:avLst/>
          </a:prstGeom>
          <a:noFill/>
          <a:ln/>
        </p:spPr>
        <p:txBody>
          <a:bodyPr wrap="square" lIns="0" tIns="0" rIns="0" bIns="0" rtlCol="0" anchor="ctr"/>
          <a:lstStyle/>
          <a:p>
            <a:pPr marL="0" indent="0">
              <a:lnSpc>
                <a:spcPct val="100000"/>
              </a:lnSpc>
              <a:buNone/>
            </a:pPr>
            <a:r>
              <a:rPr lang="en-US" sz="870" b="1" dirty="0">
                <a:solidFill>
                  <a:srgbClr val="241611"/>
                </a:solidFill>
                <a:latin typeface="Calibri" pitchFamily="34" charset="0"/>
                <a:ea typeface="Calibri" pitchFamily="34" charset="-122"/>
                <a:cs typeface="Calibri" pitchFamily="34" charset="-120"/>
              </a:rPr>
              <a:t>Sub-County Hospital</a:t>
            </a:r>
            <a:endParaRPr lang="en-US" sz="870" dirty="0"/>
          </a:p>
        </p:txBody>
      </p:sp>
      <p:sp>
        <p:nvSpPr>
          <p:cNvPr id="37" name="Shape 35"/>
          <p:cNvSpPr/>
          <p:nvPr/>
        </p:nvSpPr>
        <p:spPr>
          <a:xfrm>
            <a:off x="8275320" y="4041648"/>
            <a:ext cx="1184148" cy="219456"/>
          </a:xfrm>
          <a:prstGeom prst="roundRect">
            <a:avLst>
              <a:gd name="adj" fmla="val 12500"/>
            </a:avLst>
          </a:prstGeom>
          <a:solidFill>
            <a:srgbClr val="E36F1E"/>
          </a:solidFill>
          <a:ln/>
        </p:spPr>
      </p:sp>
      <p:sp>
        <p:nvSpPr>
          <p:cNvPr id="38" name="Text 36"/>
          <p:cNvSpPr/>
          <p:nvPr/>
        </p:nvSpPr>
        <p:spPr>
          <a:xfrm>
            <a:off x="9569196" y="3950208"/>
            <a:ext cx="2061972" cy="384048"/>
          </a:xfrm>
          <a:prstGeom prst="rect">
            <a:avLst/>
          </a:prstGeom>
          <a:noFill/>
          <a:ln/>
        </p:spPr>
        <p:txBody>
          <a:bodyPr wrap="square" lIns="0" tIns="0" rIns="0" bIns="0" rtlCol="0" anchor="ctr"/>
          <a:lstStyle/>
          <a:p>
            <a:pPr marL="0" indent="0">
              <a:lnSpc>
                <a:spcPct val="100000"/>
              </a:lnSpc>
              <a:buNone/>
            </a:pPr>
            <a:r>
              <a:rPr lang="en-US" sz="820" dirty="0">
                <a:solidFill>
                  <a:srgbClr val="5C4A3D"/>
                </a:solidFill>
                <a:latin typeface="Calibri" pitchFamily="34" charset="0"/>
                <a:ea typeface="Calibri" pitchFamily="34" charset="-122"/>
                <a:cs typeface="Calibri" pitchFamily="34" charset="-120"/>
              </a:rPr>
              <a:t>Inpatient care, emergency services &amp; basic surgery</a:t>
            </a:r>
            <a:endParaRPr lang="en-US" sz="820" dirty="0"/>
          </a:p>
        </p:txBody>
      </p:sp>
      <p:sp>
        <p:nvSpPr>
          <p:cNvPr id="39" name="Shape 37"/>
          <p:cNvSpPr/>
          <p:nvPr/>
        </p:nvSpPr>
        <p:spPr>
          <a:xfrm>
            <a:off x="6400800" y="4453128"/>
            <a:ext cx="310896" cy="310896"/>
          </a:xfrm>
          <a:prstGeom prst="roundRect">
            <a:avLst>
              <a:gd name="adj" fmla="val 14706"/>
            </a:avLst>
          </a:prstGeom>
          <a:solidFill>
            <a:srgbClr val="B4550F"/>
          </a:solidFill>
          <a:ln/>
        </p:spPr>
      </p:sp>
      <p:sp>
        <p:nvSpPr>
          <p:cNvPr id="40" name="Text 38"/>
          <p:cNvSpPr/>
          <p:nvPr/>
        </p:nvSpPr>
        <p:spPr>
          <a:xfrm>
            <a:off x="6400800" y="4453128"/>
            <a:ext cx="310896"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L5</a:t>
            </a:r>
            <a:endParaRPr lang="en-US" sz="950" dirty="0"/>
          </a:p>
        </p:txBody>
      </p:sp>
      <p:sp>
        <p:nvSpPr>
          <p:cNvPr id="41" name="Text 39"/>
          <p:cNvSpPr/>
          <p:nvPr/>
        </p:nvSpPr>
        <p:spPr>
          <a:xfrm>
            <a:off x="6803136" y="4407408"/>
            <a:ext cx="1417320" cy="384048"/>
          </a:xfrm>
          <a:prstGeom prst="rect">
            <a:avLst/>
          </a:prstGeom>
          <a:noFill/>
          <a:ln/>
        </p:spPr>
        <p:txBody>
          <a:bodyPr wrap="square" lIns="0" tIns="0" rIns="0" bIns="0" rtlCol="0" anchor="ctr"/>
          <a:lstStyle/>
          <a:p>
            <a:pPr marL="0" indent="0">
              <a:lnSpc>
                <a:spcPct val="100000"/>
              </a:lnSpc>
              <a:buNone/>
            </a:pPr>
            <a:r>
              <a:rPr lang="en-US" sz="870" b="1" dirty="0">
                <a:solidFill>
                  <a:srgbClr val="241611"/>
                </a:solidFill>
                <a:latin typeface="Calibri" pitchFamily="34" charset="0"/>
                <a:ea typeface="Calibri" pitchFamily="34" charset="-122"/>
                <a:cs typeface="Calibri" pitchFamily="34" charset="-120"/>
              </a:rPr>
              <a:t>County Referral Hospital</a:t>
            </a:r>
            <a:endParaRPr lang="en-US" sz="870" dirty="0"/>
          </a:p>
        </p:txBody>
      </p:sp>
      <p:sp>
        <p:nvSpPr>
          <p:cNvPr id="42" name="Shape 40"/>
          <p:cNvSpPr/>
          <p:nvPr/>
        </p:nvSpPr>
        <p:spPr>
          <a:xfrm>
            <a:off x="8275320" y="4498848"/>
            <a:ext cx="1437894" cy="219456"/>
          </a:xfrm>
          <a:prstGeom prst="roundRect">
            <a:avLst>
              <a:gd name="adj" fmla="val 12500"/>
            </a:avLst>
          </a:prstGeom>
          <a:solidFill>
            <a:srgbClr val="E36F1E"/>
          </a:solidFill>
          <a:ln/>
        </p:spPr>
      </p:sp>
      <p:sp>
        <p:nvSpPr>
          <p:cNvPr id="43" name="Text 41"/>
          <p:cNvSpPr/>
          <p:nvPr/>
        </p:nvSpPr>
        <p:spPr>
          <a:xfrm>
            <a:off x="9822942" y="4407408"/>
            <a:ext cx="1808226" cy="384048"/>
          </a:xfrm>
          <a:prstGeom prst="rect">
            <a:avLst/>
          </a:prstGeom>
          <a:noFill/>
          <a:ln/>
        </p:spPr>
        <p:txBody>
          <a:bodyPr wrap="square" lIns="0" tIns="0" rIns="0" bIns="0" rtlCol="0" anchor="ctr"/>
          <a:lstStyle/>
          <a:p>
            <a:pPr marL="0" indent="0">
              <a:lnSpc>
                <a:spcPct val="100000"/>
              </a:lnSpc>
              <a:buNone/>
            </a:pPr>
            <a:r>
              <a:rPr lang="en-US" sz="820" dirty="0">
                <a:solidFill>
                  <a:srgbClr val="5C4A3D"/>
                </a:solidFill>
                <a:latin typeface="Calibri" pitchFamily="34" charset="0"/>
                <a:ea typeface="Calibri" pitchFamily="34" charset="-122"/>
                <a:cs typeface="Calibri" pitchFamily="34" charset="-120"/>
              </a:rPr>
              <a:t>Specialized care, complex surgery, referrals</a:t>
            </a:r>
            <a:endParaRPr lang="en-US" sz="820" dirty="0"/>
          </a:p>
        </p:txBody>
      </p:sp>
      <p:sp>
        <p:nvSpPr>
          <p:cNvPr id="44" name="Shape 42"/>
          <p:cNvSpPr/>
          <p:nvPr/>
        </p:nvSpPr>
        <p:spPr>
          <a:xfrm>
            <a:off x="6400800" y="4910328"/>
            <a:ext cx="310896" cy="310896"/>
          </a:xfrm>
          <a:prstGeom prst="roundRect">
            <a:avLst>
              <a:gd name="adj" fmla="val 14706"/>
            </a:avLst>
          </a:prstGeom>
          <a:solidFill>
            <a:srgbClr val="B4550F"/>
          </a:solidFill>
          <a:ln/>
        </p:spPr>
      </p:sp>
      <p:sp>
        <p:nvSpPr>
          <p:cNvPr id="45" name="Text 43"/>
          <p:cNvSpPr/>
          <p:nvPr/>
        </p:nvSpPr>
        <p:spPr>
          <a:xfrm>
            <a:off x="6400800" y="4910328"/>
            <a:ext cx="310896"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L6</a:t>
            </a:r>
            <a:endParaRPr lang="en-US" sz="950" dirty="0"/>
          </a:p>
        </p:txBody>
      </p:sp>
      <p:sp>
        <p:nvSpPr>
          <p:cNvPr id="46" name="Text 44"/>
          <p:cNvSpPr/>
          <p:nvPr/>
        </p:nvSpPr>
        <p:spPr>
          <a:xfrm>
            <a:off x="6803136" y="4864608"/>
            <a:ext cx="1417320" cy="384048"/>
          </a:xfrm>
          <a:prstGeom prst="rect">
            <a:avLst/>
          </a:prstGeom>
          <a:noFill/>
          <a:ln/>
        </p:spPr>
        <p:txBody>
          <a:bodyPr wrap="square" lIns="0" tIns="0" rIns="0" bIns="0" rtlCol="0" anchor="ctr"/>
          <a:lstStyle/>
          <a:p>
            <a:pPr marL="0" indent="0">
              <a:lnSpc>
                <a:spcPct val="100000"/>
              </a:lnSpc>
              <a:buNone/>
            </a:pPr>
            <a:r>
              <a:rPr lang="en-US" sz="870" b="1" dirty="0">
                <a:solidFill>
                  <a:srgbClr val="241611"/>
                </a:solidFill>
                <a:latin typeface="Calibri" pitchFamily="34" charset="0"/>
                <a:ea typeface="Calibri" pitchFamily="34" charset="-122"/>
                <a:cs typeface="Calibri" pitchFamily="34" charset="-120"/>
              </a:rPr>
              <a:t>National Referral Hospital</a:t>
            </a:r>
            <a:endParaRPr lang="en-US" sz="870" dirty="0"/>
          </a:p>
        </p:txBody>
      </p:sp>
      <p:sp>
        <p:nvSpPr>
          <p:cNvPr id="47" name="Shape 45"/>
          <p:cNvSpPr/>
          <p:nvPr/>
        </p:nvSpPr>
        <p:spPr>
          <a:xfrm>
            <a:off x="8275320" y="4956048"/>
            <a:ext cx="1691640" cy="219456"/>
          </a:xfrm>
          <a:prstGeom prst="roundRect">
            <a:avLst>
              <a:gd name="adj" fmla="val 12500"/>
            </a:avLst>
          </a:prstGeom>
          <a:solidFill>
            <a:srgbClr val="E36F1E"/>
          </a:solidFill>
          <a:ln/>
        </p:spPr>
      </p:sp>
      <p:sp>
        <p:nvSpPr>
          <p:cNvPr id="48" name="Text 46"/>
          <p:cNvSpPr/>
          <p:nvPr/>
        </p:nvSpPr>
        <p:spPr>
          <a:xfrm>
            <a:off x="10076688" y="4864608"/>
            <a:ext cx="1554480" cy="384048"/>
          </a:xfrm>
          <a:prstGeom prst="rect">
            <a:avLst/>
          </a:prstGeom>
          <a:noFill/>
          <a:ln/>
        </p:spPr>
        <p:txBody>
          <a:bodyPr wrap="square" lIns="0" tIns="0" rIns="0" bIns="0" rtlCol="0" anchor="ctr"/>
          <a:lstStyle/>
          <a:p>
            <a:pPr marL="0" indent="0">
              <a:lnSpc>
                <a:spcPct val="100000"/>
              </a:lnSpc>
              <a:buNone/>
            </a:pPr>
            <a:r>
              <a:rPr lang="en-US" sz="820" dirty="0">
                <a:solidFill>
                  <a:srgbClr val="5C4A3D"/>
                </a:solidFill>
                <a:latin typeface="Calibri" pitchFamily="34" charset="0"/>
                <a:ea typeface="Calibri" pitchFamily="34" charset="-122"/>
                <a:cs typeface="Calibri" pitchFamily="34" charset="-120"/>
              </a:rPr>
              <a:t>Highly specialized, national referral care</a:t>
            </a:r>
            <a:endParaRPr lang="en-US" sz="820" dirty="0"/>
          </a:p>
        </p:txBody>
      </p:sp>
      <p:sp>
        <p:nvSpPr>
          <p:cNvPr id="49" name="Text 47"/>
          <p:cNvSpPr/>
          <p:nvPr/>
        </p:nvSpPr>
        <p:spPr>
          <a:xfrm>
            <a:off x="548640" y="6492240"/>
            <a:ext cx="2743200" cy="256032"/>
          </a:xfrm>
          <a:prstGeom prst="rect">
            <a:avLst/>
          </a:prstGeom>
          <a:noFill/>
          <a:ln/>
        </p:spPr>
        <p:txBody>
          <a:bodyPr wrap="square" lIns="0" tIns="0" rIns="0" bIns="0" rtlCol="0" anchor="ctr"/>
          <a:lstStyle/>
          <a:p>
            <a:pPr marL="0" indent="0">
              <a:buNone/>
            </a:pPr>
            <a:r>
              <a:rPr lang="en-US" sz="850" dirty="0">
                <a:solidFill>
                  <a:srgbClr val="8A7364"/>
                </a:solidFill>
                <a:latin typeface="Calibri" pitchFamily="34" charset="0"/>
                <a:ea typeface="Calibri" pitchFamily="34" charset="-122"/>
                <a:cs typeface="Calibri" pitchFamily="34" charset="-120"/>
              </a:rPr>
              <a:t>AfyaGuide</a:t>
            </a:r>
            <a:endParaRPr lang="en-US" sz="850" dirty="0"/>
          </a:p>
        </p:txBody>
      </p:sp>
      <p:sp>
        <p:nvSpPr>
          <p:cNvPr id="50" name="Text 48"/>
          <p:cNvSpPr/>
          <p:nvPr/>
        </p:nvSpPr>
        <p:spPr>
          <a:xfrm>
            <a:off x="10728655" y="6492240"/>
            <a:ext cx="914400" cy="256032"/>
          </a:xfrm>
          <a:prstGeom prst="rect">
            <a:avLst/>
          </a:prstGeom>
          <a:noFill/>
          <a:ln/>
        </p:spPr>
        <p:txBody>
          <a:bodyPr wrap="square" lIns="0" tIns="0" rIns="0" bIns="0" rtlCol="0" anchor="ctr"/>
          <a:lstStyle/>
          <a:p>
            <a:pPr marL="0" indent="0" algn="r">
              <a:buNone/>
            </a:pPr>
            <a:r>
              <a:rPr lang="en-US" sz="850" dirty="0">
                <a:solidFill>
                  <a:srgbClr val="8A7364"/>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marL="0" indent="0">
              <a:buNone/>
            </a:pPr>
            <a:r>
              <a:rPr lang="en-US" sz="1100" b="1" kern="0" spc="200" dirty="0">
                <a:solidFill>
                  <a:srgbClr val="E36F1E"/>
                </a:solidFill>
                <a:latin typeface="Calibri" pitchFamily="34" charset="0"/>
                <a:ea typeface="Calibri" pitchFamily="34" charset="-122"/>
                <a:cs typeface="Calibri" pitchFamily="34" charset="-120"/>
              </a:rPr>
              <a:t>02 — DATA &amp; APPROACH</a:t>
            </a:r>
            <a:endParaRPr lang="en-US" sz="1100" dirty="0"/>
          </a:p>
        </p:txBody>
      </p:sp>
      <p:sp>
        <p:nvSpPr>
          <p:cNvPr id="3" name="Text 1"/>
          <p:cNvSpPr/>
          <p:nvPr/>
        </p:nvSpPr>
        <p:spPr>
          <a:xfrm>
            <a:off x="548640" y="512064"/>
            <a:ext cx="11094415" cy="457200"/>
          </a:xfrm>
          <a:prstGeom prst="rect">
            <a:avLst/>
          </a:prstGeom>
          <a:noFill/>
          <a:ln/>
        </p:spPr>
        <p:txBody>
          <a:bodyPr wrap="square" lIns="0" tIns="0" rIns="0" bIns="0" rtlCol="0" anchor="ctr"/>
          <a:lstStyle/>
          <a:p>
            <a:pPr marL="0" indent="0">
              <a:buNone/>
            </a:pPr>
            <a:r>
              <a:rPr lang="en-US" sz="2400" b="1" dirty="0">
                <a:solidFill>
                  <a:srgbClr val="241611"/>
                </a:solidFill>
                <a:latin typeface="Cambria" pitchFamily="34" charset="0"/>
                <a:ea typeface="Cambria" pitchFamily="34" charset="-122"/>
                <a:cs typeface="Cambria" pitchFamily="34" charset="-120"/>
              </a:rPr>
              <a:t>Our Approach</a:t>
            </a:r>
            <a:endParaRPr lang="en-US" sz="2400" dirty="0"/>
          </a:p>
        </p:txBody>
      </p:sp>
      <p:sp>
        <p:nvSpPr>
          <p:cNvPr id="4" name="Text 2"/>
          <p:cNvSpPr/>
          <p:nvPr/>
        </p:nvSpPr>
        <p:spPr>
          <a:xfrm>
            <a:off x="548640" y="987552"/>
            <a:ext cx="11094415" cy="502920"/>
          </a:xfrm>
          <a:prstGeom prst="rect">
            <a:avLst/>
          </a:prstGeom>
          <a:noFill/>
          <a:ln/>
        </p:spPr>
        <p:txBody>
          <a:bodyPr wrap="square" lIns="0" tIns="0" rIns="0" bIns="0" rtlCol="0" anchor="ctr"/>
          <a:lstStyle/>
          <a:p>
            <a:pPr marL="0" indent="0">
              <a:lnSpc>
                <a:spcPct val="112000"/>
              </a:lnSpc>
              <a:buNone/>
            </a:pPr>
            <a:r>
              <a:rPr lang="en-US" sz="1100" dirty="0">
                <a:solidFill>
                  <a:srgbClr val="4A3B31"/>
                </a:solidFill>
                <a:latin typeface="Calibri" pitchFamily="34" charset="0"/>
                <a:ea typeface="Calibri" pitchFamily="34" charset="-122"/>
                <a:cs typeface="Calibri" pitchFamily="34" charset="-120"/>
              </a:rPr>
              <a:t>AfyaGuide was built as one continuous pipeline: each stage below produces a validated dataset that feeds directly into the next, so data preparation and the recommendation engine were built, tested, and documented together rather than as separate efforts.</a:t>
            </a:r>
            <a:endParaRPr lang="en-US" sz="1100" dirty="0"/>
          </a:p>
        </p:txBody>
      </p:sp>
      <p:sp>
        <p:nvSpPr>
          <p:cNvPr id="5" name="Shape 3"/>
          <p:cNvSpPr/>
          <p:nvPr/>
        </p:nvSpPr>
        <p:spPr>
          <a:xfrm>
            <a:off x="548640" y="1691640"/>
            <a:ext cx="2103120" cy="1554480"/>
          </a:xfrm>
          <a:prstGeom prst="roundRect">
            <a:avLst>
              <a:gd name="adj" fmla="val 4118"/>
            </a:avLst>
          </a:prstGeom>
          <a:solidFill>
            <a:srgbClr val="FBE8D6"/>
          </a:solidFill>
          <a:ln/>
        </p:spPr>
      </p:sp>
      <p:sp>
        <p:nvSpPr>
          <p:cNvPr id="6" name="Shape 4"/>
          <p:cNvSpPr/>
          <p:nvPr/>
        </p:nvSpPr>
        <p:spPr>
          <a:xfrm>
            <a:off x="694944" y="1837944"/>
            <a:ext cx="256032" cy="256032"/>
          </a:xfrm>
          <a:prstGeom prst="ellipse">
            <a:avLst/>
          </a:prstGeom>
          <a:solidFill>
            <a:srgbClr val="E36F1E"/>
          </a:solidFill>
          <a:ln/>
        </p:spPr>
      </p:sp>
      <p:sp>
        <p:nvSpPr>
          <p:cNvPr id="7" name="Text 5"/>
          <p:cNvSpPr/>
          <p:nvPr/>
        </p:nvSpPr>
        <p:spPr>
          <a:xfrm>
            <a:off x="694944" y="183794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676656" y="2167128"/>
            <a:ext cx="1847088" cy="274320"/>
          </a:xfrm>
          <a:prstGeom prst="rect">
            <a:avLst/>
          </a:prstGeom>
          <a:noFill/>
          <a:ln/>
        </p:spPr>
        <p:txBody>
          <a:bodyPr wrap="square" lIns="0" tIns="0" rIns="0" bIns="0" rtlCol="0" anchor="ctr"/>
          <a:lstStyle/>
          <a:p>
            <a:pPr marL="0" indent="0">
              <a:buNone/>
            </a:pPr>
            <a:r>
              <a:rPr lang="en-US" sz="1200" b="1" dirty="0">
                <a:solidFill>
                  <a:srgbClr val="B4550F"/>
                </a:solidFill>
                <a:latin typeface="Calibri" pitchFamily="34" charset="0"/>
                <a:ea typeface="Calibri" pitchFamily="34" charset="-122"/>
                <a:cs typeface="Calibri" pitchFamily="34" charset="-120"/>
              </a:rPr>
              <a:t>Download</a:t>
            </a:r>
            <a:endParaRPr lang="en-US" sz="1200" dirty="0"/>
          </a:p>
        </p:txBody>
      </p:sp>
      <p:sp>
        <p:nvSpPr>
          <p:cNvPr id="9" name="Text 7"/>
          <p:cNvSpPr/>
          <p:nvPr/>
        </p:nvSpPr>
        <p:spPr>
          <a:xfrm>
            <a:off x="676656" y="2459736"/>
            <a:ext cx="1847088" cy="731520"/>
          </a:xfrm>
          <a:prstGeom prst="rect">
            <a:avLst/>
          </a:prstGeom>
          <a:noFill/>
          <a:ln/>
        </p:spPr>
        <p:txBody>
          <a:bodyPr wrap="square" lIns="0" tIns="0" rIns="0" bIns="0" rtlCol="0" anchor="ctr"/>
          <a:lstStyle/>
          <a:p>
            <a:pPr marL="0" indent="0">
              <a:lnSpc>
                <a:spcPct val="108000"/>
              </a:lnSpc>
              <a:buNone/>
            </a:pPr>
            <a:r>
              <a:rPr lang="en-US" sz="830" dirty="0">
                <a:solidFill>
                  <a:srgbClr val="5C4A3D"/>
                </a:solidFill>
                <a:latin typeface="Calibri" pitchFamily="34" charset="0"/>
                <a:ea typeface="Calibri" pitchFamily="34" charset="-122"/>
                <a:cs typeface="Calibri" pitchFamily="34" charset="-120"/>
              </a:rPr>
              <a:t>Pull the raw facilities and services extracts directly from KMHFR, the Ministry of Health's official registry.</a:t>
            </a:r>
            <a:endParaRPr lang="en-US" sz="830" dirty="0"/>
          </a:p>
        </p:txBody>
      </p:sp>
      <p:sp>
        <p:nvSpPr>
          <p:cNvPr id="10" name="Shape 8"/>
          <p:cNvSpPr/>
          <p:nvPr/>
        </p:nvSpPr>
        <p:spPr>
          <a:xfrm>
            <a:off x="2734056" y="1691640"/>
            <a:ext cx="2103120" cy="1554480"/>
          </a:xfrm>
          <a:prstGeom prst="roundRect">
            <a:avLst>
              <a:gd name="adj" fmla="val 4118"/>
            </a:avLst>
          </a:prstGeom>
          <a:solidFill>
            <a:srgbClr val="FBE8D6"/>
          </a:solidFill>
          <a:ln/>
        </p:spPr>
      </p:sp>
      <p:sp>
        <p:nvSpPr>
          <p:cNvPr id="11" name="Shape 9"/>
          <p:cNvSpPr/>
          <p:nvPr/>
        </p:nvSpPr>
        <p:spPr>
          <a:xfrm>
            <a:off x="2880360" y="1837944"/>
            <a:ext cx="256032" cy="256032"/>
          </a:xfrm>
          <a:prstGeom prst="ellipse">
            <a:avLst/>
          </a:prstGeom>
          <a:solidFill>
            <a:srgbClr val="E36F1E"/>
          </a:solidFill>
          <a:ln/>
        </p:spPr>
      </p:sp>
      <p:sp>
        <p:nvSpPr>
          <p:cNvPr id="12" name="Text 10"/>
          <p:cNvSpPr/>
          <p:nvPr/>
        </p:nvSpPr>
        <p:spPr>
          <a:xfrm>
            <a:off x="2880360" y="183794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2862072" y="2167128"/>
            <a:ext cx="1847088" cy="274320"/>
          </a:xfrm>
          <a:prstGeom prst="rect">
            <a:avLst/>
          </a:prstGeom>
          <a:noFill/>
          <a:ln/>
        </p:spPr>
        <p:txBody>
          <a:bodyPr wrap="square" lIns="0" tIns="0" rIns="0" bIns="0" rtlCol="0" anchor="ctr"/>
          <a:lstStyle/>
          <a:p>
            <a:pPr marL="0" indent="0">
              <a:buNone/>
            </a:pPr>
            <a:r>
              <a:rPr lang="en-US" sz="1200" b="1" dirty="0">
                <a:solidFill>
                  <a:srgbClr val="B4550F"/>
                </a:solidFill>
                <a:latin typeface="Calibri" pitchFamily="34" charset="0"/>
                <a:ea typeface="Calibri" pitchFamily="34" charset="-122"/>
                <a:cs typeface="Calibri" pitchFamily="34" charset="-120"/>
              </a:rPr>
              <a:t>Clean</a:t>
            </a:r>
            <a:endParaRPr lang="en-US" sz="1200" dirty="0"/>
          </a:p>
        </p:txBody>
      </p:sp>
      <p:sp>
        <p:nvSpPr>
          <p:cNvPr id="14" name="Text 12"/>
          <p:cNvSpPr/>
          <p:nvPr/>
        </p:nvSpPr>
        <p:spPr>
          <a:xfrm>
            <a:off x="2862072" y="2459736"/>
            <a:ext cx="1847088" cy="731520"/>
          </a:xfrm>
          <a:prstGeom prst="rect">
            <a:avLst/>
          </a:prstGeom>
          <a:noFill/>
          <a:ln/>
        </p:spPr>
        <p:txBody>
          <a:bodyPr wrap="square" lIns="0" tIns="0" rIns="0" bIns="0" rtlCol="0" anchor="ctr"/>
          <a:lstStyle/>
          <a:p>
            <a:pPr marL="0" indent="0">
              <a:lnSpc>
                <a:spcPct val="108000"/>
              </a:lnSpc>
              <a:buNone/>
            </a:pPr>
            <a:r>
              <a:rPr lang="en-US" sz="830" dirty="0">
                <a:solidFill>
                  <a:srgbClr val="5C4A3D"/>
                </a:solidFill>
                <a:latin typeface="Calibri" pitchFamily="34" charset="0"/>
                <a:ea typeface="Calibri" pitchFamily="34" charset="-122"/>
                <a:cs typeface="Calibri" pitchFamily="34" charset="-120"/>
              </a:rPr>
              <a:t>Standardize the messy scraped services text: strip artifacts, remove duplicates, harmonize service names.</a:t>
            </a:r>
            <a:endParaRPr lang="en-US" sz="830" dirty="0"/>
          </a:p>
        </p:txBody>
      </p:sp>
      <p:sp>
        <p:nvSpPr>
          <p:cNvPr id="15" name="Shape 13"/>
          <p:cNvSpPr/>
          <p:nvPr/>
        </p:nvSpPr>
        <p:spPr>
          <a:xfrm>
            <a:off x="4919472" y="1691640"/>
            <a:ext cx="2103120" cy="1554480"/>
          </a:xfrm>
          <a:prstGeom prst="roundRect">
            <a:avLst>
              <a:gd name="adj" fmla="val 4118"/>
            </a:avLst>
          </a:prstGeom>
          <a:solidFill>
            <a:srgbClr val="FBE8D6"/>
          </a:solidFill>
          <a:ln/>
        </p:spPr>
      </p:sp>
      <p:sp>
        <p:nvSpPr>
          <p:cNvPr id="16" name="Shape 14"/>
          <p:cNvSpPr/>
          <p:nvPr/>
        </p:nvSpPr>
        <p:spPr>
          <a:xfrm>
            <a:off x="5065776" y="1837944"/>
            <a:ext cx="256032" cy="256032"/>
          </a:xfrm>
          <a:prstGeom prst="ellipse">
            <a:avLst/>
          </a:prstGeom>
          <a:solidFill>
            <a:srgbClr val="E36F1E"/>
          </a:solidFill>
          <a:ln/>
        </p:spPr>
      </p:sp>
      <p:sp>
        <p:nvSpPr>
          <p:cNvPr id="17" name="Text 15"/>
          <p:cNvSpPr/>
          <p:nvPr/>
        </p:nvSpPr>
        <p:spPr>
          <a:xfrm>
            <a:off x="5065776" y="183794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5047488" y="2167128"/>
            <a:ext cx="1847088" cy="274320"/>
          </a:xfrm>
          <a:prstGeom prst="rect">
            <a:avLst/>
          </a:prstGeom>
          <a:noFill/>
          <a:ln/>
        </p:spPr>
        <p:txBody>
          <a:bodyPr wrap="square" lIns="0" tIns="0" rIns="0" bIns="0" rtlCol="0" anchor="ctr"/>
          <a:lstStyle/>
          <a:p>
            <a:pPr marL="0" indent="0">
              <a:buNone/>
            </a:pPr>
            <a:r>
              <a:rPr lang="en-US" sz="1200" b="1" dirty="0">
                <a:solidFill>
                  <a:srgbClr val="B4550F"/>
                </a:solidFill>
                <a:latin typeface="Calibri" pitchFamily="34" charset="0"/>
                <a:ea typeface="Calibri" pitchFamily="34" charset="-122"/>
                <a:cs typeface="Calibri" pitchFamily="34" charset="-120"/>
              </a:rPr>
              <a:t>Merge</a:t>
            </a:r>
            <a:endParaRPr lang="en-US" sz="1200" dirty="0"/>
          </a:p>
        </p:txBody>
      </p:sp>
      <p:sp>
        <p:nvSpPr>
          <p:cNvPr id="19" name="Text 17"/>
          <p:cNvSpPr/>
          <p:nvPr/>
        </p:nvSpPr>
        <p:spPr>
          <a:xfrm>
            <a:off x="5047488" y="2459736"/>
            <a:ext cx="1847088" cy="731520"/>
          </a:xfrm>
          <a:prstGeom prst="rect">
            <a:avLst/>
          </a:prstGeom>
          <a:noFill/>
          <a:ln/>
        </p:spPr>
        <p:txBody>
          <a:bodyPr wrap="square" lIns="0" tIns="0" rIns="0" bIns="0" rtlCol="0" anchor="ctr"/>
          <a:lstStyle/>
          <a:p>
            <a:pPr marL="0" indent="0">
              <a:lnSpc>
                <a:spcPct val="108000"/>
              </a:lnSpc>
              <a:buNone/>
            </a:pPr>
            <a:r>
              <a:rPr lang="en-US" sz="830" dirty="0">
                <a:solidFill>
                  <a:srgbClr val="5C4A3D"/>
                </a:solidFill>
                <a:latin typeface="Calibri" pitchFamily="34" charset="0"/>
                <a:ea typeface="Calibri" pitchFamily="34" charset="-122"/>
                <a:cs typeface="Calibri" pitchFamily="34" charset="-120"/>
              </a:rPr>
              <a:t>Join the cleaned facilities and aggregated services data into a single Master Facility List, one row per facility.</a:t>
            </a:r>
            <a:endParaRPr lang="en-US" sz="830" dirty="0"/>
          </a:p>
        </p:txBody>
      </p:sp>
      <p:sp>
        <p:nvSpPr>
          <p:cNvPr id="20" name="Shape 18"/>
          <p:cNvSpPr/>
          <p:nvPr/>
        </p:nvSpPr>
        <p:spPr>
          <a:xfrm>
            <a:off x="7104888" y="1691640"/>
            <a:ext cx="2103120" cy="1554480"/>
          </a:xfrm>
          <a:prstGeom prst="roundRect">
            <a:avLst>
              <a:gd name="adj" fmla="val 4118"/>
            </a:avLst>
          </a:prstGeom>
          <a:solidFill>
            <a:srgbClr val="FBE8D6"/>
          </a:solidFill>
          <a:ln/>
        </p:spPr>
      </p:sp>
      <p:sp>
        <p:nvSpPr>
          <p:cNvPr id="21" name="Shape 19"/>
          <p:cNvSpPr/>
          <p:nvPr/>
        </p:nvSpPr>
        <p:spPr>
          <a:xfrm>
            <a:off x="7251192" y="1837944"/>
            <a:ext cx="256032" cy="256032"/>
          </a:xfrm>
          <a:prstGeom prst="ellipse">
            <a:avLst/>
          </a:prstGeom>
          <a:solidFill>
            <a:srgbClr val="E36F1E"/>
          </a:solidFill>
          <a:ln/>
        </p:spPr>
      </p:sp>
      <p:sp>
        <p:nvSpPr>
          <p:cNvPr id="22" name="Text 20"/>
          <p:cNvSpPr/>
          <p:nvPr/>
        </p:nvSpPr>
        <p:spPr>
          <a:xfrm>
            <a:off x="7251192" y="183794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1"/>
          <p:cNvSpPr/>
          <p:nvPr/>
        </p:nvSpPr>
        <p:spPr>
          <a:xfrm>
            <a:off x="7232904" y="2167128"/>
            <a:ext cx="1847088" cy="274320"/>
          </a:xfrm>
          <a:prstGeom prst="rect">
            <a:avLst/>
          </a:prstGeom>
          <a:noFill/>
          <a:ln/>
        </p:spPr>
        <p:txBody>
          <a:bodyPr wrap="square" lIns="0" tIns="0" rIns="0" bIns="0" rtlCol="0" anchor="ctr"/>
          <a:lstStyle/>
          <a:p>
            <a:pPr marL="0" indent="0">
              <a:buNone/>
            </a:pPr>
            <a:r>
              <a:rPr lang="en-US" sz="1200" b="1" dirty="0">
                <a:solidFill>
                  <a:srgbClr val="B4550F"/>
                </a:solidFill>
                <a:latin typeface="Calibri" pitchFamily="34" charset="0"/>
                <a:ea typeface="Calibri" pitchFamily="34" charset="-122"/>
                <a:cs typeface="Calibri" pitchFamily="34" charset="-120"/>
              </a:rPr>
              <a:t>Build Taxonomy</a:t>
            </a:r>
            <a:endParaRPr lang="en-US" sz="1200" dirty="0"/>
          </a:p>
        </p:txBody>
      </p:sp>
      <p:sp>
        <p:nvSpPr>
          <p:cNvPr id="24" name="Text 22"/>
          <p:cNvSpPr/>
          <p:nvPr/>
        </p:nvSpPr>
        <p:spPr>
          <a:xfrm>
            <a:off x="7232904" y="2459736"/>
            <a:ext cx="1847088" cy="731520"/>
          </a:xfrm>
          <a:prstGeom prst="rect">
            <a:avLst/>
          </a:prstGeom>
          <a:noFill/>
          <a:ln/>
        </p:spPr>
        <p:txBody>
          <a:bodyPr wrap="square" lIns="0" tIns="0" rIns="0" bIns="0" rtlCol="0" anchor="ctr"/>
          <a:lstStyle/>
          <a:p>
            <a:pPr marL="0" indent="0">
              <a:lnSpc>
                <a:spcPct val="108000"/>
              </a:lnSpc>
              <a:buNone/>
            </a:pPr>
            <a:r>
              <a:rPr lang="en-US" sz="830" dirty="0">
                <a:solidFill>
                  <a:srgbClr val="5C4A3D"/>
                </a:solidFill>
                <a:latin typeface="Calibri" pitchFamily="34" charset="0"/>
                <a:ea typeface="Calibri" pitchFamily="34" charset="-122"/>
                <a:cs typeface="Calibri" pitchFamily="34" charset="-120"/>
              </a:rPr>
              <a:t>Translate everyday health needs into the standardized services vocabulary the Master List already uses.</a:t>
            </a:r>
            <a:endParaRPr lang="en-US" sz="830" dirty="0"/>
          </a:p>
        </p:txBody>
      </p:sp>
      <p:sp>
        <p:nvSpPr>
          <p:cNvPr id="25" name="Shape 23"/>
          <p:cNvSpPr/>
          <p:nvPr/>
        </p:nvSpPr>
        <p:spPr>
          <a:xfrm>
            <a:off x="9290304" y="1691640"/>
            <a:ext cx="2103120" cy="1554480"/>
          </a:xfrm>
          <a:prstGeom prst="roundRect">
            <a:avLst>
              <a:gd name="adj" fmla="val 4118"/>
            </a:avLst>
          </a:prstGeom>
          <a:solidFill>
            <a:srgbClr val="FBE8D6"/>
          </a:solidFill>
          <a:ln/>
        </p:spPr>
      </p:sp>
      <p:sp>
        <p:nvSpPr>
          <p:cNvPr id="26" name="Shape 24"/>
          <p:cNvSpPr/>
          <p:nvPr/>
        </p:nvSpPr>
        <p:spPr>
          <a:xfrm>
            <a:off x="9436608" y="1837944"/>
            <a:ext cx="256032" cy="256032"/>
          </a:xfrm>
          <a:prstGeom prst="ellipse">
            <a:avLst/>
          </a:prstGeom>
          <a:solidFill>
            <a:srgbClr val="E36F1E"/>
          </a:solidFill>
          <a:ln/>
        </p:spPr>
      </p:sp>
      <p:sp>
        <p:nvSpPr>
          <p:cNvPr id="27" name="Text 25"/>
          <p:cNvSpPr/>
          <p:nvPr/>
        </p:nvSpPr>
        <p:spPr>
          <a:xfrm>
            <a:off x="9436608" y="183794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8" name="Text 26"/>
          <p:cNvSpPr/>
          <p:nvPr/>
        </p:nvSpPr>
        <p:spPr>
          <a:xfrm>
            <a:off x="9418320" y="2167128"/>
            <a:ext cx="1847088" cy="274320"/>
          </a:xfrm>
          <a:prstGeom prst="rect">
            <a:avLst/>
          </a:prstGeom>
          <a:noFill/>
          <a:ln/>
        </p:spPr>
        <p:txBody>
          <a:bodyPr wrap="square" lIns="0" tIns="0" rIns="0" bIns="0" rtlCol="0" anchor="ctr"/>
          <a:lstStyle/>
          <a:p>
            <a:pPr marL="0" indent="0">
              <a:buNone/>
            </a:pPr>
            <a:r>
              <a:rPr lang="en-US" sz="1200" b="1" dirty="0">
                <a:solidFill>
                  <a:srgbClr val="B4550F"/>
                </a:solidFill>
                <a:latin typeface="Calibri" pitchFamily="34" charset="0"/>
                <a:ea typeface="Calibri" pitchFamily="34" charset="-122"/>
                <a:cs typeface="Calibri" pitchFamily="34" charset="-120"/>
              </a:rPr>
              <a:t>Recommend</a:t>
            </a:r>
            <a:endParaRPr lang="en-US" sz="1200" dirty="0"/>
          </a:p>
        </p:txBody>
      </p:sp>
      <p:sp>
        <p:nvSpPr>
          <p:cNvPr id="29" name="Text 27"/>
          <p:cNvSpPr/>
          <p:nvPr/>
        </p:nvSpPr>
        <p:spPr>
          <a:xfrm>
            <a:off x="9418320" y="2459736"/>
            <a:ext cx="1847088" cy="731520"/>
          </a:xfrm>
          <a:prstGeom prst="rect">
            <a:avLst/>
          </a:prstGeom>
          <a:noFill/>
          <a:ln/>
        </p:spPr>
        <p:txBody>
          <a:bodyPr wrap="square" lIns="0" tIns="0" rIns="0" bIns="0" rtlCol="0" anchor="ctr"/>
          <a:lstStyle/>
          <a:p>
            <a:pPr marL="0" indent="0">
              <a:lnSpc>
                <a:spcPct val="108000"/>
              </a:lnSpc>
              <a:buNone/>
            </a:pPr>
            <a:r>
              <a:rPr lang="en-US" sz="830" dirty="0">
                <a:solidFill>
                  <a:srgbClr val="5C4A3D"/>
                </a:solidFill>
                <a:latin typeface="Calibri" pitchFamily="34" charset="0"/>
                <a:ea typeface="Calibri" pitchFamily="34" charset="-122"/>
                <a:cs typeface="Calibri" pitchFamily="34" charset="-120"/>
              </a:rPr>
              <a:t>Match, score, rank and explain the best-fit facilities for a given plain-language user query.</a:t>
            </a:r>
            <a:endParaRPr lang="en-US" sz="830" dirty="0"/>
          </a:p>
        </p:txBody>
      </p:sp>
      <p:sp>
        <p:nvSpPr>
          <p:cNvPr id="30" name="Text 28"/>
          <p:cNvSpPr/>
          <p:nvPr/>
        </p:nvSpPr>
        <p:spPr>
          <a:xfrm>
            <a:off x="548640" y="3429000"/>
            <a:ext cx="7315200" cy="274320"/>
          </a:xfrm>
          <a:prstGeom prst="rect">
            <a:avLst/>
          </a:prstGeom>
          <a:noFill/>
          <a:ln/>
        </p:spPr>
        <p:txBody>
          <a:bodyPr wrap="square" lIns="0" tIns="0" rIns="0" bIns="0" rtlCol="0" anchor="ctr"/>
          <a:lstStyle/>
          <a:p>
            <a:pPr marL="0" indent="0">
              <a:buNone/>
            </a:pPr>
            <a:r>
              <a:rPr lang="en-US" sz="1250" b="1" dirty="0">
                <a:solidFill>
                  <a:srgbClr val="241611"/>
                </a:solidFill>
                <a:latin typeface="Calibri" pitchFamily="34" charset="0"/>
                <a:ea typeface="Calibri" pitchFamily="34" charset="-122"/>
                <a:cs typeface="Calibri" pitchFamily="34" charset="-120"/>
              </a:rPr>
              <a:t>How a Single Query Becomes a Recommendation</a:t>
            </a:r>
            <a:endParaRPr lang="en-US" sz="1250" dirty="0"/>
          </a:p>
        </p:txBody>
      </p:sp>
      <p:sp>
        <p:nvSpPr>
          <p:cNvPr id="31" name="Text 29"/>
          <p:cNvSpPr/>
          <p:nvPr/>
        </p:nvSpPr>
        <p:spPr>
          <a:xfrm>
            <a:off x="548640" y="3703320"/>
            <a:ext cx="10881360" cy="274320"/>
          </a:xfrm>
          <a:prstGeom prst="rect">
            <a:avLst/>
          </a:prstGeom>
          <a:noFill/>
          <a:ln/>
        </p:spPr>
        <p:txBody>
          <a:bodyPr wrap="square" lIns="0" tIns="0" rIns="0" bIns="0" rtlCol="0" anchor="ctr"/>
          <a:lstStyle/>
          <a:p>
            <a:pPr marL="0" indent="0">
              <a:buNone/>
            </a:pPr>
            <a:r>
              <a:rPr lang="en-US" sz="980" dirty="0">
                <a:solidFill>
                  <a:srgbClr val="5C4A3D"/>
                </a:solidFill>
                <a:latin typeface="Calibri" pitchFamily="34" charset="0"/>
                <a:ea typeface="Calibri" pitchFamily="34" charset="-122"/>
                <a:cs typeface="Calibri" pitchFamily="34" charset="-120"/>
              </a:rPr>
              <a:t>Under the hood, every search a user runs moves through the same five-stage path — from raw text to a ranked, explained shortlist:</a:t>
            </a:r>
            <a:endParaRPr lang="en-US" sz="980" dirty="0"/>
          </a:p>
        </p:txBody>
      </p:sp>
      <p:sp>
        <p:nvSpPr>
          <p:cNvPr id="32" name="Shape 30"/>
          <p:cNvSpPr/>
          <p:nvPr/>
        </p:nvSpPr>
        <p:spPr>
          <a:xfrm>
            <a:off x="548640" y="4023360"/>
            <a:ext cx="2103120" cy="1828800"/>
          </a:xfrm>
          <a:prstGeom prst="roundRect">
            <a:avLst>
              <a:gd name="adj" fmla="val 3500"/>
            </a:avLst>
          </a:prstGeom>
          <a:solidFill>
            <a:srgbClr val="FDF3E9"/>
          </a:solidFill>
          <a:ln w="9525">
            <a:solidFill>
              <a:srgbClr val="E9D9C8"/>
            </a:solidFill>
            <a:prstDash val="solid"/>
          </a:ln>
        </p:spPr>
      </p:sp>
      <p:sp>
        <p:nvSpPr>
          <p:cNvPr id="33" name="Shape 31"/>
          <p:cNvSpPr/>
          <p:nvPr/>
        </p:nvSpPr>
        <p:spPr>
          <a:xfrm>
            <a:off x="694944" y="4169664"/>
            <a:ext cx="256032" cy="256032"/>
          </a:xfrm>
          <a:prstGeom prst="ellipse">
            <a:avLst/>
          </a:prstGeom>
          <a:solidFill>
            <a:srgbClr val="B4550F"/>
          </a:solidFill>
          <a:ln/>
        </p:spPr>
      </p:sp>
      <p:sp>
        <p:nvSpPr>
          <p:cNvPr id="34" name="Text 32"/>
          <p:cNvSpPr/>
          <p:nvPr/>
        </p:nvSpPr>
        <p:spPr>
          <a:xfrm>
            <a:off x="694944" y="416966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5" name="Text 33"/>
          <p:cNvSpPr/>
          <p:nvPr/>
        </p:nvSpPr>
        <p:spPr>
          <a:xfrm>
            <a:off x="676656" y="4498848"/>
            <a:ext cx="1847088" cy="365760"/>
          </a:xfrm>
          <a:prstGeom prst="rect">
            <a:avLst/>
          </a:prstGeom>
          <a:noFill/>
          <a:ln/>
        </p:spPr>
        <p:txBody>
          <a:bodyPr wrap="square" lIns="0" tIns="0" rIns="0" bIns="0" rtlCol="0" anchor="ctr"/>
          <a:lstStyle/>
          <a:p>
            <a:pPr marL="0" indent="0">
              <a:buNone/>
            </a:pPr>
            <a:r>
              <a:rPr lang="en-US" sz="1050" b="1" dirty="0">
                <a:solidFill>
                  <a:srgbClr val="241611"/>
                </a:solidFill>
                <a:latin typeface="Calibri" pitchFamily="34" charset="0"/>
                <a:ea typeface="Calibri" pitchFamily="34" charset="-122"/>
                <a:cs typeface="Calibri" pitchFamily="34" charset="-120"/>
              </a:rPr>
              <a:t>User Query</a:t>
            </a:r>
            <a:endParaRPr lang="en-US" sz="1050" dirty="0"/>
          </a:p>
        </p:txBody>
      </p:sp>
      <p:sp>
        <p:nvSpPr>
          <p:cNvPr id="36" name="Text 34"/>
          <p:cNvSpPr/>
          <p:nvPr/>
        </p:nvSpPr>
        <p:spPr>
          <a:xfrm>
            <a:off x="676656" y="4864608"/>
            <a:ext cx="1847088" cy="914400"/>
          </a:xfrm>
          <a:prstGeom prst="rect">
            <a:avLst/>
          </a:prstGeom>
          <a:noFill/>
          <a:ln/>
        </p:spPr>
        <p:txBody>
          <a:bodyPr wrap="square" lIns="0" tIns="0" rIns="0" bIns="0" rtlCol="0" anchor="ctr"/>
          <a:lstStyle/>
          <a:p>
            <a:pPr marL="0" indent="0">
              <a:lnSpc>
                <a:spcPct val="108000"/>
              </a:lnSpc>
              <a:buNone/>
            </a:pPr>
            <a:r>
              <a:rPr lang="en-US" sz="830" dirty="0">
                <a:solidFill>
                  <a:srgbClr val="5C4A3D"/>
                </a:solidFill>
                <a:latin typeface="Calibri" pitchFamily="34" charset="0"/>
                <a:ea typeface="Calibri" pitchFamily="34" charset="-122"/>
                <a:cs typeface="Calibri" pitchFamily="34" charset="-120"/>
              </a:rPr>
              <a:t>A health need typed in plain, everyday language — e.g. “high fever, baby won't feed.”</a:t>
            </a:r>
            <a:endParaRPr lang="en-US" sz="830" dirty="0"/>
          </a:p>
        </p:txBody>
      </p:sp>
      <p:sp>
        <p:nvSpPr>
          <p:cNvPr id="37" name="Shape 35"/>
          <p:cNvSpPr/>
          <p:nvPr/>
        </p:nvSpPr>
        <p:spPr>
          <a:xfrm>
            <a:off x="2734056" y="4023360"/>
            <a:ext cx="2103120" cy="1828800"/>
          </a:xfrm>
          <a:prstGeom prst="roundRect">
            <a:avLst>
              <a:gd name="adj" fmla="val 3500"/>
            </a:avLst>
          </a:prstGeom>
          <a:solidFill>
            <a:srgbClr val="FDF3E9"/>
          </a:solidFill>
          <a:ln w="9525">
            <a:solidFill>
              <a:srgbClr val="E9D9C8"/>
            </a:solidFill>
            <a:prstDash val="solid"/>
          </a:ln>
        </p:spPr>
      </p:sp>
      <p:sp>
        <p:nvSpPr>
          <p:cNvPr id="38" name="Shape 36"/>
          <p:cNvSpPr/>
          <p:nvPr/>
        </p:nvSpPr>
        <p:spPr>
          <a:xfrm>
            <a:off x="2880360" y="4169664"/>
            <a:ext cx="256032" cy="256032"/>
          </a:xfrm>
          <a:prstGeom prst="ellipse">
            <a:avLst/>
          </a:prstGeom>
          <a:solidFill>
            <a:srgbClr val="B4550F"/>
          </a:solidFill>
          <a:ln/>
        </p:spPr>
      </p:sp>
      <p:sp>
        <p:nvSpPr>
          <p:cNvPr id="39" name="Text 37"/>
          <p:cNvSpPr/>
          <p:nvPr/>
        </p:nvSpPr>
        <p:spPr>
          <a:xfrm>
            <a:off x="2880360" y="416966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0" name="Text 38"/>
          <p:cNvSpPr/>
          <p:nvPr/>
        </p:nvSpPr>
        <p:spPr>
          <a:xfrm>
            <a:off x="2862072" y="4498848"/>
            <a:ext cx="1847088" cy="365760"/>
          </a:xfrm>
          <a:prstGeom prst="rect">
            <a:avLst/>
          </a:prstGeom>
          <a:noFill/>
          <a:ln/>
        </p:spPr>
        <p:txBody>
          <a:bodyPr wrap="square" lIns="0" tIns="0" rIns="0" bIns="0" rtlCol="0" anchor="ctr"/>
          <a:lstStyle/>
          <a:p>
            <a:pPr marL="0" indent="0">
              <a:buNone/>
            </a:pPr>
            <a:r>
              <a:rPr lang="en-US" sz="1050" b="1" dirty="0">
                <a:solidFill>
                  <a:srgbClr val="241611"/>
                </a:solidFill>
                <a:latin typeface="Calibri" pitchFamily="34" charset="0"/>
                <a:ea typeface="Calibri" pitchFamily="34" charset="-122"/>
                <a:cs typeface="Calibri" pitchFamily="34" charset="-120"/>
              </a:rPr>
              <a:t>Query Understanding</a:t>
            </a:r>
            <a:endParaRPr lang="en-US" sz="1050" dirty="0"/>
          </a:p>
        </p:txBody>
      </p:sp>
      <p:sp>
        <p:nvSpPr>
          <p:cNvPr id="41" name="Text 39"/>
          <p:cNvSpPr/>
          <p:nvPr/>
        </p:nvSpPr>
        <p:spPr>
          <a:xfrm>
            <a:off x="2862072" y="4864608"/>
            <a:ext cx="1847088" cy="914400"/>
          </a:xfrm>
          <a:prstGeom prst="rect">
            <a:avLst/>
          </a:prstGeom>
          <a:noFill/>
          <a:ln/>
        </p:spPr>
        <p:txBody>
          <a:bodyPr wrap="square" lIns="0" tIns="0" rIns="0" bIns="0" rtlCol="0" anchor="ctr"/>
          <a:lstStyle/>
          <a:p>
            <a:pPr marL="0" indent="0">
              <a:lnSpc>
                <a:spcPct val="108000"/>
              </a:lnSpc>
              <a:buNone/>
            </a:pPr>
            <a:r>
              <a:rPr lang="en-US" sz="830" dirty="0">
                <a:solidFill>
                  <a:srgbClr val="5C4A3D"/>
                </a:solidFill>
                <a:latin typeface="Calibri" pitchFamily="34" charset="0"/>
                <a:ea typeface="Calibri" pitchFamily="34" charset="-122"/>
                <a:cs typeface="Calibri" pitchFamily="34" charset="-120"/>
              </a:rPr>
              <a:t>The query is matched to the closest entry in the User Health Need Taxonomy, a standardized service.</a:t>
            </a:r>
            <a:endParaRPr lang="en-US" sz="830" dirty="0"/>
          </a:p>
        </p:txBody>
      </p:sp>
      <p:sp>
        <p:nvSpPr>
          <p:cNvPr id="42" name="Shape 40"/>
          <p:cNvSpPr/>
          <p:nvPr/>
        </p:nvSpPr>
        <p:spPr>
          <a:xfrm>
            <a:off x="4919472" y="4023360"/>
            <a:ext cx="2103120" cy="1828800"/>
          </a:xfrm>
          <a:prstGeom prst="roundRect">
            <a:avLst>
              <a:gd name="adj" fmla="val 3500"/>
            </a:avLst>
          </a:prstGeom>
          <a:solidFill>
            <a:srgbClr val="FDF3E9"/>
          </a:solidFill>
          <a:ln w="9525">
            <a:solidFill>
              <a:srgbClr val="E9D9C8"/>
            </a:solidFill>
            <a:prstDash val="solid"/>
          </a:ln>
        </p:spPr>
      </p:sp>
      <p:sp>
        <p:nvSpPr>
          <p:cNvPr id="43" name="Shape 41"/>
          <p:cNvSpPr/>
          <p:nvPr/>
        </p:nvSpPr>
        <p:spPr>
          <a:xfrm>
            <a:off x="5065776" y="4169664"/>
            <a:ext cx="256032" cy="256032"/>
          </a:xfrm>
          <a:prstGeom prst="ellipse">
            <a:avLst/>
          </a:prstGeom>
          <a:solidFill>
            <a:srgbClr val="B4550F"/>
          </a:solidFill>
          <a:ln/>
        </p:spPr>
      </p:sp>
      <p:sp>
        <p:nvSpPr>
          <p:cNvPr id="44" name="Text 42"/>
          <p:cNvSpPr/>
          <p:nvPr/>
        </p:nvSpPr>
        <p:spPr>
          <a:xfrm>
            <a:off x="5065776" y="416966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5" name="Text 43"/>
          <p:cNvSpPr/>
          <p:nvPr/>
        </p:nvSpPr>
        <p:spPr>
          <a:xfrm>
            <a:off x="5047488" y="4498848"/>
            <a:ext cx="1847088" cy="365760"/>
          </a:xfrm>
          <a:prstGeom prst="rect">
            <a:avLst/>
          </a:prstGeom>
          <a:noFill/>
          <a:ln/>
        </p:spPr>
        <p:txBody>
          <a:bodyPr wrap="square" lIns="0" tIns="0" rIns="0" bIns="0" rtlCol="0" anchor="ctr"/>
          <a:lstStyle/>
          <a:p>
            <a:pPr marL="0" indent="0">
              <a:buNone/>
            </a:pPr>
            <a:r>
              <a:rPr lang="en-US" sz="1050" b="1" dirty="0">
                <a:solidFill>
                  <a:srgbClr val="241611"/>
                </a:solidFill>
                <a:latin typeface="Calibri" pitchFamily="34" charset="0"/>
                <a:ea typeface="Calibri" pitchFamily="34" charset="-122"/>
                <a:cs typeface="Calibri" pitchFamily="34" charset="-120"/>
              </a:rPr>
              <a:t>Candidate Retrieval</a:t>
            </a:r>
            <a:endParaRPr lang="en-US" sz="1050" dirty="0"/>
          </a:p>
        </p:txBody>
      </p:sp>
      <p:sp>
        <p:nvSpPr>
          <p:cNvPr id="46" name="Text 44"/>
          <p:cNvSpPr/>
          <p:nvPr/>
        </p:nvSpPr>
        <p:spPr>
          <a:xfrm>
            <a:off x="5047488" y="4864608"/>
            <a:ext cx="1847088" cy="914400"/>
          </a:xfrm>
          <a:prstGeom prst="rect">
            <a:avLst/>
          </a:prstGeom>
          <a:noFill/>
          <a:ln/>
        </p:spPr>
        <p:txBody>
          <a:bodyPr wrap="square" lIns="0" tIns="0" rIns="0" bIns="0" rtlCol="0" anchor="ctr"/>
          <a:lstStyle/>
          <a:p>
            <a:pPr marL="0" indent="0">
              <a:lnSpc>
                <a:spcPct val="108000"/>
              </a:lnSpc>
              <a:buNone/>
            </a:pPr>
            <a:r>
              <a:rPr lang="en-US" sz="830" dirty="0">
                <a:solidFill>
                  <a:srgbClr val="5C4A3D"/>
                </a:solidFill>
                <a:latin typeface="Calibri" pitchFamily="34" charset="0"/>
                <a:ea typeface="Calibri" pitchFamily="34" charset="-122"/>
                <a:cs typeface="Calibri" pitchFamily="34" charset="-120"/>
              </a:rPr>
              <a:t>Facilities offering that service, at or above the required KEPH level, are pulled from the Master List.</a:t>
            </a:r>
            <a:endParaRPr lang="en-US" sz="830" dirty="0"/>
          </a:p>
        </p:txBody>
      </p:sp>
      <p:sp>
        <p:nvSpPr>
          <p:cNvPr id="47" name="Shape 45"/>
          <p:cNvSpPr/>
          <p:nvPr/>
        </p:nvSpPr>
        <p:spPr>
          <a:xfrm>
            <a:off x="7104888" y="4023360"/>
            <a:ext cx="2103120" cy="1828800"/>
          </a:xfrm>
          <a:prstGeom prst="roundRect">
            <a:avLst>
              <a:gd name="adj" fmla="val 3500"/>
            </a:avLst>
          </a:prstGeom>
          <a:solidFill>
            <a:srgbClr val="FDF3E9"/>
          </a:solidFill>
          <a:ln w="9525">
            <a:solidFill>
              <a:srgbClr val="E9D9C8"/>
            </a:solidFill>
            <a:prstDash val="solid"/>
          </a:ln>
        </p:spPr>
      </p:sp>
      <p:sp>
        <p:nvSpPr>
          <p:cNvPr id="48" name="Shape 46"/>
          <p:cNvSpPr/>
          <p:nvPr/>
        </p:nvSpPr>
        <p:spPr>
          <a:xfrm>
            <a:off x="7251192" y="4169664"/>
            <a:ext cx="256032" cy="256032"/>
          </a:xfrm>
          <a:prstGeom prst="ellipse">
            <a:avLst/>
          </a:prstGeom>
          <a:solidFill>
            <a:srgbClr val="B4550F"/>
          </a:solidFill>
          <a:ln/>
        </p:spPr>
      </p:sp>
      <p:sp>
        <p:nvSpPr>
          <p:cNvPr id="49" name="Text 47"/>
          <p:cNvSpPr/>
          <p:nvPr/>
        </p:nvSpPr>
        <p:spPr>
          <a:xfrm>
            <a:off x="7251192" y="416966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50" name="Text 48"/>
          <p:cNvSpPr/>
          <p:nvPr/>
        </p:nvSpPr>
        <p:spPr>
          <a:xfrm>
            <a:off x="7232904" y="4498848"/>
            <a:ext cx="1847088" cy="365760"/>
          </a:xfrm>
          <a:prstGeom prst="rect">
            <a:avLst/>
          </a:prstGeom>
          <a:noFill/>
          <a:ln/>
        </p:spPr>
        <p:txBody>
          <a:bodyPr wrap="square" lIns="0" tIns="0" rIns="0" bIns="0" rtlCol="0" anchor="ctr"/>
          <a:lstStyle/>
          <a:p>
            <a:pPr marL="0" indent="0">
              <a:buNone/>
            </a:pPr>
            <a:r>
              <a:rPr lang="en-US" sz="1050" b="1" dirty="0">
                <a:solidFill>
                  <a:srgbClr val="241611"/>
                </a:solidFill>
                <a:latin typeface="Calibri" pitchFamily="34" charset="0"/>
                <a:ea typeface="Calibri" pitchFamily="34" charset="-122"/>
                <a:cs typeface="Calibri" pitchFamily="34" charset="-120"/>
              </a:rPr>
              <a:t>Feature Scoring</a:t>
            </a:r>
            <a:endParaRPr lang="en-US" sz="1050" dirty="0"/>
          </a:p>
        </p:txBody>
      </p:sp>
      <p:sp>
        <p:nvSpPr>
          <p:cNvPr id="51" name="Text 49"/>
          <p:cNvSpPr/>
          <p:nvPr/>
        </p:nvSpPr>
        <p:spPr>
          <a:xfrm>
            <a:off x="7232904" y="4864608"/>
            <a:ext cx="1847088" cy="914400"/>
          </a:xfrm>
          <a:prstGeom prst="rect">
            <a:avLst/>
          </a:prstGeom>
          <a:noFill/>
          <a:ln/>
        </p:spPr>
        <p:txBody>
          <a:bodyPr wrap="square" lIns="0" tIns="0" rIns="0" bIns="0" rtlCol="0" anchor="ctr"/>
          <a:lstStyle/>
          <a:p>
            <a:pPr marL="0" indent="0">
              <a:lnSpc>
                <a:spcPct val="108000"/>
              </a:lnSpc>
              <a:buNone/>
            </a:pPr>
            <a:r>
              <a:rPr lang="en-US" sz="830" dirty="0">
                <a:solidFill>
                  <a:srgbClr val="5C4A3D"/>
                </a:solidFill>
                <a:latin typeface="Calibri" pitchFamily="34" charset="0"/>
                <a:ea typeface="Calibri" pitchFamily="34" charset="-122"/>
                <a:cs typeface="Calibri" pitchFamily="34" charset="-120"/>
              </a:rPr>
              <a:t>Each candidate is scored on service match, facility level, and distance into one combined Facility Score.</a:t>
            </a:r>
            <a:endParaRPr lang="en-US" sz="830" dirty="0"/>
          </a:p>
        </p:txBody>
      </p:sp>
      <p:sp>
        <p:nvSpPr>
          <p:cNvPr id="52" name="Shape 50"/>
          <p:cNvSpPr/>
          <p:nvPr/>
        </p:nvSpPr>
        <p:spPr>
          <a:xfrm>
            <a:off x="9290304" y="4023360"/>
            <a:ext cx="2103120" cy="1828800"/>
          </a:xfrm>
          <a:prstGeom prst="roundRect">
            <a:avLst>
              <a:gd name="adj" fmla="val 3500"/>
            </a:avLst>
          </a:prstGeom>
          <a:solidFill>
            <a:srgbClr val="FDF3E9"/>
          </a:solidFill>
          <a:ln w="9525">
            <a:solidFill>
              <a:srgbClr val="E9D9C8"/>
            </a:solidFill>
            <a:prstDash val="solid"/>
          </a:ln>
        </p:spPr>
      </p:sp>
      <p:sp>
        <p:nvSpPr>
          <p:cNvPr id="53" name="Shape 51"/>
          <p:cNvSpPr/>
          <p:nvPr/>
        </p:nvSpPr>
        <p:spPr>
          <a:xfrm>
            <a:off x="9436608" y="4169664"/>
            <a:ext cx="256032" cy="256032"/>
          </a:xfrm>
          <a:prstGeom prst="ellipse">
            <a:avLst/>
          </a:prstGeom>
          <a:solidFill>
            <a:srgbClr val="B4550F"/>
          </a:solidFill>
          <a:ln/>
        </p:spPr>
      </p:sp>
      <p:sp>
        <p:nvSpPr>
          <p:cNvPr id="54" name="Text 52"/>
          <p:cNvSpPr/>
          <p:nvPr/>
        </p:nvSpPr>
        <p:spPr>
          <a:xfrm>
            <a:off x="9436608" y="4169664"/>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5" name="Text 53"/>
          <p:cNvSpPr/>
          <p:nvPr/>
        </p:nvSpPr>
        <p:spPr>
          <a:xfrm>
            <a:off x="9418320" y="4498848"/>
            <a:ext cx="1847088" cy="365760"/>
          </a:xfrm>
          <a:prstGeom prst="rect">
            <a:avLst/>
          </a:prstGeom>
          <a:noFill/>
          <a:ln/>
        </p:spPr>
        <p:txBody>
          <a:bodyPr wrap="square" lIns="0" tIns="0" rIns="0" bIns="0" rtlCol="0" anchor="ctr"/>
          <a:lstStyle/>
          <a:p>
            <a:pPr marL="0" indent="0">
              <a:buNone/>
            </a:pPr>
            <a:r>
              <a:rPr lang="en-US" sz="1050" b="1" dirty="0">
                <a:solidFill>
                  <a:srgbClr val="241611"/>
                </a:solidFill>
                <a:latin typeface="Calibri" pitchFamily="34" charset="0"/>
                <a:ea typeface="Calibri" pitchFamily="34" charset="-122"/>
                <a:cs typeface="Calibri" pitchFamily="34" charset="-120"/>
              </a:rPr>
              <a:t>Ranked, Explained Results</a:t>
            </a:r>
            <a:endParaRPr lang="en-US" sz="1050" dirty="0"/>
          </a:p>
        </p:txBody>
      </p:sp>
      <p:sp>
        <p:nvSpPr>
          <p:cNvPr id="56" name="Text 54"/>
          <p:cNvSpPr/>
          <p:nvPr/>
        </p:nvSpPr>
        <p:spPr>
          <a:xfrm>
            <a:off x="9418320" y="4864608"/>
            <a:ext cx="1847088" cy="914400"/>
          </a:xfrm>
          <a:prstGeom prst="rect">
            <a:avLst/>
          </a:prstGeom>
          <a:noFill/>
          <a:ln/>
        </p:spPr>
        <p:txBody>
          <a:bodyPr wrap="square" lIns="0" tIns="0" rIns="0" bIns="0" rtlCol="0" anchor="ctr"/>
          <a:lstStyle/>
          <a:p>
            <a:pPr marL="0" indent="0">
              <a:lnSpc>
                <a:spcPct val="108000"/>
              </a:lnSpc>
              <a:buNone/>
            </a:pPr>
            <a:r>
              <a:rPr lang="en-US" sz="830" dirty="0">
                <a:solidFill>
                  <a:srgbClr val="5C4A3D"/>
                </a:solidFill>
                <a:latin typeface="Calibri" pitchFamily="34" charset="0"/>
                <a:ea typeface="Calibri" pitchFamily="34" charset="-122"/>
                <a:cs typeface="Calibri" pitchFamily="34" charset="-120"/>
              </a:rPr>
              <a:t>The top facilities are returned with a plain-language reason for each recommendation.</a:t>
            </a:r>
            <a:endParaRPr lang="en-US" sz="830" dirty="0"/>
          </a:p>
        </p:txBody>
      </p:sp>
      <p:sp>
        <p:nvSpPr>
          <p:cNvPr id="57" name="Text 55"/>
          <p:cNvSpPr/>
          <p:nvPr/>
        </p:nvSpPr>
        <p:spPr>
          <a:xfrm>
            <a:off x="548640" y="6492240"/>
            <a:ext cx="2743200" cy="256032"/>
          </a:xfrm>
          <a:prstGeom prst="rect">
            <a:avLst/>
          </a:prstGeom>
          <a:noFill/>
          <a:ln/>
        </p:spPr>
        <p:txBody>
          <a:bodyPr wrap="square" lIns="0" tIns="0" rIns="0" bIns="0" rtlCol="0" anchor="ctr"/>
          <a:lstStyle/>
          <a:p>
            <a:pPr marL="0" indent="0">
              <a:buNone/>
            </a:pPr>
            <a:r>
              <a:rPr lang="en-US" sz="850" dirty="0">
                <a:solidFill>
                  <a:srgbClr val="8A7364"/>
                </a:solidFill>
                <a:latin typeface="Calibri" pitchFamily="34" charset="0"/>
                <a:ea typeface="Calibri" pitchFamily="34" charset="-122"/>
                <a:cs typeface="Calibri" pitchFamily="34" charset="-120"/>
              </a:rPr>
              <a:t>AfyaGuide</a:t>
            </a:r>
            <a:endParaRPr lang="en-US" sz="850" dirty="0"/>
          </a:p>
        </p:txBody>
      </p:sp>
      <p:sp>
        <p:nvSpPr>
          <p:cNvPr id="58" name="Text 56"/>
          <p:cNvSpPr/>
          <p:nvPr/>
        </p:nvSpPr>
        <p:spPr>
          <a:xfrm>
            <a:off x="10728655" y="6492240"/>
            <a:ext cx="914400" cy="256032"/>
          </a:xfrm>
          <a:prstGeom prst="rect">
            <a:avLst/>
          </a:prstGeom>
          <a:noFill/>
          <a:ln/>
        </p:spPr>
        <p:txBody>
          <a:bodyPr wrap="square" lIns="0" tIns="0" rIns="0" bIns="0" rtlCol="0" anchor="ctr"/>
          <a:lstStyle/>
          <a:p>
            <a:pPr marL="0" indent="0" algn="r">
              <a:buNone/>
            </a:pPr>
            <a:r>
              <a:rPr lang="en-US" sz="850" dirty="0">
                <a:solidFill>
                  <a:srgbClr val="8A7364"/>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marL="0" indent="0">
              <a:buNone/>
            </a:pPr>
            <a:r>
              <a:rPr lang="en-US" sz="1100" b="1" kern="0" spc="200" dirty="0">
                <a:solidFill>
                  <a:srgbClr val="E36F1E"/>
                </a:solidFill>
                <a:latin typeface="Calibri" pitchFamily="34" charset="0"/>
                <a:ea typeface="Calibri" pitchFamily="34" charset="-122"/>
                <a:cs typeface="Calibri" pitchFamily="34" charset="-120"/>
              </a:rPr>
              <a:t>02 — DATA &amp; APPROACH</a:t>
            </a:r>
            <a:endParaRPr lang="en-US" sz="1100" dirty="0"/>
          </a:p>
        </p:txBody>
      </p:sp>
      <p:sp>
        <p:nvSpPr>
          <p:cNvPr id="3" name="Text 1"/>
          <p:cNvSpPr/>
          <p:nvPr/>
        </p:nvSpPr>
        <p:spPr>
          <a:xfrm>
            <a:off x="548640" y="512064"/>
            <a:ext cx="11094415" cy="457200"/>
          </a:xfrm>
          <a:prstGeom prst="rect">
            <a:avLst/>
          </a:prstGeom>
          <a:noFill/>
          <a:ln/>
        </p:spPr>
        <p:txBody>
          <a:bodyPr wrap="square" lIns="0" tIns="0" rIns="0" bIns="0" rtlCol="0" anchor="ctr"/>
          <a:lstStyle/>
          <a:p>
            <a:pPr marL="0" indent="0">
              <a:buNone/>
            </a:pPr>
            <a:r>
              <a:rPr lang="en-US" sz="2400" b="1" dirty="0">
                <a:solidFill>
                  <a:srgbClr val="241611"/>
                </a:solidFill>
                <a:latin typeface="Cambria" pitchFamily="34" charset="0"/>
                <a:ea typeface="Cambria" pitchFamily="34" charset="-122"/>
                <a:cs typeface="Cambria" pitchFamily="34" charset="-120"/>
              </a:rPr>
              <a:t>Data Foundations, Cleaning &amp; Merging</a:t>
            </a:r>
            <a:endParaRPr lang="en-US" sz="2400" dirty="0"/>
          </a:p>
        </p:txBody>
      </p:sp>
      <p:sp>
        <p:nvSpPr>
          <p:cNvPr id="4" name="Text 2"/>
          <p:cNvSpPr/>
          <p:nvPr/>
        </p:nvSpPr>
        <p:spPr>
          <a:xfrm>
            <a:off x="548640" y="987552"/>
            <a:ext cx="11094415" cy="457200"/>
          </a:xfrm>
          <a:prstGeom prst="rect">
            <a:avLst/>
          </a:prstGeom>
          <a:noFill/>
          <a:ln/>
        </p:spPr>
        <p:txBody>
          <a:bodyPr wrap="square" lIns="0" tIns="0" rIns="0" bIns="0" rtlCol="0" anchor="ctr"/>
          <a:lstStyle/>
          <a:p>
            <a:pPr marL="0" indent="0">
              <a:lnSpc>
                <a:spcPct val="112000"/>
              </a:lnSpc>
              <a:buNone/>
            </a:pPr>
            <a:r>
              <a:rPr lang="en-US" sz="1100" dirty="0">
                <a:solidFill>
                  <a:srgbClr val="4A3B31"/>
                </a:solidFill>
                <a:latin typeface="Calibri" pitchFamily="34" charset="0"/>
                <a:ea typeface="Calibri" pitchFamily="34" charset="-122"/>
                <a:cs typeface="Calibri" pitchFamily="34" charset="-120"/>
              </a:rPr>
              <a:t>Two source datasets, both from KMHFR but very different in shape, were cleaned separately and then merged into a single Master Facility List — the foundation every later stage of the pipeline builds on.</a:t>
            </a:r>
            <a:endParaRPr lang="en-US" sz="1100" dirty="0"/>
          </a:p>
        </p:txBody>
      </p:sp>
      <p:sp>
        <p:nvSpPr>
          <p:cNvPr id="5" name="Text 3"/>
          <p:cNvSpPr/>
          <p:nvPr/>
        </p:nvSpPr>
        <p:spPr>
          <a:xfrm>
            <a:off x="548640" y="1600200"/>
            <a:ext cx="3429000" cy="256032"/>
          </a:xfrm>
          <a:prstGeom prst="rect">
            <a:avLst/>
          </a:prstGeom>
          <a:noFill/>
          <a:ln/>
        </p:spPr>
        <p:txBody>
          <a:bodyPr wrap="square" lIns="0" tIns="0" rIns="0" bIns="0" rtlCol="0" anchor="ctr"/>
          <a:lstStyle/>
          <a:p>
            <a:pPr marL="0" indent="0">
              <a:buNone/>
            </a:pPr>
            <a:r>
              <a:rPr lang="en-US" sz="1150" b="1" dirty="0">
                <a:solidFill>
                  <a:srgbClr val="241611"/>
                </a:solidFill>
                <a:latin typeface="Calibri" pitchFamily="34" charset="0"/>
                <a:ea typeface="Calibri" pitchFamily="34" charset="-122"/>
                <a:cs typeface="Calibri" pitchFamily="34" charset="-120"/>
              </a:rPr>
              <a:t>Data Foundations</a:t>
            </a:r>
            <a:endParaRPr lang="en-US" sz="1150" dirty="0"/>
          </a:p>
        </p:txBody>
      </p:sp>
      <p:sp>
        <p:nvSpPr>
          <p:cNvPr id="6" name="Shape 4"/>
          <p:cNvSpPr/>
          <p:nvPr/>
        </p:nvSpPr>
        <p:spPr>
          <a:xfrm>
            <a:off x="548640" y="1920240"/>
            <a:ext cx="3429000" cy="1417320"/>
          </a:xfrm>
          <a:prstGeom prst="roundRect">
            <a:avLst>
              <a:gd name="adj" fmla="val 4516"/>
            </a:avLst>
          </a:prstGeom>
          <a:solidFill>
            <a:srgbClr val="FBE8D6"/>
          </a:solidFill>
          <a:ln/>
        </p:spPr>
      </p:sp>
      <p:sp>
        <p:nvSpPr>
          <p:cNvPr id="7" name="Shape 5"/>
          <p:cNvSpPr/>
          <p:nvPr/>
        </p:nvSpPr>
        <p:spPr>
          <a:xfrm>
            <a:off x="694944" y="2057400"/>
            <a:ext cx="310896" cy="310896"/>
          </a:xfrm>
          <a:prstGeom prst="ellipse">
            <a:avLst/>
          </a:prstGeom>
          <a:solidFill>
            <a:srgbClr val="FFFFFF"/>
          </a:solidFill>
          <a:ln/>
        </p:spPr>
      </p:sp>
      <p:sp>
        <p:nvSpPr>
          <p:cNvPr id="8" name="Text 6"/>
          <p:cNvSpPr/>
          <p:nvPr/>
        </p:nvSpPr>
        <p:spPr>
          <a:xfrm>
            <a:off x="694944" y="2057400"/>
            <a:ext cx="310896" cy="310896"/>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9" name="Text 7"/>
          <p:cNvSpPr/>
          <p:nvPr/>
        </p:nvSpPr>
        <p:spPr>
          <a:xfrm>
            <a:off x="1115568" y="2039112"/>
            <a:ext cx="2743200" cy="310896"/>
          </a:xfrm>
          <a:prstGeom prst="rect">
            <a:avLst/>
          </a:prstGeom>
          <a:noFill/>
          <a:ln/>
        </p:spPr>
        <p:txBody>
          <a:bodyPr wrap="square" lIns="0" tIns="0" rIns="0" bIns="0" rtlCol="0" anchor="ctr"/>
          <a:lstStyle/>
          <a:p>
            <a:pPr marL="0" indent="0">
              <a:buNone/>
            </a:pPr>
            <a:r>
              <a:rPr lang="en-US" sz="1050" b="1" dirty="0">
                <a:solidFill>
                  <a:srgbClr val="241611"/>
                </a:solidFill>
                <a:latin typeface="Calibri" pitchFamily="34" charset="0"/>
                <a:ea typeface="Calibri" pitchFamily="34" charset="-122"/>
                <a:cs typeface="Calibri" pitchFamily="34" charset="-120"/>
              </a:rPr>
              <a:t>Health Facilities Dataset</a:t>
            </a:r>
            <a:endParaRPr lang="en-US" sz="1050" dirty="0"/>
          </a:p>
        </p:txBody>
      </p:sp>
      <p:sp>
        <p:nvSpPr>
          <p:cNvPr id="10" name="Text 8"/>
          <p:cNvSpPr/>
          <p:nvPr/>
        </p:nvSpPr>
        <p:spPr>
          <a:xfrm>
            <a:off x="694944" y="2423160"/>
            <a:ext cx="3136392" cy="841248"/>
          </a:xfrm>
          <a:prstGeom prst="rect">
            <a:avLst/>
          </a:prstGeom>
          <a:noFill/>
          <a:ln/>
        </p:spPr>
        <p:txBody>
          <a:bodyPr wrap="square" lIns="0" tIns="0" rIns="0" bIns="0" rtlCol="0" anchor="ctr"/>
          <a:lstStyle/>
          <a:p>
            <a:pPr marL="0" indent="0">
              <a:lnSpc>
                <a:spcPct val="108000"/>
              </a:lnSpc>
              <a:buNone/>
            </a:pPr>
            <a:r>
              <a:rPr lang="en-US" sz="840" dirty="0">
                <a:solidFill>
                  <a:srgbClr val="5C4A3D"/>
                </a:solidFill>
                <a:latin typeface="Calibri" pitchFamily="34" charset="0"/>
                <a:ea typeface="Calibri" pitchFamily="34" charset="-122"/>
                <a:cs typeface="Calibri" pitchFamily="34" charset="-120"/>
              </a:rPr>
              <a:t>12,050 facilities across 40 variables: location, ownership, KEPH level, operating status, and GPS coordinates. Provides the facility profile, capability level, and location used throughout scoring.</a:t>
            </a:r>
            <a:endParaRPr lang="en-US" sz="840" dirty="0"/>
          </a:p>
        </p:txBody>
      </p:sp>
      <p:sp>
        <p:nvSpPr>
          <p:cNvPr id="11" name="Shape 9"/>
          <p:cNvSpPr/>
          <p:nvPr/>
        </p:nvSpPr>
        <p:spPr>
          <a:xfrm>
            <a:off x="548640" y="3429000"/>
            <a:ext cx="3429000" cy="1417320"/>
          </a:xfrm>
          <a:prstGeom prst="roundRect">
            <a:avLst>
              <a:gd name="adj" fmla="val 4516"/>
            </a:avLst>
          </a:prstGeom>
          <a:solidFill>
            <a:srgbClr val="FBE8D6"/>
          </a:solidFill>
          <a:ln/>
        </p:spPr>
      </p:sp>
      <p:sp>
        <p:nvSpPr>
          <p:cNvPr id="12" name="Shape 10"/>
          <p:cNvSpPr/>
          <p:nvPr/>
        </p:nvSpPr>
        <p:spPr>
          <a:xfrm>
            <a:off x="694944" y="3566160"/>
            <a:ext cx="310896" cy="310896"/>
          </a:xfrm>
          <a:prstGeom prst="ellipse">
            <a:avLst/>
          </a:prstGeom>
          <a:solidFill>
            <a:srgbClr val="FFFFFF"/>
          </a:solidFill>
          <a:ln/>
        </p:spPr>
      </p:sp>
      <p:sp>
        <p:nvSpPr>
          <p:cNvPr id="13" name="Text 11"/>
          <p:cNvSpPr/>
          <p:nvPr/>
        </p:nvSpPr>
        <p:spPr>
          <a:xfrm>
            <a:off x="694944" y="3566160"/>
            <a:ext cx="310896" cy="310896"/>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14" name="Text 12"/>
          <p:cNvSpPr/>
          <p:nvPr/>
        </p:nvSpPr>
        <p:spPr>
          <a:xfrm>
            <a:off x="1115568" y="3547872"/>
            <a:ext cx="2743200" cy="310896"/>
          </a:xfrm>
          <a:prstGeom prst="rect">
            <a:avLst/>
          </a:prstGeom>
          <a:noFill/>
          <a:ln/>
        </p:spPr>
        <p:txBody>
          <a:bodyPr wrap="square" lIns="0" tIns="0" rIns="0" bIns="0" rtlCol="0" anchor="ctr"/>
          <a:lstStyle/>
          <a:p>
            <a:pPr marL="0" indent="0">
              <a:buNone/>
            </a:pPr>
            <a:r>
              <a:rPr lang="en-US" sz="1050" b="1" dirty="0">
                <a:solidFill>
                  <a:srgbClr val="241611"/>
                </a:solidFill>
                <a:latin typeface="Calibri" pitchFamily="34" charset="0"/>
                <a:ea typeface="Calibri" pitchFamily="34" charset="-122"/>
                <a:cs typeface="Calibri" pitchFamily="34" charset="-120"/>
              </a:rPr>
              <a:t>Health Services Dataset</a:t>
            </a:r>
            <a:endParaRPr lang="en-US" sz="1050" dirty="0"/>
          </a:p>
        </p:txBody>
      </p:sp>
      <p:sp>
        <p:nvSpPr>
          <p:cNvPr id="15" name="Text 13"/>
          <p:cNvSpPr/>
          <p:nvPr/>
        </p:nvSpPr>
        <p:spPr>
          <a:xfrm>
            <a:off x="694944" y="3931920"/>
            <a:ext cx="3136392" cy="841248"/>
          </a:xfrm>
          <a:prstGeom prst="rect">
            <a:avLst/>
          </a:prstGeom>
          <a:noFill/>
          <a:ln/>
        </p:spPr>
        <p:txBody>
          <a:bodyPr wrap="square" lIns="0" tIns="0" rIns="0" bIns="0" rtlCol="0" anchor="ctr"/>
          <a:lstStyle/>
          <a:p>
            <a:pPr marL="0" indent="0">
              <a:lnSpc>
                <a:spcPct val="108000"/>
              </a:lnSpc>
              <a:buNone/>
            </a:pPr>
            <a:r>
              <a:rPr lang="en-US" sz="840" dirty="0">
                <a:solidFill>
                  <a:srgbClr val="5C4A3D"/>
                </a:solidFill>
                <a:latin typeface="Calibri" pitchFamily="34" charset="0"/>
                <a:ea typeface="Calibri" pitchFamily="34" charset="-122"/>
                <a:cs typeface="Calibri" pitchFamily="34" charset="-120"/>
              </a:rPr>
              <a:t>205,755 raw, web-scraped service records with Facility ID, Facility Name, URL, Service, Category, and Status — noisy, duplicated, and inconsistently named at the outset.</a:t>
            </a:r>
            <a:endParaRPr lang="en-US" sz="840" dirty="0"/>
          </a:p>
        </p:txBody>
      </p:sp>
      <p:sp>
        <p:nvSpPr>
          <p:cNvPr id="16" name="Text 14"/>
          <p:cNvSpPr/>
          <p:nvPr/>
        </p:nvSpPr>
        <p:spPr>
          <a:xfrm>
            <a:off x="4123944" y="1600200"/>
            <a:ext cx="3429000" cy="256032"/>
          </a:xfrm>
          <a:prstGeom prst="rect">
            <a:avLst/>
          </a:prstGeom>
          <a:noFill/>
          <a:ln/>
        </p:spPr>
        <p:txBody>
          <a:bodyPr wrap="square" lIns="0" tIns="0" rIns="0" bIns="0" rtlCol="0" anchor="ctr"/>
          <a:lstStyle/>
          <a:p>
            <a:pPr marL="0" indent="0">
              <a:buNone/>
            </a:pPr>
            <a:r>
              <a:rPr lang="en-US" sz="1150" b="1" dirty="0">
                <a:solidFill>
                  <a:srgbClr val="241611"/>
                </a:solidFill>
                <a:latin typeface="Calibri" pitchFamily="34" charset="0"/>
                <a:ea typeface="Calibri" pitchFamily="34" charset="-122"/>
                <a:cs typeface="Calibri" pitchFamily="34" charset="-120"/>
              </a:rPr>
              <a:t>Cleaning &amp; Standardizing</a:t>
            </a:r>
            <a:endParaRPr lang="en-US" sz="1150" dirty="0"/>
          </a:p>
        </p:txBody>
      </p:sp>
      <p:sp>
        <p:nvSpPr>
          <p:cNvPr id="17" name="Shape 15"/>
          <p:cNvSpPr/>
          <p:nvPr/>
        </p:nvSpPr>
        <p:spPr>
          <a:xfrm>
            <a:off x="4123944" y="1965960"/>
            <a:ext cx="219456" cy="219456"/>
          </a:xfrm>
          <a:prstGeom prst="ellipse">
            <a:avLst/>
          </a:prstGeom>
          <a:solidFill>
            <a:srgbClr val="E36F1E"/>
          </a:solidFill>
          <a:ln/>
        </p:spPr>
      </p:sp>
      <p:sp>
        <p:nvSpPr>
          <p:cNvPr id="18" name="Text 16"/>
          <p:cNvSpPr/>
          <p:nvPr/>
        </p:nvSpPr>
        <p:spPr>
          <a:xfrm>
            <a:off x="4123944" y="1965960"/>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9" name="Text 17"/>
          <p:cNvSpPr/>
          <p:nvPr/>
        </p:nvSpPr>
        <p:spPr>
          <a:xfrm>
            <a:off x="4416552" y="1920240"/>
            <a:ext cx="3136392" cy="566928"/>
          </a:xfrm>
          <a:prstGeom prst="rect">
            <a:avLst/>
          </a:prstGeom>
          <a:noFill/>
          <a:ln/>
        </p:spPr>
        <p:txBody>
          <a:bodyPr wrap="square" lIns="0" tIns="0" rIns="0" bIns="0" rtlCol="0" anchor="ctr"/>
          <a:lstStyle/>
          <a:p>
            <a:pPr marL="0" indent="0">
              <a:lnSpc>
                <a:spcPct val="105000"/>
              </a:lnSpc>
              <a:buNone/>
            </a:pPr>
            <a:r>
              <a:rPr lang="en-US" sz="840" dirty="0">
                <a:solidFill>
                  <a:srgbClr val="3A2E26"/>
                </a:solidFill>
                <a:latin typeface="Calibri" pitchFamily="34" charset="0"/>
                <a:ea typeface="Calibri" pitchFamily="34" charset="-122"/>
                <a:cs typeface="Calibri" pitchFamily="34" charset="-120"/>
              </a:rPr>
              <a:t>Stripped scraping artifacts — star ratings, numeric prefixes, stray line breaks and whitespace left over from the source pages.</a:t>
            </a:r>
            <a:endParaRPr lang="en-US" sz="840" dirty="0"/>
          </a:p>
        </p:txBody>
      </p:sp>
      <p:sp>
        <p:nvSpPr>
          <p:cNvPr id="20" name="Shape 18"/>
          <p:cNvSpPr/>
          <p:nvPr/>
        </p:nvSpPr>
        <p:spPr>
          <a:xfrm>
            <a:off x="4123944" y="2587752"/>
            <a:ext cx="219456" cy="219456"/>
          </a:xfrm>
          <a:prstGeom prst="ellipse">
            <a:avLst/>
          </a:prstGeom>
          <a:solidFill>
            <a:srgbClr val="E36F1E"/>
          </a:solidFill>
          <a:ln/>
        </p:spPr>
      </p:sp>
      <p:sp>
        <p:nvSpPr>
          <p:cNvPr id="21" name="Text 19"/>
          <p:cNvSpPr/>
          <p:nvPr/>
        </p:nvSpPr>
        <p:spPr>
          <a:xfrm>
            <a:off x="4123944" y="258775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2" name="Text 20"/>
          <p:cNvSpPr/>
          <p:nvPr/>
        </p:nvSpPr>
        <p:spPr>
          <a:xfrm>
            <a:off x="4416552" y="2542032"/>
            <a:ext cx="3136392" cy="566928"/>
          </a:xfrm>
          <a:prstGeom prst="rect">
            <a:avLst/>
          </a:prstGeom>
          <a:noFill/>
          <a:ln/>
        </p:spPr>
        <p:txBody>
          <a:bodyPr wrap="square" lIns="0" tIns="0" rIns="0" bIns="0" rtlCol="0" anchor="ctr"/>
          <a:lstStyle/>
          <a:p>
            <a:pPr marL="0" indent="0">
              <a:lnSpc>
                <a:spcPct val="105000"/>
              </a:lnSpc>
              <a:buNone/>
            </a:pPr>
            <a:r>
              <a:rPr lang="en-US" sz="840" dirty="0">
                <a:solidFill>
                  <a:srgbClr val="3A2E26"/>
                </a:solidFill>
                <a:latin typeface="Calibri" pitchFamily="34" charset="0"/>
                <a:ea typeface="Calibri" pitchFamily="34" charset="-122"/>
                <a:cs typeface="Calibri" pitchFamily="34" charset="-120"/>
              </a:rPr>
              <a:t>Deduplicated exact and near-duplicate entries, reducing 205,755 raw rows to 205,078 unique service records.</a:t>
            </a:r>
            <a:endParaRPr lang="en-US" sz="840" dirty="0"/>
          </a:p>
        </p:txBody>
      </p:sp>
      <p:sp>
        <p:nvSpPr>
          <p:cNvPr id="23" name="Shape 21"/>
          <p:cNvSpPr/>
          <p:nvPr/>
        </p:nvSpPr>
        <p:spPr>
          <a:xfrm>
            <a:off x="4123944" y="3209544"/>
            <a:ext cx="219456" cy="219456"/>
          </a:xfrm>
          <a:prstGeom prst="ellipse">
            <a:avLst/>
          </a:prstGeom>
          <a:solidFill>
            <a:srgbClr val="E36F1E"/>
          </a:solidFill>
          <a:ln/>
        </p:spPr>
      </p:sp>
      <p:sp>
        <p:nvSpPr>
          <p:cNvPr id="24" name="Text 22"/>
          <p:cNvSpPr/>
          <p:nvPr/>
        </p:nvSpPr>
        <p:spPr>
          <a:xfrm>
            <a:off x="4123944" y="3209544"/>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4416552" y="3163824"/>
            <a:ext cx="3136392" cy="566928"/>
          </a:xfrm>
          <a:prstGeom prst="rect">
            <a:avLst/>
          </a:prstGeom>
          <a:noFill/>
          <a:ln/>
        </p:spPr>
        <p:txBody>
          <a:bodyPr wrap="square" lIns="0" tIns="0" rIns="0" bIns="0" rtlCol="0" anchor="ctr"/>
          <a:lstStyle/>
          <a:p>
            <a:pPr marL="0" indent="0">
              <a:lnSpc>
                <a:spcPct val="105000"/>
              </a:lnSpc>
              <a:buNone/>
            </a:pPr>
            <a:r>
              <a:rPr lang="en-US" sz="840" dirty="0">
                <a:solidFill>
                  <a:srgbClr val="3A2E26"/>
                </a:solidFill>
                <a:latin typeface="Calibri" pitchFamily="34" charset="0"/>
                <a:ea typeface="Calibri" pitchFamily="34" charset="-122"/>
                <a:cs typeface="Calibri" pitchFamily="34" charset="-120"/>
              </a:rPr>
              <a:t>Manually mapped every unique service name to one Standardized_Service, resolving spelling and phrasing variants to a single term.</a:t>
            </a:r>
            <a:endParaRPr lang="en-US" sz="840" dirty="0"/>
          </a:p>
        </p:txBody>
      </p:sp>
      <p:sp>
        <p:nvSpPr>
          <p:cNvPr id="26" name="Shape 24"/>
          <p:cNvSpPr/>
          <p:nvPr/>
        </p:nvSpPr>
        <p:spPr>
          <a:xfrm>
            <a:off x="4123944" y="3831336"/>
            <a:ext cx="219456" cy="219456"/>
          </a:xfrm>
          <a:prstGeom prst="ellipse">
            <a:avLst/>
          </a:prstGeom>
          <a:solidFill>
            <a:srgbClr val="E36F1E"/>
          </a:solidFill>
          <a:ln/>
        </p:spPr>
      </p:sp>
      <p:sp>
        <p:nvSpPr>
          <p:cNvPr id="27" name="Text 25"/>
          <p:cNvSpPr/>
          <p:nvPr/>
        </p:nvSpPr>
        <p:spPr>
          <a:xfrm>
            <a:off x="4123944" y="3831336"/>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8" name="Text 26"/>
          <p:cNvSpPr/>
          <p:nvPr/>
        </p:nvSpPr>
        <p:spPr>
          <a:xfrm>
            <a:off x="4416552" y="3785616"/>
            <a:ext cx="3136392" cy="566928"/>
          </a:xfrm>
          <a:prstGeom prst="rect">
            <a:avLst/>
          </a:prstGeom>
          <a:noFill/>
          <a:ln/>
        </p:spPr>
        <p:txBody>
          <a:bodyPr wrap="square" lIns="0" tIns="0" rIns="0" bIns="0" rtlCol="0" anchor="ctr"/>
          <a:lstStyle/>
          <a:p>
            <a:pPr marL="0" indent="0">
              <a:lnSpc>
                <a:spcPct val="105000"/>
              </a:lnSpc>
              <a:buNone/>
            </a:pPr>
            <a:r>
              <a:rPr lang="en-US" sz="840" dirty="0">
                <a:solidFill>
                  <a:srgbClr val="3A2E26"/>
                </a:solidFill>
                <a:latin typeface="Calibri" pitchFamily="34" charset="0"/>
                <a:ea typeface="Calibri" pitchFamily="34" charset="-122"/>
                <a:cs typeface="Calibri" pitchFamily="34" charset="-120"/>
              </a:rPr>
              <a:t>Assigned each standardized service to a broader Service Group, while preserving the original service name for traceability.</a:t>
            </a:r>
            <a:endParaRPr lang="en-US" sz="840" dirty="0"/>
          </a:p>
        </p:txBody>
      </p:sp>
      <p:sp>
        <p:nvSpPr>
          <p:cNvPr id="29" name="Shape 27"/>
          <p:cNvSpPr/>
          <p:nvPr/>
        </p:nvSpPr>
        <p:spPr>
          <a:xfrm>
            <a:off x="4123944" y="4453128"/>
            <a:ext cx="219456" cy="219456"/>
          </a:xfrm>
          <a:prstGeom prst="ellipse">
            <a:avLst/>
          </a:prstGeom>
          <a:solidFill>
            <a:srgbClr val="E36F1E"/>
          </a:solidFill>
          <a:ln/>
        </p:spPr>
      </p:sp>
      <p:sp>
        <p:nvSpPr>
          <p:cNvPr id="30" name="Text 28"/>
          <p:cNvSpPr/>
          <p:nvPr/>
        </p:nvSpPr>
        <p:spPr>
          <a:xfrm>
            <a:off x="4123944" y="4453128"/>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1" name="Text 29"/>
          <p:cNvSpPr/>
          <p:nvPr/>
        </p:nvSpPr>
        <p:spPr>
          <a:xfrm>
            <a:off x="4416552" y="4407408"/>
            <a:ext cx="3136392" cy="566928"/>
          </a:xfrm>
          <a:prstGeom prst="rect">
            <a:avLst/>
          </a:prstGeom>
          <a:noFill/>
          <a:ln/>
        </p:spPr>
        <p:txBody>
          <a:bodyPr wrap="square" lIns="0" tIns="0" rIns="0" bIns="0" rtlCol="0" anchor="ctr"/>
          <a:lstStyle/>
          <a:p>
            <a:pPr marL="0" indent="0">
              <a:lnSpc>
                <a:spcPct val="105000"/>
              </a:lnSpc>
              <a:buNone/>
            </a:pPr>
            <a:r>
              <a:rPr lang="en-US" sz="840" dirty="0">
                <a:solidFill>
                  <a:srgbClr val="3A2E26"/>
                </a:solidFill>
                <a:latin typeface="Calibri" pitchFamily="34" charset="0"/>
                <a:ea typeface="Calibri" pitchFamily="34" charset="-122"/>
                <a:cs typeface="Calibri" pitchFamily="34" charset="-120"/>
              </a:rPr>
              <a:t>Validated the result end to end: every record carries a standardized name and group, with no missing mappings.</a:t>
            </a:r>
            <a:endParaRPr lang="en-US" sz="840" dirty="0"/>
          </a:p>
        </p:txBody>
      </p:sp>
      <p:sp>
        <p:nvSpPr>
          <p:cNvPr id="32" name="Shape 30"/>
          <p:cNvSpPr/>
          <p:nvPr/>
        </p:nvSpPr>
        <p:spPr>
          <a:xfrm>
            <a:off x="4123944" y="5093208"/>
            <a:ext cx="3429000" cy="548640"/>
          </a:xfrm>
          <a:prstGeom prst="roundRect">
            <a:avLst>
              <a:gd name="adj" fmla="val 11667"/>
            </a:avLst>
          </a:prstGeom>
          <a:solidFill>
            <a:srgbClr val="E9D9C8"/>
          </a:solidFill>
          <a:ln/>
        </p:spPr>
      </p:sp>
      <p:sp>
        <p:nvSpPr>
          <p:cNvPr id="33" name="Text 31"/>
          <p:cNvSpPr/>
          <p:nvPr/>
        </p:nvSpPr>
        <p:spPr>
          <a:xfrm>
            <a:off x="4242816" y="5166360"/>
            <a:ext cx="3191256" cy="230429"/>
          </a:xfrm>
          <a:prstGeom prst="rect">
            <a:avLst/>
          </a:prstGeom>
          <a:noFill/>
          <a:ln/>
        </p:spPr>
        <p:txBody>
          <a:bodyPr wrap="square" lIns="0" tIns="0" rIns="0" bIns="0" rtlCol="0" anchor="ctr"/>
          <a:lstStyle/>
          <a:p>
            <a:pPr marL="0" indent="0">
              <a:buNone/>
            </a:pPr>
            <a:r>
              <a:rPr lang="en-US" sz="1250" b="1" dirty="0">
                <a:solidFill>
                  <a:srgbClr val="B4550F"/>
                </a:solidFill>
                <a:latin typeface="Cambria" pitchFamily="34" charset="0"/>
                <a:ea typeface="Cambria" pitchFamily="34" charset="-122"/>
                <a:cs typeface="Cambria" pitchFamily="34" charset="-120"/>
              </a:rPr>
              <a:t>205,755 → 205,078</a:t>
            </a:r>
            <a:endParaRPr lang="en-US" sz="1250" dirty="0"/>
          </a:p>
        </p:txBody>
      </p:sp>
      <p:sp>
        <p:nvSpPr>
          <p:cNvPr id="34" name="Text 32"/>
          <p:cNvSpPr/>
          <p:nvPr/>
        </p:nvSpPr>
        <p:spPr>
          <a:xfrm>
            <a:off x="4242816" y="5334610"/>
            <a:ext cx="3191256" cy="285293"/>
          </a:xfrm>
          <a:prstGeom prst="rect">
            <a:avLst/>
          </a:prstGeom>
          <a:noFill/>
          <a:ln/>
        </p:spPr>
        <p:txBody>
          <a:bodyPr wrap="square" lIns="0" tIns="0" rIns="0" bIns="0" rtlCol="0" anchor="t"/>
          <a:lstStyle/>
          <a:p>
            <a:pPr marL="0" indent="0">
              <a:lnSpc>
                <a:spcPct val="102000"/>
              </a:lnSpc>
              <a:buNone/>
            </a:pPr>
            <a:r>
              <a:rPr lang="en-US" sz="780" dirty="0">
                <a:solidFill>
                  <a:srgbClr val="5C4A3D"/>
                </a:solidFill>
                <a:latin typeface="Calibri" pitchFamily="34" charset="0"/>
                <a:ea typeface="Calibri" pitchFamily="34" charset="-122"/>
                <a:cs typeface="Calibri" pitchFamily="34" charset="-120"/>
              </a:rPr>
              <a:t>raw records reduced to clean, standardized, fully-mapped entries</a:t>
            </a:r>
            <a:endParaRPr lang="en-US" sz="780" dirty="0"/>
          </a:p>
        </p:txBody>
      </p:sp>
      <p:sp>
        <p:nvSpPr>
          <p:cNvPr id="35" name="Text 33"/>
          <p:cNvSpPr/>
          <p:nvPr/>
        </p:nvSpPr>
        <p:spPr>
          <a:xfrm>
            <a:off x="7699248" y="1600200"/>
            <a:ext cx="3429000" cy="256032"/>
          </a:xfrm>
          <a:prstGeom prst="rect">
            <a:avLst/>
          </a:prstGeom>
          <a:noFill/>
          <a:ln/>
        </p:spPr>
        <p:txBody>
          <a:bodyPr wrap="square" lIns="0" tIns="0" rIns="0" bIns="0" rtlCol="0" anchor="ctr"/>
          <a:lstStyle/>
          <a:p>
            <a:pPr marL="0" indent="0">
              <a:buNone/>
            </a:pPr>
            <a:r>
              <a:rPr lang="en-US" sz="1150" b="1" dirty="0">
                <a:solidFill>
                  <a:srgbClr val="241611"/>
                </a:solidFill>
                <a:latin typeface="Calibri" pitchFamily="34" charset="0"/>
                <a:ea typeface="Calibri" pitchFamily="34" charset="-122"/>
                <a:cs typeface="Calibri" pitchFamily="34" charset="-120"/>
              </a:rPr>
              <a:t>Merging into a Master List</a:t>
            </a:r>
            <a:endParaRPr lang="en-US" sz="1150" dirty="0"/>
          </a:p>
        </p:txBody>
      </p:sp>
      <p:sp>
        <p:nvSpPr>
          <p:cNvPr id="36" name="Text 34"/>
          <p:cNvSpPr/>
          <p:nvPr/>
        </p:nvSpPr>
        <p:spPr>
          <a:xfrm>
            <a:off x="7699248" y="1892808"/>
            <a:ext cx="3429000" cy="384048"/>
          </a:xfrm>
          <a:prstGeom prst="rect">
            <a:avLst/>
          </a:prstGeom>
          <a:noFill/>
          <a:ln/>
        </p:spPr>
        <p:txBody>
          <a:bodyPr wrap="square" lIns="0" tIns="0" rIns="0" bIns="0" rtlCol="0" anchor="ctr"/>
          <a:lstStyle/>
          <a:p>
            <a:pPr marL="0" indent="0">
              <a:lnSpc>
                <a:spcPct val="108000"/>
              </a:lnSpc>
              <a:buNone/>
            </a:pPr>
            <a:r>
              <a:rPr lang="en-US" sz="840" dirty="0">
                <a:solidFill>
                  <a:srgbClr val="5C4A3D"/>
                </a:solidFill>
                <a:latin typeface="Calibri" pitchFamily="34" charset="0"/>
                <a:ea typeface="Calibri" pitchFamily="34" charset="-122"/>
                <a:cs typeface="Calibri" pitchFamily="34" charset="-120"/>
              </a:rPr>
              <a:t>Three merge strategies were tested on Facility ID before choosing the one that best serves recommendation, not just raw data coverage:</a:t>
            </a:r>
            <a:endParaRPr lang="en-US" sz="840" dirty="0"/>
          </a:p>
        </p:txBody>
      </p:sp>
      <p:sp>
        <p:nvSpPr>
          <p:cNvPr id="37" name="Shape 35"/>
          <p:cNvSpPr/>
          <p:nvPr/>
        </p:nvSpPr>
        <p:spPr>
          <a:xfrm>
            <a:off x="7699248" y="2331720"/>
            <a:ext cx="3429000" cy="658368"/>
          </a:xfrm>
          <a:prstGeom prst="roundRect">
            <a:avLst>
              <a:gd name="adj" fmla="val 8333"/>
            </a:avLst>
          </a:prstGeom>
          <a:solidFill>
            <a:srgbClr val="E9D9C8"/>
          </a:solidFill>
          <a:ln/>
        </p:spPr>
      </p:sp>
      <p:sp>
        <p:nvSpPr>
          <p:cNvPr id="38" name="Text 36"/>
          <p:cNvSpPr/>
          <p:nvPr/>
        </p:nvSpPr>
        <p:spPr>
          <a:xfrm>
            <a:off x="7827264" y="2386584"/>
            <a:ext cx="3172968" cy="237744"/>
          </a:xfrm>
          <a:prstGeom prst="rect">
            <a:avLst/>
          </a:prstGeom>
          <a:noFill/>
          <a:ln/>
        </p:spPr>
        <p:txBody>
          <a:bodyPr wrap="square" lIns="0" tIns="0" rIns="0" bIns="0" rtlCol="0" anchor="ctr"/>
          <a:lstStyle/>
          <a:p>
            <a:pPr marL="0" indent="0">
              <a:buNone/>
            </a:pPr>
            <a:r>
              <a:rPr lang="en-US" sz="900" b="1" dirty="0">
                <a:solidFill>
                  <a:srgbClr val="5C4A3D"/>
                </a:solidFill>
                <a:latin typeface="Calibri" pitchFamily="34" charset="0"/>
                <a:ea typeface="Calibri" pitchFamily="34" charset="-122"/>
                <a:cs typeface="Calibri" pitchFamily="34" charset="-120"/>
              </a:rPr>
              <a:t>Inner Merge — 173,721 records</a:t>
            </a:r>
            <a:endParaRPr lang="en-US" sz="900" dirty="0"/>
          </a:p>
        </p:txBody>
      </p:sp>
      <p:sp>
        <p:nvSpPr>
          <p:cNvPr id="39" name="Text 37"/>
          <p:cNvSpPr/>
          <p:nvPr/>
        </p:nvSpPr>
        <p:spPr>
          <a:xfrm>
            <a:off x="7827264" y="2624328"/>
            <a:ext cx="3172968" cy="310896"/>
          </a:xfrm>
          <a:prstGeom prst="rect">
            <a:avLst/>
          </a:prstGeom>
          <a:noFill/>
          <a:ln/>
        </p:spPr>
        <p:txBody>
          <a:bodyPr wrap="square" lIns="0" tIns="0" rIns="0" bIns="0" rtlCol="0" anchor="ctr"/>
          <a:lstStyle/>
          <a:p>
            <a:pPr marL="0" indent="0">
              <a:buNone/>
            </a:pPr>
            <a:r>
              <a:rPr lang="en-US" sz="780" dirty="0">
                <a:solidFill>
                  <a:srgbClr val="5C4A3D"/>
                </a:solidFill>
                <a:latin typeface="Calibri" pitchFamily="34" charset="0"/>
                <a:ea typeface="Calibri" pitchFamily="34" charset="-122"/>
                <a:cs typeface="Calibri" pitchFamily="34" charset="-120"/>
              </a:rPr>
              <a:t>only facilities with a matching service record survive</a:t>
            </a:r>
            <a:endParaRPr lang="en-US" sz="780" dirty="0"/>
          </a:p>
        </p:txBody>
      </p:sp>
      <p:sp>
        <p:nvSpPr>
          <p:cNvPr id="40" name="Shape 38"/>
          <p:cNvSpPr/>
          <p:nvPr/>
        </p:nvSpPr>
        <p:spPr>
          <a:xfrm>
            <a:off x="7699248" y="3063240"/>
            <a:ext cx="3429000" cy="658368"/>
          </a:xfrm>
          <a:prstGeom prst="roundRect">
            <a:avLst>
              <a:gd name="adj" fmla="val 8333"/>
            </a:avLst>
          </a:prstGeom>
          <a:solidFill>
            <a:srgbClr val="B4550F"/>
          </a:solidFill>
          <a:ln/>
        </p:spPr>
      </p:sp>
      <p:sp>
        <p:nvSpPr>
          <p:cNvPr id="41" name="Text 39"/>
          <p:cNvSpPr/>
          <p:nvPr/>
        </p:nvSpPr>
        <p:spPr>
          <a:xfrm>
            <a:off x="7827264" y="3118104"/>
            <a:ext cx="3172968"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Left Merge (chosen) — 174,443 records</a:t>
            </a:r>
            <a:endParaRPr lang="en-US" sz="900" dirty="0"/>
          </a:p>
        </p:txBody>
      </p:sp>
      <p:sp>
        <p:nvSpPr>
          <p:cNvPr id="42" name="Text 40"/>
          <p:cNvSpPr/>
          <p:nvPr/>
        </p:nvSpPr>
        <p:spPr>
          <a:xfrm>
            <a:off x="7827264" y="3355848"/>
            <a:ext cx="3172968" cy="310896"/>
          </a:xfrm>
          <a:prstGeom prst="rect">
            <a:avLst/>
          </a:prstGeom>
          <a:noFill/>
          <a:ln/>
        </p:spPr>
        <p:txBody>
          <a:bodyPr wrap="square" lIns="0" tIns="0" rIns="0" bIns="0" rtlCol="0" anchor="ctr"/>
          <a:lstStyle/>
          <a:p>
            <a:pPr marL="0" indent="0">
              <a:buNone/>
            </a:pPr>
            <a:r>
              <a:rPr lang="en-US" sz="780" dirty="0">
                <a:solidFill>
                  <a:srgbClr val="E9D9C8"/>
                </a:solidFill>
                <a:latin typeface="Calibri" pitchFamily="34" charset="0"/>
                <a:ea typeface="Calibri" pitchFamily="34" charset="-122"/>
                <a:cs typeface="Calibri" pitchFamily="34" charset="-120"/>
              </a:rPr>
              <a:t>keeps every registered facility, attaches available services</a:t>
            </a:r>
            <a:endParaRPr lang="en-US" sz="780" dirty="0"/>
          </a:p>
        </p:txBody>
      </p:sp>
      <p:sp>
        <p:nvSpPr>
          <p:cNvPr id="43" name="Text 41"/>
          <p:cNvSpPr/>
          <p:nvPr/>
        </p:nvSpPr>
        <p:spPr>
          <a:xfrm>
            <a:off x="7699248" y="3813048"/>
            <a:ext cx="3429000" cy="640080"/>
          </a:xfrm>
          <a:prstGeom prst="rect">
            <a:avLst/>
          </a:prstGeom>
          <a:noFill/>
          <a:ln/>
        </p:spPr>
        <p:txBody>
          <a:bodyPr wrap="square" lIns="0" tIns="0" rIns="0" bIns="0" rtlCol="0" anchor="ctr"/>
          <a:lstStyle/>
          <a:p>
            <a:pPr marL="0" indent="0">
              <a:lnSpc>
                <a:spcPct val="110000"/>
              </a:lnSpc>
              <a:buNone/>
            </a:pPr>
            <a:r>
              <a:rPr lang="en-US" sz="830" i="1" dirty="0">
                <a:solidFill>
                  <a:srgbClr val="5C4A3D"/>
                </a:solidFill>
                <a:latin typeface="Calibri" pitchFamily="34" charset="0"/>
                <a:ea typeface="Calibri" pitchFamily="34" charset="-122"/>
                <a:cs typeface="Calibri" pitchFamily="34" charset="-120"/>
              </a:rPr>
              <a:t>The left merge was used, keeping the full registry as the base since the system's job is to recommend facilities — the registry must stay the source of truth, even where service data is thin.</a:t>
            </a:r>
            <a:endParaRPr lang="en-US" sz="830" dirty="0"/>
          </a:p>
        </p:txBody>
      </p:sp>
      <p:sp>
        <p:nvSpPr>
          <p:cNvPr id="44" name="Text 42"/>
          <p:cNvSpPr/>
          <p:nvPr/>
        </p:nvSpPr>
        <p:spPr>
          <a:xfrm>
            <a:off x="7699248" y="4526280"/>
            <a:ext cx="3429000" cy="777240"/>
          </a:xfrm>
          <a:prstGeom prst="rect">
            <a:avLst/>
          </a:prstGeom>
          <a:noFill/>
          <a:ln/>
        </p:spPr>
        <p:txBody>
          <a:bodyPr wrap="square" lIns="0" tIns="0" rIns="0" bIns="0" rtlCol="0" anchor="ctr"/>
          <a:lstStyle/>
          <a:p>
            <a:pPr marL="0" indent="0">
              <a:lnSpc>
                <a:spcPct val="110000"/>
              </a:lnSpc>
              <a:buNone/>
            </a:pPr>
            <a:r>
              <a:rPr lang="en-US" sz="830" dirty="0">
                <a:solidFill>
                  <a:srgbClr val="3A2E26"/>
                </a:solidFill>
                <a:latin typeface="Calibri" pitchFamily="34" charset="0"/>
                <a:ea typeface="Calibri" pitchFamily="34" charset="-122"/>
                <a:cs typeface="Calibri" pitchFamily="34" charset="-120"/>
              </a:rPr>
              <a:t>Facility rows → grouped by Facility ID into a Services list + Service_Count → merged back onto the full facility registry to form the Master Facility List used by every later stage.</a:t>
            </a:r>
            <a:endParaRPr lang="en-US" sz="830" dirty="0"/>
          </a:p>
        </p:txBody>
      </p:sp>
      <p:sp>
        <p:nvSpPr>
          <p:cNvPr id="45" name="Text 43"/>
          <p:cNvSpPr/>
          <p:nvPr/>
        </p:nvSpPr>
        <p:spPr>
          <a:xfrm>
            <a:off x="548640" y="6492240"/>
            <a:ext cx="2743200" cy="256032"/>
          </a:xfrm>
          <a:prstGeom prst="rect">
            <a:avLst/>
          </a:prstGeom>
          <a:noFill/>
          <a:ln/>
        </p:spPr>
        <p:txBody>
          <a:bodyPr wrap="square" lIns="0" tIns="0" rIns="0" bIns="0" rtlCol="0" anchor="ctr"/>
          <a:lstStyle/>
          <a:p>
            <a:pPr marL="0" indent="0">
              <a:buNone/>
            </a:pPr>
            <a:r>
              <a:rPr lang="en-US" sz="850" dirty="0">
                <a:solidFill>
                  <a:srgbClr val="8A7364"/>
                </a:solidFill>
                <a:latin typeface="Calibri" pitchFamily="34" charset="0"/>
                <a:ea typeface="Calibri" pitchFamily="34" charset="-122"/>
                <a:cs typeface="Calibri" pitchFamily="34" charset="-120"/>
              </a:rPr>
              <a:t>AfyaGuide</a:t>
            </a:r>
            <a:endParaRPr lang="en-US" sz="850" dirty="0"/>
          </a:p>
        </p:txBody>
      </p:sp>
      <p:sp>
        <p:nvSpPr>
          <p:cNvPr id="46" name="Text 44"/>
          <p:cNvSpPr/>
          <p:nvPr/>
        </p:nvSpPr>
        <p:spPr>
          <a:xfrm>
            <a:off x="10728655" y="6492240"/>
            <a:ext cx="914400" cy="256032"/>
          </a:xfrm>
          <a:prstGeom prst="rect">
            <a:avLst/>
          </a:prstGeom>
          <a:noFill/>
          <a:ln/>
        </p:spPr>
        <p:txBody>
          <a:bodyPr wrap="square" lIns="0" tIns="0" rIns="0" bIns="0" rtlCol="0" anchor="ctr"/>
          <a:lstStyle/>
          <a:p>
            <a:pPr marL="0" indent="0" algn="r">
              <a:buNone/>
            </a:pPr>
            <a:r>
              <a:rPr lang="en-US" sz="850" dirty="0">
                <a:solidFill>
                  <a:srgbClr val="8A7364"/>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marL="0" indent="0">
              <a:buNone/>
            </a:pPr>
            <a:r>
              <a:rPr lang="en-US" sz="1100" b="1" kern="0" spc="200" dirty="0">
                <a:solidFill>
                  <a:srgbClr val="E36F1E"/>
                </a:solidFill>
                <a:latin typeface="Calibri" pitchFamily="34" charset="0"/>
                <a:ea typeface="Calibri" pitchFamily="34" charset="-122"/>
                <a:cs typeface="Calibri" pitchFamily="34" charset="-120"/>
              </a:rPr>
              <a:t>02 — DATA &amp; APPROACH</a:t>
            </a:r>
            <a:endParaRPr lang="en-US" sz="1100" dirty="0"/>
          </a:p>
        </p:txBody>
      </p:sp>
      <p:sp>
        <p:nvSpPr>
          <p:cNvPr id="3" name="Text 1"/>
          <p:cNvSpPr/>
          <p:nvPr/>
        </p:nvSpPr>
        <p:spPr>
          <a:xfrm>
            <a:off x="548640" y="512064"/>
            <a:ext cx="11094415" cy="457200"/>
          </a:xfrm>
          <a:prstGeom prst="rect">
            <a:avLst/>
          </a:prstGeom>
          <a:noFill/>
          <a:ln/>
        </p:spPr>
        <p:txBody>
          <a:bodyPr wrap="square" lIns="0" tIns="0" rIns="0" bIns="0" rtlCol="0" anchor="ctr"/>
          <a:lstStyle/>
          <a:p>
            <a:pPr marL="0" indent="0">
              <a:buNone/>
            </a:pPr>
            <a:r>
              <a:rPr lang="en-US" sz="2400" b="1" dirty="0">
                <a:solidFill>
                  <a:srgbClr val="241611"/>
                </a:solidFill>
                <a:latin typeface="Cambria" pitchFamily="34" charset="0"/>
                <a:ea typeface="Cambria" pitchFamily="34" charset="-122"/>
                <a:cs typeface="Cambria" pitchFamily="34" charset="-120"/>
              </a:rPr>
              <a:t>The User Health Need Taxonomy</a:t>
            </a:r>
            <a:endParaRPr lang="en-US" sz="2400" dirty="0"/>
          </a:p>
        </p:txBody>
      </p:sp>
      <p:sp>
        <p:nvSpPr>
          <p:cNvPr id="4" name="Text 2"/>
          <p:cNvSpPr/>
          <p:nvPr/>
        </p:nvSpPr>
        <p:spPr>
          <a:xfrm>
            <a:off x="548640" y="987552"/>
            <a:ext cx="11094415" cy="502920"/>
          </a:xfrm>
          <a:prstGeom prst="rect">
            <a:avLst/>
          </a:prstGeom>
          <a:noFill/>
          <a:ln/>
        </p:spPr>
        <p:txBody>
          <a:bodyPr wrap="square" lIns="0" tIns="0" rIns="0" bIns="0" rtlCol="0" anchor="ctr"/>
          <a:lstStyle/>
          <a:p>
            <a:pPr marL="0" indent="0">
              <a:lnSpc>
                <a:spcPct val="112000"/>
              </a:lnSpc>
              <a:buNone/>
            </a:pPr>
            <a:r>
              <a:rPr lang="en-US" sz="1100" dirty="0">
                <a:solidFill>
                  <a:srgbClr val="4A3B31"/>
                </a:solidFill>
                <a:latin typeface="Calibri" pitchFamily="34" charset="0"/>
                <a:ea typeface="Calibri" pitchFamily="34" charset="-122"/>
                <a:cs typeface="Calibri" pitchFamily="34" charset="-120"/>
              </a:rPr>
              <a:t>People don't describe symptoms the way a registry describes services. The taxonomy is the translation layer between the two — a 340-entry table mapping everyday health needs to the standardized KMHFR services the Master Facility List already uses.</a:t>
            </a:r>
            <a:endParaRPr lang="en-US" sz="1100" dirty="0"/>
          </a:p>
        </p:txBody>
      </p:sp>
      <p:sp>
        <p:nvSpPr>
          <p:cNvPr id="5" name="Text 3"/>
          <p:cNvSpPr/>
          <p:nvPr/>
        </p:nvSpPr>
        <p:spPr>
          <a:xfrm>
            <a:off x="548640" y="1600200"/>
            <a:ext cx="10908792" cy="548640"/>
          </a:xfrm>
          <a:prstGeom prst="rect">
            <a:avLst/>
          </a:prstGeom>
          <a:noFill/>
          <a:ln/>
        </p:spPr>
        <p:txBody>
          <a:bodyPr wrap="square" lIns="0" tIns="0" rIns="0" bIns="0" rtlCol="0" anchor="ctr"/>
          <a:lstStyle/>
          <a:p>
            <a:pPr marL="0" indent="0">
              <a:lnSpc>
                <a:spcPct val="115000"/>
              </a:lnSpc>
              <a:buNone/>
            </a:pPr>
            <a:r>
              <a:rPr lang="en-US" sz="1050" dirty="0">
                <a:solidFill>
                  <a:srgbClr val="3A2E26"/>
                </a:solidFill>
                <a:latin typeface="Calibri" pitchFamily="34" charset="0"/>
                <a:ea typeface="Calibri" pitchFamily="34" charset="-122"/>
                <a:cs typeface="Calibri" pitchFamily="34" charset="-120"/>
              </a:rPr>
              <a:t>Each of the 340 entries captures more than a single label: it links a common health need to the keywords and symptoms people actually use, a set of plain-language example queries, and exactly one standardized service — so the same underlying need is matched consistently no matter how differently two people phrase it.</a:t>
            </a:r>
            <a:endParaRPr lang="en-US" sz="1050" dirty="0"/>
          </a:p>
        </p:txBody>
      </p:sp>
      <p:sp>
        <p:nvSpPr>
          <p:cNvPr id="6" name="Shape 4"/>
          <p:cNvSpPr/>
          <p:nvPr/>
        </p:nvSpPr>
        <p:spPr>
          <a:xfrm>
            <a:off x="548640" y="2331720"/>
            <a:ext cx="2468880" cy="1417320"/>
          </a:xfrm>
          <a:prstGeom prst="roundRect">
            <a:avLst>
              <a:gd name="adj" fmla="val 4516"/>
            </a:avLst>
          </a:prstGeom>
          <a:solidFill>
            <a:srgbClr val="FBE8D6"/>
          </a:solidFill>
          <a:ln/>
        </p:spPr>
      </p:sp>
      <p:sp>
        <p:nvSpPr>
          <p:cNvPr id="7" name="Text 5"/>
          <p:cNvSpPr/>
          <p:nvPr/>
        </p:nvSpPr>
        <p:spPr>
          <a:xfrm>
            <a:off x="667512" y="2404872"/>
            <a:ext cx="2231136" cy="595274"/>
          </a:xfrm>
          <a:prstGeom prst="rect">
            <a:avLst/>
          </a:prstGeom>
          <a:noFill/>
          <a:ln/>
        </p:spPr>
        <p:txBody>
          <a:bodyPr wrap="square" lIns="0" tIns="0" rIns="0" bIns="0" rtlCol="0" anchor="ctr"/>
          <a:lstStyle/>
          <a:p>
            <a:pPr marL="0" indent="0">
              <a:buNone/>
            </a:pPr>
            <a:r>
              <a:rPr lang="en-US" sz="3200" b="1" dirty="0">
                <a:solidFill>
                  <a:srgbClr val="B4550F"/>
                </a:solidFill>
                <a:latin typeface="Cambria" pitchFamily="34" charset="0"/>
                <a:ea typeface="Cambria" pitchFamily="34" charset="-122"/>
                <a:cs typeface="Cambria" pitchFamily="34" charset="-120"/>
              </a:rPr>
              <a:t>340</a:t>
            </a:r>
            <a:endParaRPr lang="en-US" sz="3200" dirty="0"/>
          </a:p>
        </p:txBody>
      </p:sp>
      <p:sp>
        <p:nvSpPr>
          <p:cNvPr id="8" name="Text 6"/>
          <p:cNvSpPr/>
          <p:nvPr/>
        </p:nvSpPr>
        <p:spPr>
          <a:xfrm>
            <a:off x="667512" y="2955341"/>
            <a:ext cx="2231136" cy="737006"/>
          </a:xfrm>
          <a:prstGeom prst="rect">
            <a:avLst/>
          </a:prstGeom>
          <a:noFill/>
          <a:ln/>
        </p:spPr>
        <p:txBody>
          <a:bodyPr wrap="square" lIns="0" tIns="0" rIns="0" bIns="0" rtlCol="0" anchor="t"/>
          <a:lstStyle/>
          <a:p>
            <a:pPr marL="0" indent="0">
              <a:lnSpc>
                <a:spcPct val="102000"/>
              </a:lnSpc>
              <a:buNone/>
            </a:pPr>
            <a:r>
              <a:rPr lang="en-US" sz="1000" dirty="0">
                <a:solidFill>
                  <a:srgbClr val="5C4A3D"/>
                </a:solidFill>
                <a:latin typeface="Calibri" pitchFamily="34" charset="0"/>
                <a:ea typeface="Calibri" pitchFamily="34" charset="-122"/>
                <a:cs typeface="Calibri" pitchFamily="34" charset="-120"/>
              </a:rPr>
              <a:t>health needs mapped in the taxonomy, spanning maternal, child, chronic, and acute care</a:t>
            </a:r>
            <a:endParaRPr lang="en-US" sz="1000" dirty="0"/>
          </a:p>
        </p:txBody>
      </p:sp>
      <p:sp>
        <p:nvSpPr>
          <p:cNvPr id="9" name="Shape 7"/>
          <p:cNvSpPr/>
          <p:nvPr/>
        </p:nvSpPr>
        <p:spPr>
          <a:xfrm>
            <a:off x="548640" y="3886200"/>
            <a:ext cx="2468880" cy="1417320"/>
          </a:xfrm>
          <a:prstGeom prst="roundRect">
            <a:avLst>
              <a:gd name="adj" fmla="val 4516"/>
            </a:avLst>
          </a:prstGeom>
          <a:solidFill>
            <a:srgbClr val="FBE8D6"/>
          </a:solidFill>
          <a:ln/>
        </p:spPr>
      </p:sp>
      <p:sp>
        <p:nvSpPr>
          <p:cNvPr id="10" name="Text 8"/>
          <p:cNvSpPr/>
          <p:nvPr/>
        </p:nvSpPr>
        <p:spPr>
          <a:xfrm>
            <a:off x="667512" y="3959352"/>
            <a:ext cx="2231136" cy="595274"/>
          </a:xfrm>
          <a:prstGeom prst="rect">
            <a:avLst/>
          </a:prstGeom>
          <a:noFill/>
          <a:ln/>
        </p:spPr>
        <p:txBody>
          <a:bodyPr wrap="square" lIns="0" tIns="0" rIns="0" bIns="0" rtlCol="0" anchor="ctr"/>
          <a:lstStyle/>
          <a:p>
            <a:pPr marL="0" indent="0">
              <a:buNone/>
            </a:pPr>
            <a:r>
              <a:rPr lang="en-US" sz="3200" b="1" dirty="0">
                <a:solidFill>
                  <a:srgbClr val="B4550F"/>
                </a:solidFill>
                <a:latin typeface="Cambria" pitchFamily="34" charset="0"/>
                <a:ea typeface="Cambria" pitchFamily="34" charset="-122"/>
                <a:cs typeface="Cambria" pitchFamily="34" charset="-120"/>
              </a:rPr>
              <a:t>1:1</a:t>
            </a:r>
            <a:endParaRPr lang="en-US" sz="3200" dirty="0"/>
          </a:p>
        </p:txBody>
      </p:sp>
      <p:sp>
        <p:nvSpPr>
          <p:cNvPr id="11" name="Text 9"/>
          <p:cNvSpPr/>
          <p:nvPr/>
        </p:nvSpPr>
        <p:spPr>
          <a:xfrm>
            <a:off x="667512" y="4509821"/>
            <a:ext cx="2231136" cy="737006"/>
          </a:xfrm>
          <a:prstGeom prst="rect">
            <a:avLst/>
          </a:prstGeom>
          <a:noFill/>
          <a:ln/>
        </p:spPr>
        <p:txBody>
          <a:bodyPr wrap="square" lIns="0" tIns="0" rIns="0" bIns="0" rtlCol="0" anchor="t"/>
          <a:lstStyle/>
          <a:p>
            <a:pPr marL="0" indent="0">
              <a:lnSpc>
                <a:spcPct val="102000"/>
              </a:lnSpc>
              <a:buNone/>
            </a:pPr>
            <a:r>
              <a:rPr lang="en-US" sz="1000" dirty="0">
                <a:solidFill>
                  <a:srgbClr val="5C4A3D"/>
                </a:solidFill>
                <a:latin typeface="Calibri" pitchFamily="34" charset="0"/>
                <a:ea typeface="Calibri" pitchFamily="34" charset="-122"/>
                <a:cs typeface="Calibri" pitchFamily="34" charset="-120"/>
              </a:rPr>
              <a:t>each health need links to a single standardized service, keeping downstream matching unambiguous</a:t>
            </a:r>
            <a:endParaRPr lang="en-US" sz="1000" dirty="0"/>
          </a:p>
        </p:txBody>
      </p:sp>
      <p:sp>
        <p:nvSpPr>
          <p:cNvPr id="12" name="Shape 10"/>
          <p:cNvSpPr/>
          <p:nvPr/>
        </p:nvSpPr>
        <p:spPr>
          <a:xfrm>
            <a:off x="3611880" y="2331720"/>
            <a:ext cx="7863840" cy="2971800"/>
          </a:xfrm>
          <a:prstGeom prst="roundRect">
            <a:avLst>
              <a:gd name="adj" fmla="val 3077"/>
            </a:avLst>
          </a:prstGeom>
          <a:solidFill>
            <a:srgbClr val="2E2018"/>
          </a:solidFill>
          <a:ln/>
        </p:spPr>
      </p:sp>
      <p:sp>
        <p:nvSpPr>
          <p:cNvPr id="13" name="Text 11"/>
          <p:cNvSpPr/>
          <p:nvPr/>
        </p:nvSpPr>
        <p:spPr>
          <a:xfrm>
            <a:off x="3977640" y="2587752"/>
            <a:ext cx="7132320" cy="256032"/>
          </a:xfrm>
          <a:prstGeom prst="rect">
            <a:avLst/>
          </a:prstGeom>
          <a:noFill/>
          <a:ln/>
        </p:spPr>
        <p:txBody>
          <a:bodyPr wrap="square" lIns="0" tIns="0" rIns="0" bIns="0" rtlCol="0" anchor="ctr"/>
          <a:lstStyle/>
          <a:p>
            <a:pPr marL="0" indent="0">
              <a:buNone/>
            </a:pPr>
            <a:r>
              <a:rPr lang="en-US" sz="1050" b="1" kern="0" spc="200" dirty="0">
                <a:solidFill>
                  <a:srgbClr val="E36F1E"/>
                </a:solidFill>
                <a:latin typeface="Calibri" pitchFamily="34" charset="0"/>
                <a:ea typeface="Calibri" pitchFamily="34" charset="-122"/>
                <a:cs typeface="Calibri" pitchFamily="34" charset="-120"/>
              </a:rPr>
              <a:t>EXAMPLE ENTRY</a:t>
            </a:r>
            <a:endParaRPr lang="en-US" sz="1050" dirty="0"/>
          </a:p>
        </p:txBody>
      </p:sp>
      <p:sp>
        <p:nvSpPr>
          <p:cNvPr id="14" name="Text 12"/>
          <p:cNvSpPr/>
          <p:nvPr/>
        </p:nvSpPr>
        <p:spPr>
          <a:xfrm>
            <a:off x="3977640" y="2880360"/>
            <a:ext cx="7132320" cy="777240"/>
          </a:xfrm>
          <a:prstGeom prst="rect">
            <a:avLst/>
          </a:prstGeom>
          <a:noFill/>
          <a:ln/>
        </p:spPr>
        <p:txBody>
          <a:bodyPr wrap="square" lIns="0" tIns="0" rIns="0" bIns="0" rtlCol="0" anchor="ctr"/>
          <a:lstStyle/>
          <a:p>
            <a:pPr marL="0" indent="0">
              <a:lnSpc>
                <a:spcPct val="115000"/>
              </a:lnSpc>
              <a:buNone/>
            </a:pPr>
            <a:r>
              <a:rPr lang="en-US" sz="1800" i="1" dirty="0">
                <a:solidFill>
                  <a:srgbClr val="FFF6EC"/>
                </a:solidFill>
                <a:latin typeface="Cambria" pitchFamily="34" charset="0"/>
                <a:ea typeface="Cambria" pitchFamily="34" charset="-122"/>
                <a:cs typeface="Cambria" pitchFamily="34" charset="-120"/>
              </a:rPr>
              <a:t>“My baby has had a high fever for three days and won’t feed.”</a:t>
            </a:r>
            <a:endParaRPr lang="en-US" sz="1800" dirty="0"/>
          </a:p>
        </p:txBody>
      </p:sp>
      <p:sp>
        <p:nvSpPr>
          <p:cNvPr id="15" name="Shape 13"/>
          <p:cNvSpPr/>
          <p:nvPr/>
        </p:nvSpPr>
        <p:spPr>
          <a:xfrm>
            <a:off x="3977640" y="3749040"/>
            <a:ext cx="7132320" cy="0"/>
          </a:xfrm>
          <a:prstGeom prst="line">
            <a:avLst/>
          </a:prstGeom>
          <a:noFill/>
          <a:ln w="12700">
            <a:solidFill>
              <a:srgbClr val="4A392E"/>
            </a:solidFill>
            <a:prstDash val="solid"/>
          </a:ln>
        </p:spPr>
      </p:sp>
      <p:sp>
        <p:nvSpPr>
          <p:cNvPr id="16" name="Text 14"/>
          <p:cNvSpPr/>
          <p:nvPr/>
        </p:nvSpPr>
        <p:spPr>
          <a:xfrm>
            <a:off x="3977640" y="3867912"/>
            <a:ext cx="3383280" cy="219456"/>
          </a:xfrm>
          <a:prstGeom prst="rect">
            <a:avLst/>
          </a:prstGeom>
          <a:noFill/>
          <a:ln/>
        </p:spPr>
        <p:txBody>
          <a:bodyPr wrap="square" lIns="0" tIns="0" rIns="0" bIns="0" rtlCol="0" anchor="ctr"/>
          <a:lstStyle/>
          <a:p>
            <a:pPr marL="0" indent="0">
              <a:buNone/>
            </a:pPr>
            <a:r>
              <a:rPr lang="en-US" sz="900" b="1" kern="0" spc="100" dirty="0">
                <a:solidFill>
                  <a:srgbClr val="8A7364"/>
                </a:solidFill>
                <a:latin typeface="Calibri" pitchFamily="34" charset="0"/>
                <a:ea typeface="Calibri" pitchFamily="34" charset="-122"/>
                <a:cs typeface="Calibri" pitchFamily="34" charset="-120"/>
              </a:rPr>
              <a:t>HEALTH NEED</a:t>
            </a:r>
            <a:endParaRPr lang="en-US" sz="900" dirty="0"/>
          </a:p>
        </p:txBody>
      </p:sp>
      <p:sp>
        <p:nvSpPr>
          <p:cNvPr id="17" name="Text 15"/>
          <p:cNvSpPr/>
          <p:nvPr/>
        </p:nvSpPr>
        <p:spPr>
          <a:xfrm>
            <a:off x="3977640" y="4087368"/>
            <a:ext cx="3383280" cy="457200"/>
          </a:xfrm>
          <a:prstGeom prst="rect">
            <a:avLst/>
          </a:prstGeom>
          <a:noFill/>
          <a:ln/>
        </p:spPr>
        <p:txBody>
          <a:bodyPr wrap="square" lIns="0" tIns="0" rIns="0" bIns="0" rtlCol="0" anchor="ctr"/>
          <a:lstStyle/>
          <a:p>
            <a:pPr marL="0" indent="0">
              <a:lnSpc>
                <a:spcPct val="110000"/>
              </a:lnSpc>
              <a:buNone/>
            </a:pPr>
            <a:r>
              <a:rPr lang="en-US" sz="1150" b="1" dirty="0">
                <a:solidFill>
                  <a:srgbClr val="FFFFFF"/>
                </a:solidFill>
                <a:latin typeface="Calibri" pitchFamily="34" charset="0"/>
                <a:ea typeface="Calibri" pitchFamily="34" charset="-122"/>
                <a:cs typeface="Calibri" pitchFamily="34" charset="-120"/>
              </a:rPr>
              <a:t>Sick child / childhood febrile illness</a:t>
            </a:r>
            <a:endParaRPr lang="en-US" sz="1150" dirty="0"/>
          </a:p>
        </p:txBody>
      </p:sp>
      <p:sp>
        <p:nvSpPr>
          <p:cNvPr id="18" name="Text 16"/>
          <p:cNvSpPr/>
          <p:nvPr/>
        </p:nvSpPr>
        <p:spPr>
          <a:xfrm>
            <a:off x="7543800" y="3867912"/>
            <a:ext cx="3383280" cy="219456"/>
          </a:xfrm>
          <a:prstGeom prst="rect">
            <a:avLst/>
          </a:prstGeom>
          <a:noFill/>
          <a:ln/>
        </p:spPr>
        <p:txBody>
          <a:bodyPr wrap="square" lIns="0" tIns="0" rIns="0" bIns="0" rtlCol="0" anchor="ctr"/>
          <a:lstStyle/>
          <a:p>
            <a:pPr marL="0" indent="0">
              <a:buNone/>
            </a:pPr>
            <a:r>
              <a:rPr lang="en-US" sz="900" b="1" kern="0" spc="100" dirty="0">
                <a:solidFill>
                  <a:srgbClr val="8A7364"/>
                </a:solidFill>
                <a:latin typeface="Calibri" pitchFamily="34" charset="0"/>
                <a:ea typeface="Calibri" pitchFamily="34" charset="-122"/>
                <a:cs typeface="Calibri" pitchFamily="34" charset="-120"/>
              </a:rPr>
              <a:t>STANDARDIZED SERVICE</a:t>
            </a:r>
            <a:endParaRPr lang="en-US" sz="900" dirty="0"/>
          </a:p>
        </p:txBody>
      </p:sp>
      <p:sp>
        <p:nvSpPr>
          <p:cNvPr id="19" name="Text 17"/>
          <p:cNvSpPr/>
          <p:nvPr/>
        </p:nvSpPr>
        <p:spPr>
          <a:xfrm>
            <a:off x="7543800" y="4087368"/>
            <a:ext cx="3383280" cy="685800"/>
          </a:xfrm>
          <a:prstGeom prst="rect">
            <a:avLst/>
          </a:prstGeom>
          <a:noFill/>
          <a:ln/>
        </p:spPr>
        <p:txBody>
          <a:bodyPr wrap="square" lIns="0" tIns="0" rIns="0" bIns="0" rtlCol="0" anchor="ctr"/>
          <a:lstStyle/>
          <a:p>
            <a:pPr marL="0" indent="0">
              <a:lnSpc>
                <a:spcPct val="110000"/>
              </a:lnSpc>
              <a:buNone/>
            </a:pPr>
            <a:r>
              <a:rPr lang="en-US" sz="1150" b="1" dirty="0">
                <a:solidFill>
                  <a:srgbClr val="E36F1E"/>
                </a:solidFill>
                <a:latin typeface="Calibri" pitchFamily="34" charset="0"/>
                <a:ea typeface="Calibri" pitchFamily="34" charset="-122"/>
                <a:cs typeface="Calibri" pitchFamily="34" charset="-120"/>
              </a:rPr>
              <a:t>Paediatric outpatient / child illness management</a:t>
            </a:r>
            <a:endParaRPr lang="en-US" sz="1150" dirty="0"/>
          </a:p>
        </p:txBody>
      </p:sp>
      <p:sp>
        <p:nvSpPr>
          <p:cNvPr id="20" name="Text 18"/>
          <p:cNvSpPr/>
          <p:nvPr/>
        </p:nvSpPr>
        <p:spPr>
          <a:xfrm>
            <a:off x="3977640" y="4663440"/>
            <a:ext cx="7132320" cy="548640"/>
          </a:xfrm>
          <a:prstGeom prst="rect">
            <a:avLst/>
          </a:prstGeom>
          <a:noFill/>
          <a:ln/>
        </p:spPr>
        <p:txBody>
          <a:bodyPr wrap="square" lIns="0" tIns="0" rIns="0" bIns="0" rtlCol="0" anchor="ctr"/>
          <a:lstStyle/>
          <a:p>
            <a:pPr marL="0" indent="0">
              <a:lnSpc>
                <a:spcPct val="110000"/>
              </a:lnSpc>
              <a:buNone/>
            </a:pPr>
            <a:r>
              <a:rPr lang="en-US" sz="900" i="1" dirty="0">
                <a:solidFill>
                  <a:srgbClr val="C9B7A8"/>
                </a:solidFill>
                <a:latin typeface="Calibri" pitchFamily="34" charset="0"/>
                <a:ea typeface="Calibri" pitchFamily="34" charset="-122"/>
                <a:cs typeface="Calibri" pitchFamily="34" charset="-120"/>
              </a:rPr>
              <a:t>The taxonomy entry also stores keyword variants (“baby fever,” “child won't eat,” “infant sick”) so the matching engine can recognize the same need even when a query never uses the word “paediatric” at all.</a:t>
            </a:r>
            <a:endParaRPr lang="en-US" sz="900" dirty="0"/>
          </a:p>
        </p:txBody>
      </p:sp>
      <p:sp>
        <p:nvSpPr>
          <p:cNvPr id="21" name="Text 19"/>
          <p:cNvSpPr/>
          <p:nvPr/>
        </p:nvSpPr>
        <p:spPr>
          <a:xfrm>
            <a:off x="548640" y="6492240"/>
            <a:ext cx="2743200" cy="256032"/>
          </a:xfrm>
          <a:prstGeom prst="rect">
            <a:avLst/>
          </a:prstGeom>
          <a:noFill/>
          <a:ln/>
        </p:spPr>
        <p:txBody>
          <a:bodyPr wrap="square" lIns="0" tIns="0" rIns="0" bIns="0" rtlCol="0" anchor="ctr"/>
          <a:lstStyle/>
          <a:p>
            <a:pPr marL="0" indent="0">
              <a:buNone/>
            </a:pPr>
            <a:r>
              <a:rPr lang="en-US" sz="850" dirty="0">
                <a:solidFill>
                  <a:srgbClr val="8A7364"/>
                </a:solidFill>
                <a:latin typeface="Calibri" pitchFamily="34" charset="0"/>
                <a:ea typeface="Calibri" pitchFamily="34" charset="-122"/>
                <a:cs typeface="Calibri" pitchFamily="34" charset="-120"/>
              </a:rPr>
              <a:t>AfyaGuide</a:t>
            </a:r>
            <a:endParaRPr lang="en-US" sz="850" dirty="0"/>
          </a:p>
        </p:txBody>
      </p:sp>
      <p:sp>
        <p:nvSpPr>
          <p:cNvPr id="22" name="Text 20"/>
          <p:cNvSpPr/>
          <p:nvPr/>
        </p:nvSpPr>
        <p:spPr>
          <a:xfrm>
            <a:off x="10728655" y="6492240"/>
            <a:ext cx="914400" cy="256032"/>
          </a:xfrm>
          <a:prstGeom prst="rect">
            <a:avLst/>
          </a:prstGeom>
          <a:noFill/>
          <a:ln/>
        </p:spPr>
        <p:txBody>
          <a:bodyPr wrap="square" lIns="0" tIns="0" rIns="0" bIns="0" rtlCol="0" anchor="ctr"/>
          <a:lstStyle/>
          <a:p>
            <a:pPr marL="0" indent="0" algn="r">
              <a:buNone/>
            </a:pPr>
            <a:r>
              <a:rPr lang="en-US" sz="850" dirty="0">
                <a:solidFill>
                  <a:srgbClr val="8A7364"/>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marL="0" indent="0">
              <a:buNone/>
            </a:pPr>
            <a:r>
              <a:rPr lang="en-US" sz="1100" b="1" kern="0" spc="200" dirty="0">
                <a:solidFill>
                  <a:srgbClr val="E36F1E"/>
                </a:solidFill>
                <a:latin typeface="Calibri" pitchFamily="34" charset="0"/>
                <a:ea typeface="Calibri" pitchFamily="34" charset="-122"/>
                <a:cs typeface="Calibri" pitchFamily="34" charset="-120"/>
              </a:rPr>
              <a:t>02 — DATA &amp; APPROACH</a:t>
            </a:r>
            <a:endParaRPr lang="en-US" sz="1100" dirty="0"/>
          </a:p>
        </p:txBody>
      </p:sp>
      <p:sp>
        <p:nvSpPr>
          <p:cNvPr id="3" name="Text 1"/>
          <p:cNvSpPr/>
          <p:nvPr/>
        </p:nvSpPr>
        <p:spPr>
          <a:xfrm>
            <a:off x="548640" y="512064"/>
            <a:ext cx="11094415" cy="457200"/>
          </a:xfrm>
          <a:prstGeom prst="rect">
            <a:avLst/>
          </a:prstGeom>
          <a:noFill/>
          <a:ln/>
        </p:spPr>
        <p:txBody>
          <a:bodyPr wrap="square" lIns="0" tIns="0" rIns="0" bIns="0" rtlCol="0" anchor="ctr"/>
          <a:lstStyle/>
          <a:p>
            <a:pPr marL="0" indent="0">
              <a:buNone/>
            </a:pPr>
            <a:r>
              <a:rPr lang="en-US" sz="2400" b="1" dirty="0">
                <a:solidFill>
                  <a:srgbClr val="241611"/>
                </a:solidFill>
                <a:latin typeface="Cambria" pitchFamily="34" charset="0"/>
                <a:ea typeface="Cambria" pitchFamily="34" charset="-122"/>
                <a:cs typeface="Cambria" pitchFamily="34" charset="-120"/>
              </a:rPr>
              <a:t>Query Matching &amp; Weighted Scoring</a:t>
            </a:r>
            <a:endParaRPr lang="en-US" sz="2400" dirty="0"/>
          </a:p>
        </p:txBody>
      </p:sp>
      <p:sp>
        <p:nvSpPr>
          <p:cNvPr id="4" name="Text 2"/>
          <p:cNvSpPr/>
          <p:nvPr/>
        </p:nvSpPr>
        <p:spPr>
          <a:xfrm>
            <a:off x="548640" y="987552"/>
            <a:ext cx="11094415" cy="566928"/>
          </a:xfrm>
          <a:prstGeom prst="rect">
            <a:avLst/>
          </a:prstGeom>
          <a:noFill/>
          <a:ln/>
        </p:spPr>
        <p:txBody>
          <a:bodyPr wrap="square" lIns="0" tIns="0" rIns="0" bIns="0" rtlCol="0" anchor="ctr"/>
          <a:lstStyle/>
          <a:p>
            <a:pPr marL="0" indent="0">
              <a:lnSpc>
                <a:spcPct val="112000"/>
              </a:lnSpc>
              <a:buNone/>
            </a:pPr>
            <a:r>
              <a:rPr lang="en-US" sz="1100" dirty="0">
                <a:solidFill>
                  <a:srgbClr val="4A3B31"/>
                </a:solidFill>
                <a:latin typeface="Calibri" pitchFamily="34" charset="0"/>
                <a:ea typeface="Calibri" pitchFamily="34" charset="-122"/>
                <a:cs typeface="Calibri" pitchFamily="34" charset="-120"/>
              </a:rPr>
              <a:t>Once a query is matched to a taxonomy entry, the engine must still decide which of the many facilities offering that service is actually the best recommendation. That happens in two stages: matching the query to a need, then scoring every candidate facility on three weighted features.</a:t>
            </a:r>
            <a:endParaRPr lang="en-US" sz="1100" dirty="0"/>
          </a:p>
        </p:txBody>
      </p:sp>
      <p:sp>
        <p:nvSpPr>
          <p:cNvPr id="5" name="Shape 3"/>
          <p:cNvSpPr/>
          <p:nvPr/>
        </p:nvSpPr>
        <p:spPr>
          <a:xfrm>
            <a:off x="548640" y="1737360"/>
            <a:ext cx="3520440" cy="1371600"/>
          </a:xfrm>
          <a:prstGeom prst="roundRect">
            <a:avLst>
              <a:gd name="adj" fmla="val 4667"/>
            </a:avLst>
          </a:prstGeom>
          <a:solidFill>
            <a:srgbClr val="FBE8D6"/>
          </a:solidFill>
          <a:ln/>
        </p:spPr>
      </p:sp>
      <p:sp>
        <p:nvSpPr>
          <p:cNvPr id="6" name="Text 4"/>
          <p:cNvSpPr/>
          <p:nvPr/>
        </p:nvSpPr>
        <p:spPr>
          <a:xfrm>
            <a:off x="676656" y="1828800"/>
            <a:ext cx="411480" cy="32004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7" name="Text 5"/>
          <p:cNvSpPr/>
          <p:nvPr/>
        </p:nvSpPr>
        <p:spPr>
          <a:xfrm>
            <a:off x="1097280" y="1828800"/>
            <a:ext cx="2834640" cy="320040"/>
          </a:xfrm>
          <a:prstGeom prst="rect">
            <a:avLst/>
          </a:prstGeom>
          <a:noFill/>
          <a:ln/>
        </p:spPr>
        <p:txBody>
          <a:bodyPr wrap="square" lIns="0" tIns="0" rIns="0" bIns="0" rtlCol="0" anchor="ctr"/>
          <a:lstStyle/>
          <a:p>
            <a:pPr marL="0" indent="0">
              <a:buNone/>
            </a:pPr>
            <a:r>
              <a:rPr lang="en-US" sz="1050" b="1" dirty="0">
                <a:solidFill>
                  <a:srgbClr val="B4550F"/>
                </a:solidFill>
                <a:latin typeface="Calibri" pitchFamily="34" charset="0"/>
                <a:ea typeface="Calibri" pitchFamily="34" charset="-122"/>
                <a:cs typeface="Calibri" pitchFamily="34" charset="-120"/>
              </a:rPr>
              <a:t>Fuzzy Matching</a:t>
            </a:r>
            <a:endParaRPr lang="en-US" sz="1050" dirty="0"/>
          </a:p>
        </p:txBody>
      </p:sp>
      <p:sp>
        <p:nvSpPr>
          <p:cNvPr id="8" name="Text 6"/>
          <p:cNvSpPr/>
          <p:nvPr/>
        </p:nvSpPr>
        <p:spPr>
          <a:xfrm>
            <a:off x="676656" y="2194560"/>
            <a:ext cx="3264408" cy="868680"/>
          </a:xfrm>
          <a:prstGeom prst="rect">
            <a:avLst/>
          </a:prstGeom>
          <a:noFill/>
          <a:ln/>
        </p:spPr>
        <p:txBody>
          <a:bodyPr wrap="square" lIns="0" tIns="0" rIns="0" bIns="0" rtlCol="0" anchor="ctr"/>
          <a:lstStyle/>
          <a:p>
            <a:pPr marL="0" indent="0">
              <a:lnSpc>
                <a:spcPct val="112000"/>
              </a:lnSpc>
              <a:buNone/>
            </a:pPr>
            <a:r>
              <a:rPr lang="en-US" sz="860" dirty="0">
                <a:solidFill>
                  <a:srgbClr val="5C4A3D"/>
                </a:solidFill>
                <a:latin typeface="Calibri" pitchFamily="34" charset="0"/>
                <a:ea typeface="Calibri" pitchFamily="34" charset="-122"/>
                <a:cs typeface="Calibri" pitchFamily="34" charset="-120"/>
              </a:rPr>
              <a:t>Uses rapidfuzz token-set comparison to catch spelling variants, typos, and reordered wording, so close-but-imperfect phrasing still resolves to the right need.</a:t>
            </a:r>
            <a:endParaRPr lang="en-US" sz="860" dirty="0"/>
          </a:p>
        </p:txBody>
      </p:sp>
      <p:sp>
        <p:nvSpPr>
          <p:cNvPr id="9" name="Shape 7"/>
          <p:cNvSpPr/>
          <p:nvPr/>
        </p:nvSpPr>
        <p:spPr>
          <a:xfrm>
            <a:off x="4178808" y="1737360"/>
            <a:ext cx="3520440" cy="1371600"/>
          </a:xfrm>
          <a:prstGeom prst="roundRect">
            <a:avLst>
              <a:gd name="adj" fmla="val 4667"/>
            </a:avLst>
          </a:prstGeom>
          <a:solidFill>
            <a:srgbClr val="FBE8D6"/>
          </a:solidFill>
          <a:ln/>
        </p:spPr>
      </p:sp>
      <p:sp>
        <p:nvSpPr>
          <p:cNvPr id="10" name="Text 8"/>
          <p:cNvSpPr/>
          <p:nvPr/>
        </p:nvSpPr>
        <p:spPr>
          <a:xfrm>
            <a:off x="4306824" y="1828800"/>
            <a:ext cx="411480" cy="32004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11" name="Text 9"/>
          <p:cNvSpPr/>
          <p:nvPr/>
        </p:nvSpPr>
        <p:spPr>
          <a:xfrm>
            <a:off x="4727448" y="1828800"/>
            <a:ext cx="2834640" cy="320040"/>
          </a:xfrm>
          <a:prstGeom prst="rect">
            <a:avLst/>
          </a:prstGeom>
          <a:noFill/>
          <a:ln/>
        </p:spPr>
        <p:txBody>
          <a:bodyPr wrap="square" lIns="0" tIns="0" rIns="0" bIns="0" rtlCol="0" anchor="ctr"/>
          <a:lstStyle/>
          <a:p>
            <a:pPr marL="0" indent="0">
              <a:buNone/>
            </a:pPr>
            <a:r>
              <a:rPr lang="en-US" sz="1050" b="1" dirty="0">
                <a:solidFill>
                  <a:srgbClr val="B4550F"/>
                </a:solidFill>
                <a:latin typeface="Calibri" pitchFamily="34" charset="0"/>
                <a:ea typeface="Calibri" pitchFamily="34" charset="-122"/>
                <a:cs typeface="Calibri" pitchFamily="34" charset="-120"/>
              </a:rPr>
              <a:t>TF-IDF + Cosine Similarity</a:t>
            </a:r>
            <a:endParaRPr lang="en-US" sz="1050" dirty="0"/>
          </a:p>
        </p:txBody>
      </p:sp>
      <p:sp>
        <p:nvSpPr>
          <p:cNvPr id="12" name="Text 10"/>
          <p:cNvSpPr/>
          <p:nvPr/>
        </p:nvSpPr>
        <p:spPr>
          <a:xfrm>
            <a:off x="4306824" y="2194560"/>
            <a:ext cx="3264408" cy="868680"/>
          </a:xfrm>
          <a:prstGeom prst="rect">
            <a:avLst/>
          </a:prstGeom>
          <a:noFill/>
          <a:ln/>
        </p:spPr>
        <p:txBody>
          <a:bodyPr wrap="square" lIns="0" tIns="0" rIns="0" bIns="0" rtlCol="0" anchor="ctr"/>
          <a:lstStyle/>
          <a:p>
            <a:pPr marL="0" indent="0">
              <a:lnSpc>
                <a:spcPct val="112000"/>
              </a:lnSpc>
              <a:buNone/>
            </a:pPr>
            <a:r>
              <a:rPr lang="en-US" sz="860" dirty="0">
                <a:solidFill>
                  <a:srgbClr val="5C4A3D"/>
                </a:solidFill>
                <a:latin typeface="Calibri" pitchFamily="34" charset="0"/>
                <a:ea typeface="Calibri" pitchFamily="34" charset="-122"/>
                <a:cs typeface="Calibri" pitchFamily="34" charset="-120"/>
              </a:rPr>
              <a:t>Weighs distinctive clinical terms more heavily than common words, so “chest feels tight” can still resolve toward “chest pain” even without an exact keyword match.</a:t>
            </a:r>
            <a:endParaRPr lang="en-US" sz="860" dirty="0"/>
          </a:p>
        </p:txBody>
      </p:sp>
      <p:sp>
        <p:nvSpPr>
          <p:cNvPr id="13" name="Shape 11"/>
          <p:cNvSpPr/>
          <p:nvPr/>
        </p:nvSpPr>
        <p:spPr>
          <a:xfrm>
            <a:off x="7808976" y="1737360"/>
            <a:ext cx="3520440" cy="1371600"/>
          </a:xfrm>
          <a:prstGeom prst="roundRect">
            <a:avLst>
              <a:gd name="adj" fmla="val 4667"/>
            </a:avLst>
          </a:prstGeom>
          <a:solidFill>
            <a:srgbClr val="FBE8D6"/>
          </a:solidFill>
          <a:ln/>
        </p:spPr>
      </p:sp>
      <p:sp>
        <p:nvSpPr>
          <p:cNvPr id="14" name="Text 12"/>
          <p:cNvSpPr/>
          <p:nvPr/>
        </p:nvSpPr>
        <p:spPr>
          <a:xfrm>
            <a:off x="7936992" y="1828800"/>
            <a:ext cx="411480" cy="320040"/>
          </a:xfrm>
          <a:prstGeom prst="rect">
            <a:avLst/>
          </a:prstGeom>
          <a:noFill/>
          <a:ln/>
        </p:spPr>
        <p:txBody>
          <a:bodyPr wrap="square" lIns="0" tIns="0" rIns="0" bIns="0" rtlCol="0" anchor="ctr"/>
          <a:lstStyle/>
          <a:p>
            <a:pPr marL="0" indent="0">
              <a:buNone/>
            </a:pPr>
            <a:r>
              <a:rPr lang="en-US" sz="1500" dirty="0">
                <a:solidFill>
                  <a:srgbClr val="000000"/>
                </a:solidFill>
              </a:rPr>
              <a:t>🚨</a:t>
            </a:r>
            <a:endParaRPr lang="en-US" sz="1500" dirty="0"/>
          </a:p>
        </p:txBody>
      </p:sp>
      <p:sp>
        <p:nvSpPr>
          <p:cNvPr id="15" name="Text 13"/>
          <p:cNvSpPr/>
          <p:nvPr/>
        </p:nvSpPr>
        <p:spPr>
          <a:xfrm>
            <a:off x="8357616" y="1828800"/>
            <a:ext cx="2834640" cy="320040"/>
          </a:xfrm>
          <a:prstGeom prst="rect">
            <a:avLst/>
          </a:prstGeom>
          <a:noFill/>
          <a:ln/>
        </p:spPr>
        <p:txBody>
          <a:bodyPr wrap="square" lIns="0" tIns="0" rIns="0" bIns="0" rtlCol="0" anchor="ctr"/>
          <a:lstStyle/>
          <a:p>
            <a:pPr marL="0" indent="0">
              <a:buNone/>
            </a:pPr>
            <a:r>
              <a:rPr lang="en-US" sz="1050" b="1" dirty="0">
                <a:solidFill>
                  <a:srgbClr val="B4550F"/>
                </a:solidFill>
                <a:latin typeface="Calibri" pitchFamily="34" charset="0"/>
                <a:ea typeface="Calibri" pitchFamily="34" charset="-122"/>
                <a:cs typeface="Calibri" pitchFamily="34" charset="-120"/>
              </a:rPr>
              <a:t>Clinical Signal Boost</a:t>
            </a:r>
            <a:endParaRPr lang="en-US" sz="1050" dirty="0"/>
          </a:p>
        </p:txBody>
      </p:sp>
      <p:sp>
        <p:nvSpPr>
          <p:cNvPr id="16" name="Text 14"/>
          <p:cNvSpPr/>
          <p:nvPr/>
        </p:nvSpPr>
        <p:spPr>
          <a:xfrm>
            <a:off x="7936992" y="2194560"/>
            <a:ext cx="3264408" cy="868680"/>
          </a:xfrm>
          <a:prstGeom prst="rect">
            <a:avLst/>
          </a:prstGeom>
          <a:noFill/>
          <a:ln/>
        </p:spPr>
        <p:txBody>
          <a:bodyPr wrap="square" lIns="0" tIns="0" rIns="0" bIns="0" rtlCol="0" anchor="ctr"/>
          <a:lstStyle/>
          <a:p>
            <a:pPr marL="0" indent="0">
              <a:lnSpc>
                <a:spcPct val="112000"/>
              </a:lnSpc>
              <a:buNone/>
            </a:pPr>
            <a:r>
              <a:rPr lang="en-US" sz="860" dirty="0">
                <a:solidFill>
                  <a:srgbClr val="5C4A3D"/>
                </a:solidFill>
                <a:latin typeface="Calibri" pitchFamily="34" charset="0"/>
                <a:ea typeface="Calibri" pitchFamily="34" charset="-122"/>
                <a:cs typeface="Calibri" pitchFamily="34" charset="-120"/>
              </a:rPr>
              <a:t>A keyword check for urgent terms — “chest pain,” “HIV,” “bleeding” — nudges genuinely urgent needs upward so they aren't buried by generic phrasing.</a:t>
            </a:r>
            <a:endParaRPr lang="en-US" sz="860" dirty="0"/>
          </a:p>
        </p:txBody>
      </p:sp>
      <p:sp>
        <p:nvSpPr>
          <p:cNvPr id="17" name="Shape 15"/>
          <p:cNvSpPr/>
          <p:nvPr/>
        </p:nvSpPr>
        <p:spPr>
          <a:xfrm>
            <a:off x="548640" y="3200400"/>
            <a:ext cx="10780776" cy="548640"/>
          </a:xfrm>
          <a:prstGeom prst="roundRect">
            <a:avLst>
              <a:gd name="adj" fmla="val 11667"/>
            </a:avLst>
          </a:prstGeom>
          <a:solidFill>
            <a:srgbClr val="B4550F"/>
          </a:solidFill>
          <a:ln/>
        </p:spPr>
      </p:sp>
      <p:sp>
        <p:nvSpPr>
          <p:cNvPr id="18" name="Text 16"/>
          <p:cNvSpPr/>
          <p:nvPr/>
        </p:nvSpPr>
        <p:spPr>
          <a:xfrm>
            <a:off x="749808" y="3200400"/>
            <a:ext cx="10378440" cy="54864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Hybrid Method (production default) — combines all three signals into one match score, with an optional semantic-embeddings upgrade path once infrastructure allows.</a:t>
            </a:r>
            <a:endParaRPr lang="en-US" sz="1000" dirty="0"/>
          </a:p>
        </p:txBody>
      </p:sp>
      <p:sp>
        <p:nvSpPr>
          <p:cNvPr id="19" name="Text 17"/>
          <p:cNvSpPr/>
          <p:nvPr/>
        </p:nvSpPr>
        <p:spPr>
          <a:xfrm>
            <a:off x="548640" y="3913632"/>
            <a:ext cx="7315200" cy="256032"/>
          </a:xfrm>
          <a:prstGeom prst="rect">
            <a:avLst/>
          </a:prstGeom>
          <a:noFill/>
          <a:ln/>
        </p:spPr>
        <p:txBody>
          <a:bodyPr wrap="square" lIns="0" tIns="0" rIns="0" bIns="0" rtlCol="0" anchor="ctr"/>
          <a:lstStyle/>
          <a:p>
            <a:pPr marL="0" indent="0">
              <a:buNone/>
            </a:pPr>
            <a:r>
              <a:rPr lang="en-US" sz="1150" b="1" dirty="0">
                <a:solidFill>
                  <a:srgbClr val="241611"/>
                </a:solidFill>
                <a:latin typeface="Calibri" pitchFamily="34" charset="0"/>
                <a:ea typeface="Calibri" pitchFamily="34" charset="-122"/>
                <a:cs typeface="Calibri" pitchFamily="34" charset="-120"/>
              </a:rPr>
              <a:t>Feature Engineering &amp; Weighted Scoring</a:t>
            </a:r>
            <a:endParaRPr lang="en-US" sz="1150" dirty="0"/>
          </a:p>
        </p:txBody>
      </p:sp>
      <p:sp>
        <p:nvSpPr>
          <p:cNvPr id="20" name="Text 18"/>
          <p:cNvSpPr/>
          <p:nvPr/>
        </p:nvSpPr>
        <p:spPr>
          <a:xfrm>
            <a:off x="548640" y="4169664"/>
            <a:ext cx="10881360" cy="256032"/>
          </a:xfrm>
          <a:prstGeom prst="rect">
            <a:avLst/>
          </a:prstGeom>
          <a:noFill/>
          <a:ln/>
        </p:spPr>
        <p:txBody>
          <a:bodyPr wrap="square" lIns="0" tIns="0" rIns="0" bIns="0" rtlCol="0" anchor="ctr"/>
          <a:lstStyle/>
          <a:p>
            <a:pPr marL="0" indent="0">
              <a:buNone/>
            </a:pPr>
            <a:r>
              <a:rPr lang="en-US" sz="930" dirty="0">
                <a:solidFill>
                  <a:srgbClr val="5C4A3D"/>
                </a:solidFill>
                <a:latin typeface="Calibri" pitchFamily="34" charset="0"/>
                <a:ea typeface="Calibri" pitchFamily="34" charset="-122"/>
                <a:cs typeface="Calibri" pitchFamily="34" charset="-120"/>
              </a:rPr>
              <a:t>Every facility offering the matched service is then scored on three features, combined into one Facility Score used to rank results:</a:t>
            </a:r>
            <a:endParaRPr lang="en-US" sz="930" dirty="0"/>
          </a:p>
        </p:txBody>
      </p:sp>
      <p:sp>
        <p:nvSpPr>
          <p:cNvPr id="21" name="Shape 19"/>
          <p:cNvSpPr/>
          <p:nvPr/>
        </p:nvSpPr>
        <p:spPr>
          <a:xfrm>
            <a:off x="548640" y="4517136"/>
            <a:ext cx="3520440" cy="1051560"/>
          </a:xfrm>
          <a:prstGeom prst="roundRect">
            <a:avLst>
              <a:gd name="adj" fmla="val 6087"/>
            </a:avLst>
          </a:prstGeom>
          <a:solidFill>
            <a:srgbClr val="FDF3E9"/>
          </a:solidFill>
          <a:ln w="9525">
            <a:solidFill>
              <a:srgbClr val="E9D9C8"/>
            </a:solidFill>
            <a:prstDash val="solid"/>
          </a:ln>
        </p:spPr>
      </p:sp>
      <p:sp>
        <p:nvSpPr>
          <p:cNvPr id="22" name="Text 20"/>
          <p:cNvSpPr/>
          <p:nvPr/>
        </p:nvSpPr>
        <p:spPr>
          <a:xfrm>
            <a:off x="676656" y="4608576"/>
            <a:ext cx="3264408" cy="292608"/>
          </a:xfrm>
          <a:prstGeom prst="rect">
            <a:avLst/>
          </a:prstGeom>
          <a:noFill/>
          <a:ln/>
        </p:spPr>
        <p:txBody>
          <a:bodyPr wrap="square" lIns="0" tIns="0" rIns="0" bIns="0" rtlCol="0" anchor="ctr"/>
          <a:lstStyle/>
          <a:p>
            <a:pPr marL="0" indent="0">
              <a:buNone/>
            </a:pPr>
            <a:r>
              <a:rPr lang="en-US" sz="1000" b="1" dirty="0">
                <a:solidFill>
                  <a:srgbClr val="241611"/>
                </a:solidFill>
                <a:latin typeface="Calibri" pitchFamily="34" charset="0"/>
                <a:ea typeface="Calibri" pitchFamily="34" charset="-122"/>
                <a:cs typeface="Calibri" pitchFamily="34" charset="-120"/>
              </a:rPr>
              <a:t>✓  Service Match — 50%</a:t>
            </a:r>
            <a:endParaRPr lang="en-US" sz="1000" dirty="0"/>
          </a:p>
        </p:txBody>
      </p:sp>
      <p:sp>
        <p:nvSpPr>
          <p:cNvPr id="23" name="Text 21"/>
          <p:cNvSpPr/>
          <p:nvPr/>
        </p:nvSpPr>
        <p:spPr>
          <a:xfrm>
            <a:off x="676656" y="4919472"/>
            <a:ext cx="3264408" cy="594360"/>
          </a:xfrm>
          <a:prstGeom prst="rect">
            <a:avLst/>
          </a:prstGeom>
          <a:noFill/>
          <a:ln/>
        </p:spPr>
        <p:txBody>
          <a:bodyPr wrap="square" lIns="0" tIns="0" rIns="0" bIns="0" rtlCol="0" anchor="ctr"/>
          <a:lstStyle/>
          <a:p>
            <a:pPr marL="0" indent="0">
              <a:lnSpc>
                <a:spcPct val="112000"/>
              </a:lnSpc>
              <a:buNone/>
            </a:pPr>
            <a:r>
              <a:rPr lang="en-US" sz="860" dirty="0">
                <a:solidFill>
                  <a:srgbClr val="5C4A3D"/>
                </a:solidFill>
                <a:latin typeface="Calibri" pitchFamily="34" charset="0"/>
                <a:ea typeface="Calibri" pitchFamily="34" charset="-122"/>
                <a:cs typeface="Calibri" pitchFamily="34" charset="-120"/>
              </a:rPr>
              <a:t>How closely the facility's recorded service matches the taxonomy-mapped need — the single largest factor in ranking.</a:t>
            </a:r>
            <a:endParaRPr lang="en-US" sz="860" dirty="0"/>
          </a:p>
        </p:txBody>
      </p:sp>
      <p:sp>
        <p:nvSpPr>
          <p:cNvPr id="24" name="Shape 22"/>
          <p:cNvSpPr/>
          <p:nvPr/>
        </p:nvSpPr>
        <p:spPr>
          <a:xfrm>
            <a:off x="4178808" y="4517136"/>
            <a:ext cx="3520440" cy="1051560"/>
          </a:xfrm>
          <a:prstGeom prst="roundRect">
            <a:avLst>
              <a:gd name="adj" fmla="val 6087"/>
            </a:avLst>
          </a:prstGeom>
          <a:solidFill>
            <a:srgbClr val="FDF3E9"/>
          </a:solidFill>
          <a:ln w="9525">
            <a:solidFill>
              <a:srgbClr val="E9D9C8"/>
            </a:solidFill>
            <a:prstDash val="solid"/>
          </a:ln>
        </p:spPr>
      </p:sp>
      <p:sp>
        <p:nvSpPr>
          <p:cNvPr id="25" name="Text 23"/>
          <p:cNvSpPr/>
          <p:nvPr/>
        </p:nvSpPr>
        <p:spPr>
          <a:xfrm>
            <a:off x="4306824" y="4608576"/>
            <a:ext cx="3264408" cy="292608"/>
          </a:xfrm>
          <a:prstGeom prst="rect">
            <a:avLst/>
          </a:prstGeom>
          <a:noFill/>
          <a:ln/>
        </p:spPr>
        <p:txBody>
          <a:bodyPr wrap="square" lIns="0" tIns="0" rIns="0" bIns="0" rtlCol="0" anchor="ctr"/>
          <a:lstStyle/>
          <a:p>
            <a:pPr marL="0" indent="0">
              <a:buNone/>
            </a:pPr>
            <a:r>
              <a:rPr lang="en-US" sz="1000" b="1" dirty="0">
                <a:solidFill>
                  <a:srgbClr val="241611"/>
                </a:solidFill>
                <a:latin typeface="Calibri" pitchFamily="34" charset="0"/>
                <a:ea typeface="Calibri" pitchFamily="34" charset="-122"/>
                <a:cs typeface="Calibri" pitchFamily="34" charset="-120"/>
              </a:rPr>
              <a:t>⚖  Facility Level — 20%</a:t>
            </a:r>
            <a:endParaRPr lang="en-US" sz="1000" dirty="0"/>
          </a:p>
        </p:txBody>
      </p:sp>
      <p:sp>
        <p:nvSpPr>
          <p:cNvPr id="26" name="Text 24"/>
          <p:cNvSpPr/>
          <p:nvPr/>
        </p:nvSpPr>
        <p:spPr>
          <a:xfrm>
            <a:off x="4306824" y="4919472"/>
            <a:ext cx="3264408" cy="594360"/>
          </a:xfrm>
          <a:prstGeom prst="rect">
            <a:avLst/>
          </a:prstGeom>
          <a:noFill/>
          <a:ln/>
        </p:spPr>
        <p:txBody>
          <a:bodyPr wrap="square" lIns="0" tIns="0" rIns="0" bIns="0" rtlCol="0" anchor="ctr"/>
          <a:lstStyle/>
          <a:p>
            <a:pPr marL="0" indent="0">
              <a:lnSpc>
                <a:spcPct val="112000"/>
              </a:lnSpc>
              <a:buNone/>
            </a:pPr>
            <a:r>
              <a:rPr lang="en-US" sz="860" dirty="0">
                <a:solidFill>
                  <a:srgbClr val="5C4A3D"/>
                </a:solidFill>
                <a:latin typeface="Calibri" pitchFamily="34" charset="0"/>
                <a:ea typeface="Calibri" pitchFamily="34" charset="-122"/>
                <a:cs typeface="Calibri" pitchFamily="34" charset="-120"/>
              </a:rPr>
              <a:t>Rewards facilities that meet or exceed the KEPH level the need requires, without over-penalizing appropriate lower-level care.</a:t>
            </a:r>
            <a:endParaRPr lang="en-US" sz="860" dirty="0"/>
          </a:p>
        </p:txBody>
      </p:sp>
      <p:sp>
        <p:nvSpPr>
          <p:cNvPr id="27" name="Shape 25"/>
          <p:cNvSpPr/>
          <p:nvPr/>
        </p:nvSpPr>
        <p:spPr>
          <a:xfrm>
            <a:off x="7808976" y="4517136"/>
            <a:ext cx="3520440" cy="1051560"/>
          </a:xfrm>
          <a:prstGeom prst="roundRect">
            <a:avLst>
              <a:gd name="adj" fmla="val 6087"/>
            </a:avLst>
          </a:prstGeom>
          <a:solidFill>
            <a:srgbClr val="FDF3E9"/>
          </a:solidFill>
          <a:ln w="9525">
            <a:solidFill>
              <a:srgbClr val="E9D9C8"/>
            </a:solidFill>
            <a:prstDash val="solid"/>
          </a:ln>
        </p:spPr>
      </p:sp>
      <p:sp>
        <p:nvSpPr>
          <p:cNvPr id="28" name="Text 26"/>
          <p:cNvSpPr/>
          <p:nvPr/>
        </p:nvSpPr>
        <p:spPr>
          <a:xfrm>
            <a:off x="7936992" y="4608576"/>
            <a:ext cx="3264408" cy="292608"/>
          </a:xfrm>
          <a:prstGeom prst="rect">
            <a:avLst/>
          </a:prstGeom>
          <a:noFill/>
          <a:ln/>
        </p:spPr>
        <p:txBody>
          <a:bodyPr wrap="square" lIns="0" tIns="0" rIns="0" bIns="0" rtlCol="0" anchor="ctr"/>
          <a:lstStyle/>
          <a:p>
            <a:pPr marL="0" indent="0">
              <a:buNone/>
            </a:pPr>
            <a:r>
              <a:rPr lang="en-US" sz="1000" b="1" dirty="0">
                <a:solidFill>
                  <a:srgbClr val="241611"/>
                </a:solidFill>
                <a:latin typeface="Calibri" pitchFamily="34" charset="0"/>
                <a:ea typeface="Calibri" pitchFamily="34" charset="-122"/>
                <a:cs typeface="Calibri" pitchFamily="34" charset="-120"/>
              </a:rPr>
              <a:t>📍  Distance — 30%</a:t>
            </a:r>
            <a:endParaRPr lang="en-US" sz="1000" dirty="0"/>
          </a:p>
        </p:txBody>
      </p:sp>
      <p:sp>
        <p:nvSpPr>
          <p:cNvPr id="29" name="Text 27"/>
          <p:cNvSpPr/>
          <p:nvPr/>
        </p:nvSpPr>
        <p:spPr>
          <a:xfrm>
            <a:off x="7936992" y="4919472"/>
            <a:ext cx="3264408" cy="594360"/>
          </a:xfrm>
          <a:prstGeom prst="rect">
            <a:avLst/>
          </a:prstGeom>
          <a:noFill/>
          <a:ln/>
        </p:spPr>
        <p:txBody>
          <a:bodyPr wrap="square" lIns="0" tIns="0" rIns="0" bIns="0" rtlCol="0" anchor="ctr"/>
          <a:lstStyle/>
          <a:p>
            <a:pPr marL="0" indent="0">
              <a:lnSpc>
                <a:spcPct val="112000"/>
              </a:lnSpc>
              <a:buNone/>
            </a:pPr>
            <a:r>
              <a:rPr lang="en-US" sz="860" dirty="0">
                <a:solidFill>
                  <a:srgbClr val="5C4A3D"/>
                </a:solidFill>
                <a:latin typeface="Calibri" pitchFamily="34" charset="0"/>
                <a:ea typeface="Calibri" pitchFamily="34" charset="-122"/>
                <a:cs typeface="Calibri" pitchFamily="34" charset="-120"/>
              </a:rPr>
              <a:t>Haversine straight-line distance from the user's location, converted into a normalized 0–100 proximity score.</a:t>
            </a:r>
            <a:endParaRPr lang="en-US" sz="860" dirty="0"/>
          </a:p>
        </p:txBody>
      </p:sp>
      <p:sp>
        <p:nvSpPr>
          <p:cNvPr id="30" name="Text 28"/>
          <p:cNvSpPr/>
          <p:nvPr/>
        </p:nvSpPr>
        <p:spPr>
          <a:xfrm>
            <a:off x="548640" y="5669280"/>
            <a:ext cx="10780776" cy="274320"/>
          </a:xfrm>
          <a:prstGeom prst="rect">
            <a:avLst/>
          </a:prstGeom>
          <a:noFill/>
          <a:ln/>
        </p:spPr>
        <p:txBody>
          <a:bodyPr wrap="square" lIns="0" tIns="0" rIns="0" bIns="0" rtlCol="0" anchor="ctr"/>
          <a:lstStyle/>
          <a:p>
            <a:pPr marL="0" indent="0">
              <a:buNone/>
            </a:pPr>
            <a:r>
              <a:rPr lang="en-US" sz="1050" b="1" i="1" dirty="0">
                <a:solidFill>
                  <a:srgbClr val="B4550F"/>
                </a:solidFill>
                <a:latin typeface="Calibri" pitchFamily="34" charset="0"/>
                <a:ea typeface="Calibri" pitchFamily="34" charset="-122"/>
                <a:cs typeface="Calibri" pitchFamily="34" charset="-120"/>
              </a:rPr>
              <a:t>Facility Score = 0.50 × Service Match + 0.20 × Facility Level + 0.30 × Distance</a:t>
            </a:r>
            <a:endParaRPr lang="en-US" sz="1050" dirty="0"/>
          </a:p>
        </p:txBody>
      </p:sp>
      <p:sp>
        <p:nvSpPr>
          <p:cNvPr id="31" name="Text 29"/>
          <p:cNvSpPr/>
          <p:nvPr/>
        </p:nvSpPr>
        <p:spPr>
          <a:xfrm>
            <a:off x="548640" y="6492240"/>
            <a:ext cx="2743200" cy="256032"/>
          </a:xfrm>
          <a:prstGeom prst="rect">
            <a:avLst/>
          </a:prstGeom>
          <a:noFill/>
          <a:ln/>
        </p:spPr>
        <p:txBody>
          <a:bodyPr wrap="square" lIns="0" tIns="0" rIns="0" bIns="0" rtlCol="0" anchor="ctr"/>
          <a:lstStyle/>
          <a:p>
            <a:pPr marL="0" indent="0">
              <a:buNone/>
            </a:pPr>
            <a:r>
              <a:rPr lang="en-US" sz="850" dirty="0">
                <a:solidFill>
                  <a:srgbClr val="8A7364"/>
                </a:solidFill>
                <a:latin typeface="Calibri" pitchFamily="34" charset="0"/>
                <a:ea typeface="Calibri" pitchFamily="34" charset="-122"/>
                <a:cs typeface="Calibri" pitchFamily="34" charset="-120"/>
              </a:rPr>
              <a:t>AfyaGuide</a:t>
            </a:r>
            <a:endParaRPr lang="en-US" sz="850" dirty="0"/>
          </a:p>
        </p:txBody>
      </p:sp>
      <p:sp>
        <p:nvSpPr>
          <p:cNvPr id="32" name="Text 30"/>
          <p:cNvSpPr/>
          <p:nvPr/>
        </p:nvSpPr>
        <p:spPr>
          <a:xfrm>
            <a:off x="10728655" y="6492240"/>
            <a:ext cx="914400" cy="256032"/>
          </a:xfrm>
          <a:prstGeom prst="rect">
            <a:avLst/>
          </a:prstGeom>
          <a:noFill/>
          <a:ln/>
        </p:spPr>
        <p:txBody>
          <a:bodyPr wrap="square" lIns="0" tIns="0" rIns="0" bIns="0" rtlCol="0" anchor="ctr"/>
          <a:lstStyle/>
          <a:p>
            <a:pPr marL="0" indent="0" algn="r">
              <a:buNone/>
            </a:pPr>
            <a:r>
              <a:rPr lang="en-US" sz="850" dirty="0">
                <a:solidFill>
                  <a:srgbClr val="8A7364"/>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marL="0" indent="0">
              <a:buNone/>
            </a:pPr>
            <a:r>
              <a:rPr lang="en-US" sz="1100" b="1" kern="0" spc="200" dirty="0">
                <a:solidFill>
                  <a:srgbClr val="E36F1E"/>
                </a:solidFill>
                <a:latin typeface="Calibri" pitchFamily="34" charset="0"/>
                <a:ea typeface="Calibri" pitchFamily="34" charset="-122"/>
                <a:cs typeface="Calibri" pitchFamily="34" charset="-120"/>
              </a:rPr>
              <a:t>02 — DATA &amp; APPROACH</a:t>
            </a:r>
            <a:endParaRPr lang="en-US" sz="1100" dirty="0"/>
          </a:p>
        </p:txBody>
      </p:sp>
      <p:sp>
        <p:nvSpPr>
          <p:cNvPr id="3" name="Text 1"/>
          <p:cNvSpPr/>
          <p:nvPr/>
        </p:nvSpPr>
        <p:spPr>
          <a:xfrm>
            <a:off x="548640" y="512064"/>
            <a:ext cx="11094415" cy="457200"/>
          </a:xfrm>
          <a:prstGeom prst="rect">
            <a:avLst/>
          </a:prstGeom>
          <a:noFill/>
          <a:ln/>
        </p:spPr>
        <p:txBody>
          <a:bodyPr wrap="square" lIns="0" tIns="0" rIns="0" bIns="0" rtlCol="0" anchor="ctr"/>
          <a:lstStyle/>
          <a:p>
            <a:pPr marL="0" indent="0">
              <a:buNone/>
            </a:pPr>
            <a:r>
              <a:rPr lang="en-US" sz="2400" b="1" dirty="0">
                <a:solidFill>
                  <a:srgbClr val="241611"/>
                </a:solidFill>
                <a:latin typeface="Cambria" pitchFamily="34" charset="0"/>
                <a:ea typeface="Cambria" pitchFamily="34" charset="-122"/>
                <a:cs typeface="Cambria" pitchFamily="34" charset="-120"/>
              </a:rPr>
              <a:t>From Query to Explained Recommendation</a:t>
            </a:r>
            <a:endParaRPr lang="en-US" sz="2400" dirty="0"/>
          </a:p>
        </p:txBody>
      </p:sp>
      <p:sp>
        <p:nvSpPr>
          <p:cNvPr id="4" name="Text 2"/>
          <p:cNvSpPr/>
          <p:nvPr/>
        </p:nvSpPr>
        <p:spPr>
          <a:xfrm>
            <a:off x="548640" y="987552"/>
            <a:ext cx="11094415" cy="502920"/>
          </a:xfrm>
          <a:prstGeom prst="rect">
            <a:avLst/>
          </a:prstGeom>
          <a:noFill/>
          <a:ln/>
        </p:spPr>
        <p:txBody>
          <a:bodyPr wrap="square" lIns="0" tIns="0" rIns="0" bIns="0" rtlCol="0" anchor="ctr"/>
          <a:lstStyle/>
          <a:p>
            <a:pPr marL="0" indent="0">
              <a:lnSpc>
                <a:spcPct val="112000"/>
              </a:lnSpc>
              <a:buNone/>
            </a:pPr>
            <a:r>
              <a:rPr lang="en-US" sz="1100" dirty="0">
                <a:solidFill>
                  <a:srgbClr val="4A3B31"/>
                </a:solidFill>
                <a:latin typeface="Calibri" pitchFamily="34" charset="0"/>
                <a:ea typeface="Calibri" pitchFamily="34" charset="-122"/>
                <a:cs typeface="Calibri" pitchFamily="34" charset="-120"/>
              </a:rPr>
              <a:t>All of the previous stages — matching, retrieval, scoring — come together in one pipeline that is the single entry point the interactive interface calls, so the logic runs identically whether tested from a notebook or used live.</a:t>
            </a:r>
            <a:endParaRPr lang="en-US" sz="1100" dirty="0"/>
          </a:p>
        </p:txBody>
      </p:sp>
      <p:sp>
        <p:nvSpPr>
          <p:cNvPr id="5" name="Shape 3"/>
          <p:cNvSpPr/>
          <p:nvPr/>
        </p:nvSpPr>
        <p:spPr>
          <a:xfrm>
            <a:off x="548640" y="1737360"/>
            <a:ext cx="2103120" cy="731520"/>
          </a:xfrm>
          <a:prstGeom prst="roundRect">
            <a:avLst>
              <a:gd name="adj" fmla="val 8750"/>
            </a:avLst>
          </a:prstGeom>
          <a:solidFill>
            <a:srgbClr val="FDF3E9"/>
          </a:solidFill>
          <a:ln w="9525">
            <a:solidFill>
              <a:srgbClr val="E9D9C8"/>
            </a:solidFill>
            <a:prstDash val="solid"/>
          </a:ln>
        </p:spPr>
      </p:sp>
      <p:sp>
        <p:nvSpPr>
          <p:cNvPr id="6" name="Text 4"/>
          <p:cNvSpPr/>
          <p:nvPr/>
        </p:nvSpPr>
        <p:spPr>
          <a:xfrm>
            <a:off x="640080" y="1737360"/>
            <a:ext cx="1920240" cy="731520"/>
          </a:xfrm>
          <a:prstGeom prst="rect">
            <a:avLst/>
          </a:prstGeom>
          <a:noFill/>
          <a:ln/>
        </p:spPr>
        <p:txBody>
          <a:bodyPr wrap="square" lIns="0" tIns="0" rIns="0" bIns="0" rtlCol="0" anchor="ctr"/>
          <a:lstStyle/>
          <a:p>
            <a:pPr marL="0" indent="0" algn="ctr">
              <a:lnSpc>
                <a:spcPct val="105000"/>
              </a:lnSpc>
              <a:buNone/>
            </a:pPr>
            <a:r>
              <a:rPr lang="en-US" sz="1000" b="1" dirty="0">
                <a:solidFill>
                  <a:srgbClr val="241611"/>
                </a:solidFill>
                <a:latin typeface="Calibri" pitchFamily="34" charset="0"/>
                <a:ea typeface="Calibri" pitchFamily="34" charset="-122"/>
                <a:cs typeface="Calibri" pitchFamily="34" charset="-120"/>
              </a:rPr>
              <a:t>Match Query</a:t>
            </a:r>
            <a:endParaRPr lang="en-US" sz="1000" dirty="0"/>
          </a:p>
          <a:p>
            <a:pPr marL="0" indent="0" algn="ctr">
              <a:lnSpc>
                <a:spcPct val="105000"/>
              </a:lnSpc>
              <a:buNone/>
            </a:pPr>
            <a:r>
              <a:rPr lang="en-US" sz="1000" b="1" dirty="0">
                <a:solidFill>
                  <a:srgbClr val="241611"/>
                </a:solidFill>
                <a:latin typeface="Calibri" pitchFamily="34" charset="0"/>
                <a:ea typeface="Calibri" pitchFamily="34" charset="-122"/>
                <a:cs typeface="Calibri" pitchFamily="34" charset="-120"/>
              </a:rPr>
              <a:t>to Health Need</a:t>
            </a:r>
            <a:endParaRPr lang="en-US" sz="1000" dirty="0"/>
          </a:p>
        </p:txBody>
      </p:sp>
      <p:sp>
        <p:nvSpPr>
          <p:cNvPr id="7" name="Shape 5"/>
          <p:cNvSpPr/>
          <p:nvPr/>
        </p:nvSpPr>
        <p:spPr>
          <a:xfrm>
            <a:off x="2734056" y="1737360"/>
            <a:ext cx="2103120" cy="731520"/>
          </a:xfrm>
          <a:prstGeom prst="roundRect">
            <a:avLst>
              <a:gd name="adj" fmla="val 8750"/>
            </a:avLst>
          </a:prstGeom>
          <a:solidFill>
            <a:srgbClr val="FDF3E9"/>
          </a:solidFill>
          <a:ln w="9525">
            <a:solidFill>
              <a:srgbClr val="E9D9C8"/>
            </a:solidFill>
            <a:prstDash val="solid"/>
          </a:ln>
        </p:spPr>
      </p:sp>
      <p:sp>
        <p:nvSpPr>
          <p:cNvPr id="8" name="Text 6"/>
          <p:cNvSpPr/>
          <p:nvPr/>
        </p:nvSpPr>
        <p:spPr>
          <a:xfrm>
            <a:off x="2825496" y="1737360"/>
            <a:ext cx="1920240" cy="731520"/>
          </a:xfrm>
          <a:prstGeom prst="rect">
            <a:avLst/>
          </a:prstGeom>
          <a:noFill/>
          <a:ln/>
        </p:spPr>
        <p:txBody>
          <a:bodyPr wrap="square" lIns="0" tIns="0" rIns="0" bIns="0" rtlCol="0" anchor="ctr"/>
          <a:lstStyle/>
          <a:p>
            <a:pPr marL="0" indent="0" algn="ctr">
              <a:lnSpc>
                <a:spcPct val="105000"/>
              </a:lnSpc>
              <a:buNone/>
            </a:pPr>
            <a:r>
              <a:rPr lang="en-US" sz="1000" b="1" dirty="0">
                <a:solidFill>
                  <a:srgbClr val="241611"/>
                </a:solidFill>
                <a:latin typeface="Calibri" pitchFamily="34" charset="0"/>
                <a:ea typeface="Calibri" pitchFamily="34" charset="-122"/>
                <a:cs typeface="Calibri" pitchFamily="34" charset="-120"/>
              </a:rPr>
              <a:t>Retrieve</a:t>
            </a:r>
            <a:endParaRPr lang="en-US" sz="1000" dirty="0"/>
          </a:p>
          <a:p>
            <a:pPr marL="0" indent="0" algn="ctr">
              <a:lnSpc>
                <a:spcPct val="105000"/>
              </a:lnSpc>
              <a:buNone/>
            </a:pPr>
            <a:r>
              <a:rPr lang="en-US" sz="1000" b="1" dirty="0">
                <a:solidFill>
                  <a:srgbClr val="241611"/>
                </a:solidFill>
                <a:latin typeface="Calibri" pitchFamily="34" charset="0"/>
                <a:ea typeface="Calibri" pitchFamily="34" charset="-122"/>
                <a:cs typeface="Calibri" pitchFamily="34" charset="-120"/>
              </a:rPr>
              <a:t>Candidate Facilities</a:t>
            </a:r>
            <a:endParaRPr lang="en-US" sz="1000" dirty="0"/>
          </a:p>
        </p:txBody>
      </p:sp>
      <p:sp>
        <p:nvSpPr>
          <p:cNvPr id="9" name="Shape 7"/>
          <p:cNvSpPr/>
          <p:nvPr/>
        </p:nvSpPr>
        <p:spPr>
          <a:xfrm>
            <a:off x="4919472" y="1737360"/>
            <a:ext cx="2103120" cy="731520"/>
          </a:xfrm>
          <a:prstGeom prst="roundRect">
            <a:avLst>
              <a:gd name="adj" fmla="val 8750"/>
            </a:avLst>
          </a:prstGeom>
          <a:solidFill>
            <a:srgbClr val="FDF3E9"/>
          </a:solidFill>
          <a:ln w="9525">
            <a:solidFill>
              <a:srgbClr val="E9D9C8"/>
            </a:solidFill>
            <a:prstDash val="solid"/>
          </a:ln>
        </p:spPr>
      </p:sp>
      <p:sp>
        <p:nvSpPr>
          <p:cNvPr id="10" name="Text 8"/>
          <p:cNvSpPr/>
          <p:nvPr/>
        </p:nvSpPr>
        <p:spPr>
          <a:xfrm>
            <a:off x="5010912" y="1737360"/>
            <a:ext cx="1920240" cy="731520"/>
          </a:xfrm>
          <a:prstGeom prst="rect">
            <a:avLst/>
          </a:prstGeom>
          <a:noFill/>
          <a:ln/>
        </p:spPr>
        <p:txBody>
          <a:bodyPr wrap="square" lIns="0" tIns="0" rIns="0" bIns="0" rtlCol="0" anchor="ctr"/>
          <a:lstStyle/>
          <a:p>
            <a:pPr marL="0" indent="0" algn="ctr">
              <a:lnSpc>
                <a:spcPct val="105000"/>
              </a:lnSpc>
              <a:buNone/>
            </a:pPr>
            <a:r>
              <a:rPr lang="en-US" sz="1000" b="1" dirty="0">
                <a:solidFill>
                  <a:srgbClr val="241611"/>
                </a:solidFill>
                <a:latin typeface="Calibri" pitchFamily="34" charset="0"/>
                <a:ea typeface="Calibri" pitchFamily="34" charset="-122"/>
                <a:cs typeface="Calibri" pitchFamily="34" charset="-120"/>
              </a:rPr>
              <a:t>Engineer</a:t>
            </a:r>
            <a:endParaRPr lang="en-US" sz="1000" dirty="0"/>
          </a:p>
          <a:p>
            <a:pPr marL="0" indent="0" algn="ctr">
              <a:lnSpc>
                <a:spcPct val="105000"/>
              </a:lnSpc>
              <a:buNone/>
            </a:pPr>
            <a:r>
              <a:rPr lang="en-US" sz="1000" b="1" dirty="0">
                <a:solidFill>
                  <a:srgbClr val="241611"/>
                </a:solidFill>
                <a:latin typeface="Calibri" pitchFamily="34" charset="0"/>
                <a:ea typeface="Calibri" pitchFamily="34" charset="-122"/>
                <a:cs typeface="Calibri" pitchFamily="34" charset="-120"/>
              </a:rPr>
              <a:t>Features</a:t>
            </a:r>
            <a:endParaRPr lang="en-US" sz="1000" dirty="0"/>
          </a:p>
        </p:txBody>
      </p:sp>
      <p:sp>
        <p:nvSpPr>
          <p:cNvPr id="11" name="Shape 9"/>
          <p:cNvSpPr/>
          <p:nvPr/>
        </p:nvSpPr>
        <p:spPr>
          <a:xfrm>
            <a:off x="7104888" y="1737360"/>
            <a:ext cx="2103120" cy="731520"/>
          </a:xfrm>
          <a:prstGeom prst="roundRect">
            <a:avLst>
              <a:gd name="adj" fmla="val 8750"/>
            </a:avLst>
          </a:prstGeom>
          <a:solidFill>
            <a:srgbClr val="FDF3E9"/>
          </a:solidFill>
          <a:ln w="9525">
            <a:solidFill>
              <a:srgbClr val="E9D9C8"/>
            </a:solidFill>
            <a:prstDash val="solid"/>
          </a:ln>
        </p:spPr>
      </p:sp>
      <p:sp>
        <p:nvSpPr>
          <p:cNvPr id="12" name="Text 10"/>
          <p:cNvSpPr/>
          <p:nvPr/>
        </p:nvSpPr>
        <p:spPr>
          <a:xfrm>
            <a:off x="7196328" y="1737360"/>
            <a:ext cx="1920240" cy="731520"/>
          </a:xfrm>
          <a:prstGeom prst="rect">
            <a:avLst/>
          </a:prstGeom>
          <a:noFill/>
          <a:ln/>
        </p:spPr>
        <p:txBody>
          <a:bodyPr wrap="square" lIns="0" tIns="0" rIns="0" bIns="0" rtlCol="0" anchor="ctr"/>
          <a:lstStyle/>
          <a:p>
            <a:pPr marL="0" indent="0" algn="ctr">
              <a:lnSpc>
                <a:spcPct val="105000"/>
              </a:lnSpc>
              <a:buNone/>
            </a:pPr>
            <a:r>
              <a:rPr lang="en-US" sz="1000" b="1" dirty="0">
                <a:solidFill>
                  <a:srgbClr val="241611"/>
                </a:solidFill>
                <a:latin typeface="Calibri" pitchFamily="34" charset="0"/>
                <a:ea typeface="Calibri" pitchFamily="34" charset="-122"/>
                <a:cs typeface="Calibri" pitchFamily="34" charset="-120"/>
              </a:rPr>
              <a:t>Score &amp;</a:t>
            </a:r>
            <a:endParaRPr lang="en-US" sz="1000" dirty="0"/>
          </a:p>
          <a:p>
            <a:pPr marL="0" indent="0" algn="ctr">
              <a:lnSpc>
                <a:spcPct val="105000"/>
              </a:lnSpc>
              <a:buNone/>
            </a:pPr>
            <a:r>
              <a:rPr lang="en-US" sz="1000" b="1" dirty="0">
                <a:solidFill>
                  <a:srgbClr val="241611"/>
                </a:solidFill>
                <a:latin typeface="Calibri" pitchFamily="34" charset="0"/>
                <a:ea typeface="Calibri" pitchFamily="34" charset="-122"/>
                <a:cs typeface="Calibri" pitchFamily="34" charset="-120"/>
              </a:rPr>
              <a:t>Rank</a:t>
            </a:r>
            <a:endParaRPr lang="en-US" sz="1000" dirty="0"/>
          </a:p>
        </p:txBody>
      </p:sp>
      <p:sp>
        <p:nvSpPr>
          <p:cNvPr id="13" name="Shape 11"/>
          <p:cNvSpPr/>
          <p:nvPr/>
        </p:nvSpPr>
        <p:spPr>
          <a:xfrm>
            <a:off x="9290304" y="1737360"/>
            <a:ext cx="2103120" cy="731520"/>
          </a:xfrm>
          <a:prstGeom prst="roundRect">
            <a:avLst>
              <a:gd name="adj" fmla="val 8750"/>
            </a:avLst>
          </a:prstGeom>
          <a:solidFill>
            <a:srgbClr val="E36F1E"/>
          </a:solidFill>
          <a:ln w="12700">
            <a:solidFill>
              <a:srgbClr val="333333"/>
            </a:solidFill>
            <a:prstDash val="solid"/>
          </a:ln>
        </p:spPr>
      </p:sp>
      <p:sp>
        <p:nvSpPr>
          <p:cNvPr id="14" name="Text 12"/>
          <p:cNvSpPr/>
          <p:nvPr/>
        </p:nvSpPr>
        <p:spPr>
          <a:xfrm>
            <a:off x="9381744" y="1737360"/>
            <a:ext cx="1920240" cy="731520"/>
          </a:xfrm>
          <a:prstGeom prst="rect">
            <a:avLst/>
          </a:prstGeom>
          <a:noFill/>
          <a:ln/>
        </p:spPr>
        <p:txBody>
          <a:bodyPr wrap="square" lIns="0" tIns="0" rIns="0" bIns="0" rtlCol="0" anchor="ctr"/>
          <a:lstStyle/>
          <a:p>
            <a:pPr marL="0" indent="0" algn="ctr">
              <a:lnSpc>
                <a:spcPct val="105000"/>
              </a:lnSpc>
              <a:buNone/>
            </a:pPr>
            <a:r>
              <a:rPr lang="en-US" sz="1000" b="1" dirty="0">
                <a:solidFill>
                  <a:srgbClr val="FFFFFF"/>
                </a:solidFill>
                <a:latin typeface="Calibri" pitchFamily="34" charset="0"/>
                <a:ea typeface="Calibri" pitchFamily="34" charset="-122"/>
                <a:cs typeface="Calibri" pitchFamily="34" charset="-120"/>
              </a:rPr>
              <a:t>Attach</a:t>
            </a:r>
            <a:endParaRPr lang="en-US" sz="1000" dirty="0"/>
          </a:p>
          <a:p>
            <a:pPr marL="0" indent="0" algn="ctr">
              <a:lnSpc>
                <a:spcPct val="105000"/>
              </a:lnSpc>
              <a:buNone/>
            </a:pPr>
            <a:r>
              <a:rPr lang="en-US" sz="1000" b="1" dirty="0">
                <a:solidFill>
                  <a:srgbClr val="FFFFFF"/>
                </a:solidFill>
                <a:latin typeface="Calibri" pitchFamily="34" charset="0"/>
                <a:ea typeface="Calibri" pitchFamily="34" charset="-122"/>
                <a:cs typeface="Calibri" pitchFamily="34" charset="-120"/>
              </a:rPr>
              <a:t>Explanation</a:t>
            </a:r>
            <a:endParaRPr lang="en-US" sz="1000" dirty="0"/>
          </a:p>
        </p:txBody>
      </p:sp>
      <p:sp>
        <p:nvSpPr>
          <p:cNvPr id="15" name="Shape 13"/>
          <p:cNvSpPr/>
          <p:nvPr/>
        </p:nvSpPr>
        <p:spPr>
          <a:xfrm>
            <a:off x="548640" y="2697480"/>
            <a:ext cx="11091672" cy="1371600"/>
          </a:xfrm>
          <a:prstGeom prst="roundRect">
            <a:avLst>
              <a:gd name="adj" fmla="val 6667"/>
            </a:avLst>
          </a:prstGeom>
          <a:solidFill>
            <a:srgbClr val="2E2018"/>
          </a:solidFill>
          <a:ln/>
        </p:spPr>
      </p:sp>
      <p:sp>
        <p:nvSpPr>
          <p:cNvPr id="16" name="Text 14"/>
          <p:cNvSpPr/>
          <p:nvPr/>
        </p:nvSpPr>
        <p:spPr>
          <a:xfrm>
            <a:off x="822960" y="2843784"/>
            <a:ext cx="7315200" cy="237744"/>
          </a:xfrm>
          <a:prstGeom prst="rect">
            <a:avLst/>
          </a:prstGeom>
          <a:noFill/>
          <a:ln/>
        </p:spPr>
        <p:txBody>
          <a:bodyPr wrap="square" lIns="0" tIns="0" rIns="0" bIns="0" rtlCol="0" anchor="ctr"/>
          <a:lstStyle/>
          <a:p>
            <a:pPr marL="0" indent="0">
              <a:buNone/>
            </a:pPr>
            <a:r>
              <a:rPr lang="en-US" sz="1000" b="1" kern="0" spc="150" dirty="0">
                <a:solidFill>
                  <a:srgbClr val="E36F1E"/>
                </a:solidFill>
                <a:latin typeface="Calibri" pitchFamily="34" charset="0"/>
                <a:ea typeface="Calibri" pitchFamily="34" charset="-122"/>
                <a:cs typeface="Calibri" pitchFamily="34" charset="-120"/>
              </a:rPr>
              <a:t>WHY THIS FACILITY? — SAMPLE EXPLANATION</a:t>
            </a:r>
            <a:endParaRPr lang="en-US" sz="1000" dirty="0"/>
          </a:p>
        </p:txBody>
      </p:sp>
      <p:sp>
        <p:nvSpPr>
          <p:cNvPr id="17" name="Text 15"/>
          <p:cNvSpPr/>
          <p:nvPr/>
        </p:nvSpPr>
        <p:spPr>
          <a:xfrm>
            <a:off x="822960" y="3118104"/>
            <a:ext cx="10515600" cy="640080"/>
          </a:xfrm>
          <a:prstGeom prst="rect">
            <a:avLst/>
          </a:prstGeom>
          <a:noFill/>
          <a:ln/>
        </p:spPr>
        <p:txBody>
          <a:bodyPr wrap="square" lIns="0" tIns="0" rIns="0" bIns="0" rtlCol="0" anchor="ctr"/>
          <a:lstStyle/>
          <a:p>
            <a:pPr marL="0" indent="0">
              <a:lnSpc>
                <a:spcPct val="118000"/>
              </a:lnSpc>
              <a:buNone/>
            </a:pPr>
            <a:r>
              <a:rPr lang="en-US" sz="1250" i="1" dirty="0">
                <a:solidFill>
                  <a:srgbClr val="FFF6EC"/>
                </a:solidFill>
                <a:latin typeface="Calibri" pitchFamily="34" charset="0"/>
                <a:ea typeface="Calibri" pitchFamily="34" charset="-122"/>
                <a:cs typeface="Calibri" pitchFamily="34" charset="-120"/>
              </a:rPr>
              <a:t>“Recommended for postnatal haemorrhage care. Offers Maternity &amp; Newborn Care at Level 4 (meets the Level 3 minimum). Located 6.2 km away — the closest facility offering this service within your search radius.”</a:t>
            </a:r>
            <a:endParaRPr lang="en-US" sz="1250" dirty="0"/>
          </a:p>
        </p:txBody>
      </p:sp>
      <p:sp>
        <p:nvSpPr>
          <p:cNvPr id="18" name="Text 16"/>
          <p:cNvSpPr/>
          <p:nvPr/>
        </p:nvSpPr>
        <p:spPr>
          <a:xfrm>
            <a:off x="822960" y="3739896"/>
            <a:ext cx="10515600" cy="274320"/>
          </a:xfrm>
          <a:prstGeom prst="rect">
            <a:avLst/>
          </a:prstGeom>
          <a:noFill/>
          <a:ln/>
        </p:spPr>
        <p:txBody>
          <a:bodyPr wrap="square" lIns="0" tIns="0" rIns="0" bIns="0" rtlCol="0" anchor="ctr"/>
          <a:lstStyle/>
          <a:p>
            <a:pPr marL="0" indent="0">
              <a:buNone/>
            </a:pPr>
            <a:r>
              <a:rPr lang="en-US" sz="880" dirty="0">
                <a:solidFill>
                  <a:srgbClr val="C9B7A8"/>
                </a:solidFill>
                <a:latin typeface="Calibri" pitchFamily="34" charset="0"/>
                <a:ea typeface="Calibri" pitchFamily="34" charset="-122"/>
                <a:cs typeface="Calibri" pitchFamily="34" charset="-120"/>
              </a:rPr>
              <a:t>Every explanation is generated directly from the same features used in scoring — nothing is added after the fact — so the reason shown always matches the ranking logic that produced it.</a:t>
            </a:r>
            <a:endParaRPr lang="en-US" sz="880" dirty="0"/>
          </a:p>
        </p:txBody>
      </p:sp>
      <p:sp>
        <p:nvSpPr>
          <p:cNvPr id="19" name="Text 17"/>
          <p:cNvSpPr/>
          <p:nvPr/>
        </p:nvSpPr>
        <p:spPr>
          <a:xfrm>
            <a:off x="548640" y="4279392"/>
            <a:ext cx="7315200" cy="256032"/>
          </a:xfrm>
          <a:prstGeom prst="rect">
            <a:avLst/>
          </a:prstGeom>
          <a:noFill/>
          <a:ln/>
        </p:spPr>
        <p:txBody>
          <a:bodyPr wrap="square" lIns="0" tIns="0" rIns="0" bIns="0" rtlCol="0" anchor="ctr"/>
          <a:lstStyle/>
          <a:p>
            <a:pPr marL="0" indent="0">
              <a:buNone/>
            </a:pPr>
            <a:r>
              <a:rPr lang="en-US" sz="1150" b="1" dirty="0">
                <a:solidFill>
                  <a:srgbClr val="241611"/>
                </a:solidFill>
                <a:latin typeface="Calibri" pitchFamily="34" charset="0"/>
                <a:ea typeface="Calibri" pitchFamily="34" charset="-122"/>
                <a:cs typeface="Calibri" pitchFamily="34" charset="-120"/>
              </a:rPr>
              <a:t>How the Modules Come Together</a:t>
            </a:r>
            <a:endParaRPr lang="en-US" sz="1150" dirty="0"/>
          </a:p>
        </p:txBody>
      </p:sp>
      <p:sp>
        <p:nvSpPr>
          <p:cNvPr id="20" name="Shape 18"/>
          <p:cNvSpPr/>
          <p:nvPr/>
        </p:nvSpPr>
        <p:spPr>
          <a:xfrm>
            <a:off x="548640" y="4562856"/>
            <a:ext cx="11091672" cy="420624"/>
          </a:xfrm>
          <a:prstGeom prst="roundRect">
            <a:avLst>
              <a:gd name="adj" fmla="val 13043"/>
            </a:avLst>
          </a:prstGeom>
          <a:solidFill>
            <a:srgbClr val="E9D9C8"/>
          </a:solidFill>
          <a:ln/>
        </p:spPr>
      </p:sp>
      <p:sp>
        <p:nvSpPr>
          <p:cNvPr id="21" name="Text 19"/>
          <p:cNvSpPr/>
          <p:nvPr/>
        </p:nvSpPr>
        <p:spPr>
          <a:xfrm>
            <a:off x="713232" y="4562856"/>
            <a:ext cx="2286000" cy="420624"/>
          </a:xfrm>
          <a:prstGeom prst="rect">
            <a:avLst/>
          </a:prstGeom>
          <a:noFill/>
          <a:ln/>
        </p:spPr>
        <p:txBody>
          <a:bodyPr wrap="square" lIns="0" tIns="0" rIns="0" bIns="0" rtlCol="0" anchor="ctr"/>
          <a:lstStyle/>
          <a:p>
            <a:pPr marL="0" indent="0">
              <a:buNone/>
            </a:pPr>
            <a:r>
              <a:rPr lang="en-US" sz="980" b="1" dirty="0">
                <a:solidFill>
                  <a:srgbClr val="B4550F"/>
                </a:solidFill>
                <a:latin typeface="Calibri" pitchFamily="34" charset="0"/>
                <a:ea typeface="Calibri" pitchFamily="34" charset="-122"/>
                <a:cs typeface="Calibri" pitchFamily="34" charset="-120"/>
              </a:rPr>
              <a:t>Data Layer</a:t>
            </a:r>
            <a:endParaRPr lang="en-US" sz="980" dirty="0"/>
          </a:p>
        </p:txBody>
      </p:sp>
      <p:sp>
        <p:nvSpPr>
          <p:cNvPr id="22" name="Text 20"/>
          <p:cNvSpPr/>
          <p:nvPr/>
        </p:nvSpPr>
        <p:spPr>
          <a:xfrm>
            <a:off x="3017520" y="4562856"/>
            <a:ext cx="8412480" cy="420624"/>
          </a:xfrm>
          <a:prstGeom prst="rect">
            <a:avLst/>
          </a:prstGeom>
          <a:noFill/>
          <a:ln/>
        </p:spPr>
        <p:txBody>
          <a:bodyPr wrap="square" lIns="0" tIns="0" rIns="0" bIns="0" rtlCol="0" anchor="ctr"/>
          <a:lstStyle/>
          <a:p>
            <a:pPr marL="0" indent="0">
              <a:buNone/>
            </a:pPr>
            <a:r>
              <a:rPr lang="en-US" sz="900" dirty="0">
                <a:solidFill>
                  <a:srgbClr val="5C4A3D"/>
                </a:solidFill>
                <a:latin typeface="Calibri" pitchFamily="34" charset="0"/>
                <a:ea typeface="Calibri" pitchFamily="34" charset="-122"/>
                <a:cs typeface="Calibri" pitchFamily="34" charset="-120"/>
              </a:rPr>
              <a:t>Master Facility List (12,050 facilities) · User Health Need Taxonomy (340 needs) · Standardized Services</a:t>
            </a:r>
            <a:endParaRPr lang="en-US" sz="900" dirty="0"/>
          </a:p>
        </p:txBody>
      </p:sp>
      <p:sp>
        <p:nvSpPr>
          <p:cNvPr id="23" name="Shape 21"/>
          <p:cNvSpPr/>
          <p:nvPr/>
        </p:nvSpPr>
        <p:spPr>
          <a:xfrm>
            <a:off x="548640" y="5056632"/>
            <a:ext cx="11091672" cy="420624"/>
          </a:xfrm>
          <a:prstGeom prst="roundRect">
            <a:avLst>
              <a:gd name="adj" fmla="val 13043"/>
            </a:avLst>
          </a:prstGeom>
          <a:solidFill>
            <a:srgbClr val="E9D9C8"/>
          </a:solidFill>
          <a:ln/>
        </p:spPr>
      </p:sp>
      <p:sp>
        <p:nvSpPr>
          <p:cNvPr id="24" name="Text 22"/>
          <p:cNvSpPr/>
          <p:nvPr/>
        </p:nvSpPr>
        <p:spPr>
          <a:xfrm>
            <a:off x="713232" y="5056632"/>
            <a:ext cx="2286000" cy="420624"/>
          </a:xfrm>
          <a:prstGeom prst="rect">
            <a:avLst/>
          </a:prstGeom>
          <a:noFill/>
          <a:ln/>
        </p:spPr>
        <p:txBody>
          <a:bodyPr wrap="square" lIns="0" tIns="0" rIns="0" bIns="0" rtlCol="0" anchor="ctr"/>
          <a:lstStyle/>
          <a:p>
            <a:pPr marL="0" indent="0">
              <a:buNone/>
            </a:pPr>
            <a:r>
              <a:rPr lang="en-US" sz="980" b="1" dirty="0">
                <a:solidFill>
                  <a:srgbClr val="B4550F"/>
                </a:solidFill>
                <a:latin typeface="Calibri" pitchFamily="34" charset="0"/>
                <a:ea typeface="Calibri" pitchFamily="34" charset="-122"/>
                <a:cs typeface="Calibri" pitchFamily="34" charset="-120"/>
              </a:rPr>
              <a:t>Recommendation Engine</a:t>
            </a:r>
            <a:endParaRPr lang="en-US" sz="980" dirty="0"/>
          </a:p>
        </p:txBody>
      </p:sp>
      <p:sp>
        <p:nvSpPr>
          <p:cNvPr id="25" name="Text 23"/>
          <p:cNvSpPr/>
          <p:nvPr/>
        </p:nvSpPr>
        <p:spPr>
          <a:xfrm>
            <a:off x="3017520" y="5056632"/>
            <a:ext cx="8412480" cy="420624"/>
          </a:xfrm>
          <a:prstGeom prst="rect">
            <a:avLst/>
          </a:prstGeom>
          <a:noFill/>
          <a:ln/>
        </p:spPr>
        <p:txBody>
          <a:bodyPr wrap="square" lIns="0" tIns="0" rIns="0" bIns="0" rtlCol="0" anchor="ctr"/>
          <a:lstStyle/>
          <a:p>
            <a:pPr marL="0" indent="0">
              <a:buNone/>
            </a:pPr>
            <a:r>
              <a:rPr lang="en-US" sz="900" dirty="0">
                <a:solidFill>
                  <a:srgbClr val="5C4A3D"/>
                </a:solidFill>
                <a:latin typeface="Calibri" pitchFamily="34" charset="0"/>
                <a:ea typeface="Calibri" pitchFamily="34" charset="-122"/>
                <a:cs typeface="Calibri" pitchFamily="34" charset="-120"/>
              </a:rPr>
              <a:t>Query understanding · candidate retrieval &amp; feature scoring · plain-language explanation generator</a:t>
            </a:r>
            <a:endParaRPr lang="en-US" sz="900" dirty="0"/>
          </a:p>
        </p:txBody>
      </p:sp>
      <p:sp>
        <p:nvSpPr>
          <p:cNvPr id="26" name="Shape 24"/>
          <p:cNvSpPr/>
          <p:nvPr/>
        </p:nvSpPr>
        <p:spPr>
          <a:xfrm>
            <a:off x="548640" y="5550408"/>
            <a:ext cx="11091672" cy="420624"/>
          </a:xfrm>
          <a:prstGeom prst="roundRect">
            <a:avLst>
              <a:gd name="adj" fmla="val 13043"/>
            </a:avLst>
          </a:prstGeom>
          <a:solidFill>
            <a:srgbClr val="E9D9C8"/>
          </a:solidFill>
          <a:ln/>
        </p:spPr>
      </p:sp>
      <p:sp>
        <p:nvSpPr>
          <p:cNvPr id="27" name="Text 25"/>
          <p:cNvSpPr/>
          <p:nvPr/>
        </p:nvSpPr>
        <p:spPr>
          <a:xfrm>
            <a:off x="713232" y="5550408"/>
            <a:ext cx="2286000" cy="420624"/>
          </a:xfrm>
          <a:prstGeom prst="rect">
            <a:avLst/>
          </a:prstGeom>
          <a:noFill/>
          <a:ln/>
        </p:spPr>
        <p:txBody>
          <a:bodyPr wrap="square" lIns="0" tIns="0" rIns="0" bIns="0" rtlCol="0" anchor="ctr"/>
          <a:lstStyle/>
          <a:p>
            <a:pPr marL="0" indent="0">
              <a:buNone/>
            </a:pPr>
            <a:r>
              <a:rPr lang="en-US" sz="980" b="1" dirty="0">
                <a:solidFill>
                  <a:srgbClr val="B4550F"/>
                </a:solidFill>
                <a:latin typeface="Calibri" pitchFamily="34" charset="0"/>
                <a:ea typeface="Calibri" pitchFamily="34" charset="-122"/>
                <a:cs typeface="Calibri" pitchFamily="34" charset="-120"/>
              </a:rPr>
              <a:t>Interface Layer</a:t>
            </a:r>
            <a:endParaRPr lang="en-US" sz="980" dirty="0"/>
          </a:p>
        </p:txBody>
      </p:sp>
      <p:sp>
        <p:nvSpPr>
          <p:cNvPr id="28" name="Text 26"/>
          <p:cNvSpPr/>
          <p:nvPr/>
        </p:nvSpPr>
        <p:spPr>
          <a:xfrm>
            <a:off x="3017520" y="5550408"/>
            <a:ext cx="8412480" cy="420624"/>
          </a:xfrm>
          <a:prstGeom prst="rect">
            <a:avLst/>
          </a:prstGeom>
          <a:noFill/>
          <a:ln/>
        </p:spPr>
        <p:txBody>
          <a:bodyPr wrap="square" lIns="0" tIns="0" rIns="0" bIns="0" rtlCol="0" anchor="ctr"/>
          <a:lstStyle/>
          <a:p>
            <a:pPr marL="0" indent="0">
              <a:buNone/>
            </a:pPr>
            <a:r>
              <a:rPr lang="en-US" sz="900" dirty="0">
                <a:solidFill>
                  <a:srgbClr val="5C4A3D"/>
                </a:solidFill>
                <a:latin typeface="Calibri" pitchFamily="34" charset="0"/>
                <a:ea typeface="Calibri" pitchFamily="34" charset="-122"/>
                <a:cs typeface="Calibri" pitchFamily="34" charset="-120"/>
              </a:rPr>
              <a:t>AfyaGuide (built in Gradio) · natural-language input · county/GPS distance filters · map view · ranked cards</a:t>
            </a:r>
            <a:endParaRPr lang="en-US" sz="900" dirty="0"/>
          </a:p>
        </p:txBody>
      </p:sp>
      <p:sp>
        <p:nvSpPr>
          <p:cNvPr id="29" name="Text 27"/>
          <p:cNvSpPr/>
          <p:nvPr/>
        </p:nvSpPr>
        <p:spPr>
          <a:xfrm>
            <a:off x="548640" y="6492240"/>
            <a:ext cx="2743200" cy="256032"/>
          </a:xfrm>
          <a:prstGeom prst="rect">
            <a:avLst/>
          </a:prstGeom>
          <a:noFill/>
          <a:ln/>
        </p:spPr>
        <p:txBody>
          <a:bodyPr wrap="square" lIns="0" tIns="0" rIns="0" bIns="0" rtlCol="0" anchor="ctr"/>
          <a:lstStyle/>
          <a:p>
            <a:pPr marL="0" indent="0">
              <a:buNone/>
            </a:pPr>
            <a:r>
              <a:rPr lang="en-US" sz="850" dirty="0">
                <a:solidFill>
                  <a:srgbClr val="8A7364"/>
                </a:solidFill>
                <a:latin typeface="Calibri" pitchFamily="34" charset="0"/>
                <a:ea typeface="Calibri" pitchFamily="34" charset="-122"/>
                <a:cs typeface="Calibri" pitchFamily="34" charset="-120"/>
              </a:rPr>
              <a:t>AfyaGuide</a:t>
            </a:r>
            <a:endParaRPr lang="en-US" sz="850" dirty="0"/>
          </a:p>
        </p:txBody>
      </p:sp>
      <p:sp>
        <p:nvSpPr>
          <p:cNvPr id="30" name="Text 28"/>
          <p:cNvSpPr/>
          <p:nvPr/>
        </p:nvSpPr>
        <p:spPr>
          <a:xfrm>
            <a:off x="10728655" y="6492240"/>
            <a:ext cx="914400" cy="256032"/>
          </a:xfrm>
          <a:prstGeom prst="rect">
            <a:avLst/>
          </a:prstGeom>
          <a:noFill/>
          <a:ln/>
        </p:spPr>
        <p:txBody>
          <a:bodyPr wrap="square" lIns="0" tIns="0" rIns="0" bIns="0" rtlCol="0" anchor="ctr"/>
          <a:lstStyle/>
          <a:p>
            <a:pPr marL="0" indent="0" algn="r">
              <a:buNone/>
            </a:pPr>
            <a:r>
              <a:rPr lang="en-US" sz="850" dirty="0">
                <a:solidFill>
                  <a:srgbClr val="8A7364"/>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marL="0" indent="0">
              <a:buNone/>
            </a:pPr>
            <a:r>
              <a:rPr lang="en-US" sz="1100" b="1" kern="0" spc="200" dirty="0">
                <a:solidFill>
                  <a:srgbClr val="E36F1E"/>
                </a:solidFill>
                <a:latin typeface="Calibri" pitchFamily="34" charset="0"/>
                <a:ea typeface="Calibri" pitchFamily="34" charset="-122"/>
                <a:cs typeface="Calibri" pitchFamily="34" charset="-120"/>
              </a:rPr>
              <a:t>03 — RESULTS</a:t>
            </a:r>
            <a:endParaRPr lang="en-US" sz="1100" dirty="0"/>
          </a:p>
        </p:txBody>
      </p:sp>
      <p:sp>
        <p:nvSpPr>
          <p:cNvPr id="3" name="Text 1"/>
          <p:cNvSpPr/>
          <p:nvPr/>
        </p:nvSpPr>
        <p:spPr>
          <a:xfrm>
            <a:off x="548640" y="512064"/>
            <a:ext cx="11094415" cy="457200"/>
          </a:xfrm>
          <a:prstGeom prst="rect">
            <a:avLst/>
          </a:prstGeom>
          <a:noFill/>
          <a:ln/>
        </p:spPr>
        <p:txBody>
          <a:bodyPr wrap="square" lIns="0" tIns="0" rIns="0" bIns="0" rtlCol="0" anchor="ctr"/>
          <a:lstStyle/>
          <a:p>
            <a:pPr marL="0" indent="0">
              <a:buNone/>
            </a:pPr>
            <a:r>
              <a:rPr lang="en-US" sz="2400" b="1" dirty="0">
                <a:solidFill>
                  <a:srgbClr val="241611"/>
                </a:solidFill>
                <a:latin typeface="Cambria" pitchFamily="34" charset="0"/>
                <a:ea typeface="Cambria" pitchFamily="34" charset="-122"/>
                <a:cs typeface="Cambria" pitchFamily="34" charset="-120"/>
              </a:rPr>
              <a:t>Results: Interface, Testing &amp; Impact</a:t>
            </a:r>
            <a:endParaRPr lang="en-US" sz="2400" dirty="0"/>
          </a:p>
        </p:txBody>
      </p:sp>
      <p:sp>
        <p:nvSpPr>
          <p:cNvPr id="4" name="Text 2"/>
          <p:cNvSpPr/>
          <p:nvPr/>
        </p:nvSpPr>
        <p:spPr>
          <a:xfrm>
            <a:off x="548640" y="987552"/>
            <a:ext cx="11094415" cy="365760"/>
          </a:xfrm>
          <a:prstGeom prst="rect">
            <a:avLst/>
          </a:prstGeom>
          <a:noFill/>
          <a:ln/>
        </p:spPr>
        <p:txBody>
          <a:bodyPr wrap="square" lIns="0" tIns="0" rIns="0" bIns="0" rtlCol="0" anchor="ctr"/>
          <a:lstStyle/>
          <a:p>
            <a:pPr marL="0" indent="0">
              <a:lnSpc>
                <a:spcPct val="112000"/>
              </a:lnSpc>
              <a:buNone/>
            </a:pPr>
            <a:r>
              <a:rPr lang="en-US" sz="1100" dirty="0">
                <a:solidFill>
                  <a:srgbClr val="4A3B31"/>
                </a:solidFill>
                <a:latin typeface="Calibri" pitchFamily="34" charset="0"/>
                <a:ea typeface="Calibri" pitchFamily="34" charset="-122"/>
                <a:cs typeface="Calibri" pitchFamily="34" charset="-120"/>
              </a:rPr>
              <a:t>The pipeline was built into a working Gradio interface, then stress-tested with four progressively harder query sets before being summarized in the numbers below.</a:t>
            </a:r>
            <a:endParaRPr lang="en-US" sz="1100" dirty="0"/>
          </a:p>
        </p:txBody>
      </p:sp>
      <p:sp>
        <p:nvSpPr>
          <p:cNvPr id="5" name="Text 3"/>
          <p:cNvSpPr/>
          <p:nvPr/>
        </p:nvSpPr>
        <p:spPr>
          <a:xfrm>
            <a:off x="548640" y="1600200"/>
            <a:ext cx="3520440" cy="237744"/>
          </a:xfrm>
          <a:prstGeom prst="rect">
            <a:avLst/>
          </a:prstGeom>
          <a:noFill/>
          <a:ln/>
        </p:spPr>
        <p:txBody>
          <a:bodyPr wrap="square" lIns="0" tIns="0" rIns="0" bIns="0" rtlCol="0" anchor="ctr"/>
          <a:lstStyle/>
          <a:p>
            <a:pPr marL="0" indent="0">
              <a:buNone/>
            </a:pPr>
            <a:r>
              <a:rPr lang="en-US" sz="1080" b="1" dirty="0">
                <a:solidFill>
                  <a:srgbClr val="241611"/>
                </a:solidFill>
                <a:latin typeface="Calibri" pitchFamily="34" charset="0"/>
                <a:ea typeface="Calibri" pitchFamily="34" charset="-122"/>
                <a:cs typeface="Calibri" pitchFamily="34" charset="-120"/>
              </a:rPr>
              <a:t>The AfyaGuide Interface</a:t>
            </a:r>
            <a:endParaRPr lang="en-US" sz="1080" dirty="0"/>
          </a:p>
        </p:txBody>
      </p:sp>
      <p:sp>
        <p:nvSpPr>
          <p:cNvPr id="6" name="Shape 4"/>
          <p:cNvSpPr/>
          <p:nvPr/>
        </p:nvSpPr>
        <p:spPr>
          <a:xfrm>
            <a:off x="548640" y="1947672"/>
            <a:ext cx="91440" cy="91440"/>
          </a:xfrm>
          <a:prstGeom prst="ellipse">
            <a:avLst/>
          </a:prstGeom>
          <a:solidFill>
            <a:srgbClr val="E36F1E"/>
          </a:solidFill>
          <a:ln/>
        </p:spPr>
      </p:sp>
      <p:sp>
        <p:nvSpPr>
          <p:cNvPr id="7" name="Text 5"/>
          <p:cNvSpPr/>
          <p:nvPr/>
        </p:nvSpPr>
        <p:spPr>
          <a:xfrm>
            <a:off x="749808" y="1883664"/>
            <a:ext cx="3291840" cy="310896"/>
          </a:xfrm>
          <a:prstGeom prst="rect">
            <a:avLst/>
          </a:prstGeom>
          <a:noFill/>
          <a:ln/>
        </p:spPr>
        <p:txBody>
          <a:bodyPr wrap="square" lIns="0" tIns="0" rIns="0" bIns="0" rtlCol="0" anchor="ctr"/>
          <a:lstStyle/>
          <a:p>
            <a:pPr marL="0" indent="0">
              <a:lnSpc>
                <a:spcPct val="105000"/>
              </a:lnSpc>
              <a:buNone/>
            </a:pPr>
            <a:r>
              <a:rPr lang="en-US" sz="880" dirty="0">
                <a:solidFill>
                  <a:srgbClr val="3A2E26"/>
                </a:solidFill>
                <a:latin typeface="Calibri" pitchFamily="34" charset="0"/>
                <a:ea typeface="Calibri" pitchFamily="34" charset="-122"/>
                <a:cs typeface="Calibri" pitchFamily="34" charset="-120"/>
              </a:rPr>
              <a:t>Natural-language health need input box</a:t>
            </a:r>
            <a:endParaRPr lang="en-US" sz="880" dirty="0"/>
          </a:p>
        </p:txBody>
      </p:sp>
      <p:sp>
        <p:nvSpPr>
          <p:cNvPr id="8" name="Shape 6"/>
          <p:cNvSpPr/>
          <p:nvPr/>
        </p:nvSpPr>
        <p:spPr>
          <a:xfrm>
            <a:off x="548640" y="2286000"/>
            <a:ext cx="91440" cy="91440"/>
          </a:xfrm>
          <a:prstGeom prst="ellipse">
            <a:avLst/>
          </a:prstGeom>
          <a:solidFill>
            <a:srgbClr val="E36F1E"/>
          </a:solidFill>
          <a:ln/>
        </p:spPr>
      </p:sp>
      <p:sp>
        <p:nvSpPr>
          <p:cNvPr id="9" name="Text 7"/>
          <p:cNvSpPr/>
          <p:nvPr/>
        </p:nvSpPr>
        <p:spPr>
          <a:xfrm>
            <a:off x="749808" y="2221992"/>
            <a:ext cx="3291840" cy="310896"/>
          </a:xfrm>
          <a:prstGeom prst="rect">
            <a:avLst/>
          </a:prstGeom>
          <a:noFill/>
          <a:ln/>
        </p:spPr>
        <p:txBody>
          <a:bodyPr wrap="square" lIns="0" tIns="0" rIns="0" bIns="0" rtlCol="0" anchor="ctr"/>
          <a:lstStyle/>
          <a:p>
            <a:pPr marL="0" indent="0">
              <a:lnSpc>
                <a:spcPct val="105000"/>
              </a:lnSpc>
              <a:buNone/>
            </a:pPr>
            <a:r>
              <a:rPr lang="en-US" sz="880" dirty="0">
                <a:solidFill>
                  <a:srgbClr val="3A2E26"/>
                </a:solidFill>
                <a:latin typeface="Calibri" pitchFamily="34" charset="0"/>
                <a:ea typeface="Calibri" pitchFamily="34" charset="-122"/>
                <a:cs typeface="Calibri" pitchFamily="34" charset="-120"/>
              </a:rPr>
              <a:t>County / GPS location &amp; distance radius filters</a:t>
            </a:r>
            <a:endParaRPr lang="en-US" sz="880" dirty="0"/>
          </a:p>
        </p:txBody>
      </p:sp>
      <p:sp>
        <p:nvSpPr>
          <p:cNvPr id="10" name="Shape 8"/>
          <p:cNvSpPr/>
          <p:nvPr/>
        </p:nvSpPr>
        <p:spPr>
          <a:xfrm>
            <a:off x="548640" y="2624328"/>
            <a:ext cx="91440" cy="91440"/>
          </a:xfrm>
          <a:prstGeom prst="ellipse">
            <a:avLst/>
          </a:prstGeom>
          <a:solidFill>
            <a:srgbClr val="E36F1E"/>
          </a:solidFill>
          <a:ln/>
        </p:spPr>
      </p:sp>
      <p:sp>
        <p:nvSpPr>
          <p:cNvPr id="11" name="Text 9"/>
          <p:cNvSpPr/>
          <p:nvPr/>
        </p:nvSpPr>
        <p:spPr>
          <a:xfrm>
            <a:off x="749808" y="2560320"/>
            <a:ext cx="3291840" cy="310896"/>
          </a:xfrm>
          <a:prstGeom prst="rect">
            <a:avLst/>
          </a:prstGeom>
          <a:noFill/>
          <a:ln/>
        </p:spPr>
        <p:txBody>
          <a:bodyPr wrap="square" lIns="0" tIns="0" rIns="0" bIns="0" rtlCol="0" anchor="ctr"/>
          <a:lstStyle/>
          <a:p>
            <a:pPr marL="0" indent="0">
              <a:lnSpc>
                <a:spcPct val="105000"/>
              </a:lnSpc>
              <a:buNone/>
            </a:pPr>
            <a:r>
              <a:rPr lang="en-US" sz="880" dirty="0">
                <a:solidFill>
                  <a:srgbClr val="3A2E26"/>
                </a:solidFill>
                <a:latin typeface="Calibri" pitchFamily="34" charset="0"/>
                <a:ea typeface="Calibri" pitchFamily="34" charset="-122"/>
                <a:cs typeface="Calibri" pitchFamily="34" charset="-120"/>
              </a:rPr>
              <a:t>Interactive Folium map of recommended facilities</a:t>
            </a:r>
            <a:endParaRPr lang="en-US" sz="880" dirty="0"/>
          </a:p>
        </p:txBody>
      </p:sp>
      <p:sp>
        <p:nvSpPr>
          <p:cNvPr id="12" name="Shape 10"/>
          <p:cNvSpPr/>
          <p:nvPr/>
        </p:nvSpPr>
        <p:spPr>
          <a:xfrm>
            <a:off x="548640" y="2962656"/>
            <a:ext cx="91440" cy="91440"/>
          </a:xfrm>
          <a:prstGeom prst="ellipse">
            <a:avLst/>
          </a:prstGeom>
          <a:solidFill>
            <a:srgbClr val="E36F1E"/>
          </a:solidFill>
          <a:ln/>
        </p:spPr>
      </p:sp>
      <p:sp>
        <p:nvSpPr>
          <p:cNvPr id="13" name="Text 11"/>
          <p:cNvSpPr/>
          <p:nvPr/>
        </p:nvSpPr>
        <p:spPr>
          <a:xfrm>
            <a:off x="749808" y="2898648"/>
            <a:ext cx="3291840" cy="310896"/>
          </a:xfrm>
          <a:prstGeom prst="rect">
            <a:avLst/>
          </a:prstGeom>
          <a:noFill/>
          <a:ln/>
        </p:spPr>
        <p:txBody>
          <a:bodyPr wrap="square" lIns="0" tIns="0" rIns="0" bIns="0" rtlCol="0" anchor="ctr"/>
          <a:lstStyle/>
          <a:p>
            <a:pPr marL="0" indent="0">
              <a:lnSpc>
                <a:spcPct val="105000"/>
              </a:lnSpc>
              <a:buNone/>
            </a:pPr>
            <a:r>
              <a:rPr lang="en-US" sz="880" dirty="0">
                <a:solidFill>
                  <a:srgbClr val="3A2E26"/>
                </a:solidFill>
                <a:latin typeface="Calibri" pitchFamily="34" charset="0"/>
                <a:ea typeface="Calibri" pitchFamily="34" charset="-122"/>
                <a:cs typeface="Calibri" pitchFamily="34" charset="-120"/>
              </a:rPr>
              <a:t>Ranked facility cards, each with a plain-language reason</a:t>
            </a:r>
            <a:endParaRPr lang="en-US" sz="880" dirty="0"/>
          </a:p>
        </p:txBody>
      </p:sp>
      <p:sp>
        <p:nvSpPr>
          <p:cNvPr id="16" name="Text 14"/>
          <p:cNvSpPr/>
          <p:nvPr/>
        </p:nvSpPr>
        <p:spPr>
          <a:xfrm>
            <a:off x="548640" y="4425696"/>
            <a:ext cx="3520440" cy="457200"/>
          </a:xfrm>
          <a:prstGeom prst="rect">
            <a:avLst/>
          </a:prstGeom>
          <a:noFill/>
          <a:ln/>
        </p:spPr>
        <p:txBody>
          <a:bodyPr wrap="square" lIns="0" tIns="0" rIns="0" bIns="0" rtlCol="0" anchor="ctr"/>
          <a:lstStyle/>
          <a:p>
            <a:pPr marL="0" indent="0">
              <a:lnSpc>
                <a:spcPct val="110000"/>
              </a:lnSpc>
              <a:buNone/>
            </a:pPr>
            <a:r>
              <a:rPr lang="en-US" sz="830" i="1" dirty="0">
                <a:solidFill>
                  <a:srgbClr val="5C4A3D"/>
                </a:solidFill>
                <a:latin typeface="Calibri" pitchFamily="34" charset="0"/>
                <a:ea typeface="Calibri" pitchFamily="34" charset="-122"/>
                <a:cs typeface="Calibri" pitchFamily="34" charset="-120"/>
              </a:rPr>
              <a:t>Built in Gradio, styled in AfyaGuide's orange theme to match the brand and keep results scannable at a glance.</a:t>
            </a:r>
            <a:endParaRPr lang="en-US" sz="830" dirty="0"/>
          </a:p>
        </p:txBody>
      </p:sp>
      <p:sp>
        <p:nvSpPr>
          <p:cNvPr id="17" name="Text 15"/>
          <p:cNvSpPr/>
          <p:nvPr/>
        </p:nvSpPr>
        <p:spPr>
          <a:xfrm>
            <a:off x="4297680" y="1600200"/>
            <a:ext cx="3794760" cy="237744"/>
          </a:xfrm>
          <a:prstGeom prst="rect">
            <a:avLst/>
          </a:prstGeom>
          <a:noFill/>
          <a:ln/>
        </p:spPr>
        <p:txBody>
          <a:bodyPr wrap="square" lIns="0" tIns="0" rIns="0" bIns="0" rtlCol="0" anchor="ctr"/>
          <a:lstStyle/>
          <a:p>
            <a:pPr marL="0" indent="0">
              <a:buNone/>
            </a:pPr>
            <a:r>
              <a:rPr lang="en-US" sz="1080" b="1" dirty="0">
                <a:solidFill>
                  <a:srgbClr val="241611"/>
                </a:solidFill>
                <a:latin typeface="Calibri" pitchFamily="34" charset="0"/>
                <a:ea typeface="Calibri" pitchFamily="34" charset="-122"/>
                <a:cs typeface="Calibri" pitchFamily="34" charset="-120"/>
              </a:rPr>
              <a:t>Putting the Matching Engine to the Test</a:t>
            </a:r>
            <a:endParaRPr lang="en-US" sz="1080" dirty="0"/>
          </a:p>
        </p:txBody>
      </p:sp>
      <p:sp>
        <p:nvSpPr>
          <p:cNvPr id="18" name="Shape 16"/>
          <p:cNvSpPr/>
          <p:nvPr/>
        </p:nvSpPr>
        <p:spPr>
          <a:xfrm>
            <a:off x="4297680" y="1901952"/>
            <a:ext cx="3794760" cy="777240"/>
          </a:xfrm>
          <a:prstGeom prst="roundRect">
            <a:avLst>
              <a:gd name="adj" fmla="val 7059"/>
            </a:avLst>
          </a:prstGeom>
          <a:solidFill>
            <a:srgbClr val="FBE8D6"/>
          </a:solidFill>
          <a:ln/>
        </p:spPr>
      </p:sp>
      <p:sp>
        <p:nvSpPr>
          <p:cNvPr id="19" name="Text 17"/>
          <p:cNvSpPr/>
          <p:nvPr/>
        </p:nvSpPr>
        <p:spPr>
          <a:xfrm>
            <a:off x="4425696" y="1947672"/>
            <a:ext cx="3538728" cy="201168"/>
          </a:xfrm>
          <a:prstGeom prst="rect">
            <a:avLst/>
          </a:prstGeom>
          <a:noFill/>
          <a:ln/>
        </p:spPr>
        <p:txBody>
          <a:bodyPr wrap="square" lIns="0" tIns="0" rIns="0" bIns="0" rtlCol="0" anchor="ctr"/>
          <a:lstStyle/>
          <a:p>
            <a:pPr marL="0" indent="0">
              <a:buNone/>
            </a:pPr>
            <a:r>
              <a:rPr lang="en-US" sz="880" b="1" dirty="0">
                <a:solidFill>
                  <a:srgbClr val="B4550F"/>
                </a:solidFill>
                <a:latin typeface="Calibri" pitchFamily="34" charset="0"/>
                <a:ea typeface="Calibri" pitchFamily="34" charset="-122"/>
                <a:cs typeface="Calibri" pitchFamily="34" charset="-120"/>
              </a:rPr>
              <a:t>Round 1 — Direct phrasing</a:t>
            </a:r>
            <a:endParaRPr lang="en-US" sz="880" dirty="0"/>
          </a:p>
        </p:txBody>
      </p:sp>
      <p:sp>
        <p:nvSpPr>
          <p:cNvPr id="20" name="Text 18"/>
          <p:cNvSpPr/>
          <p:nvPr/>
        </p:nvSpPr>
        <p:spPr>
          <a:xfrm>
            <a:off x="4425696" y="2148840"/>
            <a:ext cx="3538728" cy="201168"/>
          </a:xfrm>
          <a:prstGeom prst="rect">
            <a:avLst/>
          </a:prstGeom>
          <a:noFill/>
          <a:ln/>
        </p:spPr>
        <p:txBody>
          <a:bodyPr wrap="square" lIns="0" tIns="0" rIns="0" bIns="0" rtlCol="0" anchor="ctr"/>
          <a:lstStyle/>
          <a:p>
            <a:pPr marL="0" indent="0">
              <a:buNone/>
            </a:pPr>
            <a:r>
              <a:rPr lang="en-US" sz="830" i="1" dirty="0">
                <a:solidFill>
                  <a:srgbClr val="5C4A3D"/>
                </a:solidFill>
                <a:latin typeface="Calibri" pitchFamily="34" charset="0"/>
                <a:ea typeface="Calibri" pitchFamily="34" charset="-122"/>
                <a:cs typeface="Calibri" pitchFamily="34" charset="-120"/>
              </a:rPr>
              <a:t>“I need HIV treatment”</a:t>
            </a:r>
            <a:endParaRPr lang="en-US" sz="830" dirty="0"/>
          </a:p>
        </p:txBody>
      </p:sp>
      <p:sp>
        <p:nvSpPr>
          <p:cNvPr id="21" name="Text 19"/>
          <p:cNvSpPr/>
          <p:nvPr/>
        </p:nvSpPr>
        <p:spPr>
          <a:xfrm>
            <a:off x="4425696" y="2359152"/>
            <a:ext cx="3538728" cy="292608"/>
          </a:xfrm>
          <a:prstGeom prst="rect">
            <a:avLst/>
          </a:prstGeom>
          <a:noFill/>
          <a:ln/>
        </p:spPr>
        <p:txBody>
          <a:bodyPr wrap="square" lIns="0" tIns="0" rIns="0" bIns="0" rtlCol="0" anchor="ctr"/>
          <a:lstStyle/>
          <a:p>
            <a:pPr marL="0" indent="0">
              <a:lnSpc>
                <a:spcPct val="105000"/>
              </a:lnSpc>
              <a:buNone/>
            </a:pPr>
            <a:r>
              <a:rPr lang="en-US" sz="770" dirty="0">
                <a:solidFill>
                  <a:srgbClr val="3A2E26"/>
                </a:solidFill>
                <a:latin typeface="Calibri" pitchFamily="34" charset="0"/>
                <a:ea typeface="Calibri" pitchFamily="34" charset="-122"/>
                <a:cs typeface="Calibri" pitchFamily="34" charset="-120"/>
              </a:rPr>
              <a:t>All three matchers handled this correctly — the baseline case.</a:t>
            </a:r>
            <a:endParaRPr lang="en-US" sz="770" dirty="0"/>
          </a:p>
        </p:txBody>
      </p:sp>
      <p:sp>
        <p:nvSpPr>
          <p:cNvPr id="22" name="Shape 20"/>
          <p:cNvSpPr/>
          <p:nvPr/>
        </p:nvSpPr>
        <p:spPr>
          <a:xfrm>
            <a:off x="4297680" y="2752344"/>
            <a:ext cx="3794760" cy="777240"/>
          </a:xfrm>
          <a:prstGeom prst="roundRect">
            <a:avLst>
              <a:gd name="adj" fmla="val 7059"/>
            </a:avLst>
          </a:prstGeom>
          <a:solidFill>
            <a:srgbClr val="FBE8D6"/>
          </a:solidFill>
          <a:ln/>
        </p:spPr>
      </p:sp>
      <p:sp>
        <p:nvSpPr>
          <p:cNvPr id="23" name="Text 21"/>
          <p:cNvSpPr/>
          <p:nvPr/>
        </p:nvSpPr>
        <p:spPr>
          <a:xfrm>
            <a:off x="4425696" y="2798064"/>
            <a:ext cx="3538728" cy="201168"/>
          </a:xfrm>
          <a:prstGeom prst="rect">
            <a:avLst/>
          </a:prstGeom>
          <a:noFill/>
          <a:ln/>
        </p:spPr>
        <p:txBody>
          <a:bodyPr wrap="square" lIns="0" tIns="0" rIns="0" bIns="0" rtlCol="0" anchor="ctr"/>
          <a:lstStyle/>
          <a:p>
            <a:pPr marL="0" indent="0">
              <a:buNone/>
            </a:pPr>
            <a:r>
              <a:rPr lang="en-US" sz="880" b="1" dirty="0">
                <a:solidFill>
                  <a:srgbClr val="B4550F"/>
                </a:solidFill>
                <a:latin typeface="Calibri" pitchFamily="34" charset="0"/>
                <a:ea typeface="Calibri" pitchFamily="34" charset="-122"/>
                <a:cs typeface="Calibri" pitchFamily="34" charset="-120"/>
              </a:rPr>
              <a:t>Round 2 — Symptoms, not diagnoses</a:t>
            </a:r>
            <a:endParaRPr lang="en-US" sz="880" dirty="0"/>
          </a:p>
        </p:txBody>
      </p:sp>
      <p:sp>
        <p:nvSpPr>
          <p:cNvPr id="24" name="Text 22"/>
          <p:cNvSpPr/>
          <p:nvPr/>
        </p:nvSpPr>
        <p:spPr>
          <a:xfrm>
            <a:off x="4425696" y="2999232"/>
            <a:ext cx="3538728" cy="201168"/>
          </a:xfrm>
          <a:prstGeom prst="rect">
            <a:avLst/>
          </a:prstGeom>
          <a:noFill/>
          <a:ln/>
        </p:spPr>
        <p:txBody>
          <a:bodyPr wrap="square" lIns="0" tIns="0" rIns="0" bIns="0" rtlCol="0" anchor="ctr"/>
          <a:lstStyle/>
          <a:p>
            <a:pPr marL="0" indent="0">
              <a:buNone/>
            </a:pPr>
            <a:r>
              <a:rPr lang="en-US" sz="830" i="1" dirty="0">
                <a:solidFill>
                  <a:srgbClr val="5C4A3D"/>
                </a:solidFill>
                <a:latin typeface="Calibri" pitchFamily="34" charset="0"/>
                <a:ea typeface="Calibri" pitchFamily="34" charset="-122"/>
                <a:cs typeface="Calibri" pitchFamily="34" charset="-120"/>
              </a:rPr>
              <a:t>“high fever, shaking, feeling very cold”</a:t>
            </a:r>
            <a:endParaRPr lang="en-US" sz="830" dirty="0"/>
          </a:p>
        </p:txBody>
      </p:sp>
      <p:sp>
        <p:nvSpPr>
          <p:cNvPr id="25" name="Text 23"/>
          <p:cNvSpPr/>
          <p:nvPr/>
        </p:nvSpPr>
        <p:spPr>
          <a:xfrm>
            <a:off x="4425696" y="3209544"/>
            <a:ext cx="3538728" cy="292608"/>
          </a:xfrm>
          <a:prstGeom prst="rect">
            <a:avLst/>
          </a:prstGeom>
          <a:noFill/>
          <a:ln/>
        </p:spPr>
        <p:txBody>
          <a:bodyPr wrap="square" lIns="0" tIns="0" rIns="0" bIns="0" rtlCol="0" anchor="ctr"/>
          <a:lstStyle/>
          <a:p>
            <a:pPr marL="0" indent="0">
              <a:lnSpc>
                <a:spcPct val="105000"/>
              </a:lnSpc>
              <a:buNone/>
            </a:pPr>
            <a:r>
              <a:rPr lang="en-US" sz="770" dirty="0">
                <a:solidFill>
                  <a:srgbClr val="3A2E26"/>
                </a:solidFill>
                <a:latin typeface="Calibri" pitchFamily="34" charset="0"/>
                <a:ea typeface="Calibri" pitchFamily="34" charset="-122"/>
                <a:cs typeface="Calibri" pitchFamily="34" charset="-120"/>
              </a:rPr>
              <a:t>Fuzzy matching alone started to miss; TF-IDF picked up clinical terms better.</a:t>
            </a:r>
            <a:endParaRPr lang="en-US" sz="770" dirty="0"/>
          </a:p>
        </p:txBody>
      </p:sp>
      <p:sp>
        <p:nvSpPr>
          <p:cNvPr id="26" name="Shape 24"/>
          <p:cNvSpPr/>
          <p:nvPr/>
        </p:nvSpPr>
        <p:spPr>
          <a:xfrm>
            <a:off x="4297680" y="3602736"/>
            <a:ext cx="3794760" cy="777240"/>
          </a:xfrm>
          <a:prstGeom prst="roundRect">
            <a:avLst>
              <a:gd name="adj" fmla="val 7059"/>
            </a:avLst>
          </a:prstGeom>
          <a:solidFill>
            <a:srgbClr val="FBE8D6"/>
          </a:solidFill>
          <a:ln/>
        </p:spPr>
      </p:sp>
      <p:sp>
        <p:nvSpPr>
          <p:cNvPr id="27" name="Text 25"/>
          <p:cNvSpPr/>
          <p:nvPr/>
        </p:nvSpPr>
        <p:spPr>
          <a:xfrm>
            <a:off x="4425696" y="3648456"/>
            <a:ext cx="3538728" cy="201168"/>
          </a:xfrm>
          <a:prstGeom prst="rect">
            <a:avLst/>
          </a:prstGeom>
          <a:noFill/>
          <a:ln/>
        </p:spPr>
        <p:txBody>
          <a:bodyPr wrap="square" lIns="0" tIns="0" rIns="0" bIns="0" rtlCol="0" anchor="ctr"/>
          <a:lstStyle/>
          <a:p>
            <a:pPr marL="0" indent="0">
              <a:buNone/>
            </a:pPr>
            <a:r>
              <a:rPr lang="en-US" sz="880" b="1" dirty="0">
                <a:solidFill>
                  <a:srgbClr val="B4550F"/>
                </a:solidFill>
                <a:latin typeface="Calibri" pitchFamily="34" charset="0"/>
                <a:ea typeface="Calibri" pitchFamily="34" charset="-122"/>
                <a:cs typeface="Calibri" pitchFamily="34" charset="-120"/>
              </a:rPr>
              <a:t>Round 3 — Typos &amp; abbreviations</a:t>
            </a:r>
            <a:endParaRPr lang="en-US" sz="880" dirty="0"/>
          </a:p>
        </p:txBody>
      </p:sp>
      <p:sp>
        <p:nvSpPr>
          <p:cNvPr id="28" name="Text 26"/>
          <p:cNvSpPr/>
          <p:nvPr/>
        </p:nvSpPr>
        <p:spPr>
          <a:xfrm>
            <a:off x="4425696" y="3849624"/>
            <a:ext cx="3538728" cy="201168"/>
          </a:xfrm>
          <a:prstGeom prst="rect">
            <a:avLst/>
          </a:prstGeom>
          <a:noFill/>
          <a:ln/>
        </p:spPr>
        <p:txBody>
          <a:bodyPr wrap="square" lIns="0" tIns="0" rIns="0" bIns="0" rtlCol="0" anchor="ctr"/>
          <a:lstStyle/>
          <a:p>
            <a:pPr marL="0" indent="0">
              <a:buNone/>
            </a:pPr>
            <a:r>
              <a:rPr lang="en-US" sz="830" i="1" dirty="0">
                <a:solidFill>
                  <a:srgbClr val="5C4A3D"/>
                </a:solidFill>
                <a:latin typeface="Calibri" pitchFamily="34" charset="0"/>
                <a:ea typeface="Calibri" pitchFamily="34" charset="-122"/>
                <a:cs typeface="Calibri" pitchFamily="34" charset="-120"/>
              </a:rPr>
              <a:t>“I need FP services”</a:t>
            </a:r>
            <a:endParaRPr lang="en-US" sz="830" dirty="0"/>
          </a:p>
        </p:txBody>
      </p:sp>
      <p:sp>
        <p:nvSpPr>
          <p:cNvPr id="29" name="Text 27"/>
          <p:cNvSpPr/>
          <p:nvPr/>
        </p:nvSpPr>
        <p:spPr>
          <a:xfrm>
            <a:off x="4425696" y="4059936"/>
            <a:ext cx="3538728" cy="292608"/>
          </a:xfrm>
          <a:prstGeom prst="rect">
            <a:avLst/>
          </a:prstGeom>
          <a:noFill/>
          <a:ln/>
        </p:spPr>
        <p:txBody>
          <a:bodyPr wrap="square" lIns="0" tIns="0" rIns="0" bIns="0" rtlCol="0" anchor="ctr"/>
          <a:lstStyle/>
          <a:p>
            <a:pPr marL="0" indent="0">
              <a:lnSpc>
                <a:spcPct val="105000"/>
              </a:lnSpc>
              <a:buNone/>
            </a:pPr>
            <a:r>
              <a:rPr lang="en-US" sz="770" dirty="0">
                <a:solidFill>
                  <a:srgbClr val="3A2E26"/>
                </a:solidFill>
                <a:latin typeface="Calibri" pitchFamily="34" charset="0"/>
                <a:ea typeface="Calibri" pitchFamily="34" charset="-122"/>
                <a:cs typeface="Calibri" pitchFamily="34" charset="-120"/>
              </a:rPr>
              <a:t>Tested resilience to shorthand — hybrid handled it, single methods struggled.</a:t>
            </a:r>
            <a:endParaRPr lang="en-US" sz="770" dirty="0"/>
          </a:p>
        </p:txBody>
      </p:sp>
      <p:sp>
        <p:nvSpPr>
          <p:cNvPr id="30" name="Shape 28"/>
          <p:cNvSpPr/>
          <p:nvPr/>
        </p:nvSpPr>
        <p:spPr>
          <a:xfrm>
            <a:off x="4297680" y="4453128"/>
            <a:ext cx="3794760" cy="777240"/>
          </a:xfrm>
          <a:prstGeom prst="roundRect">
            <a:avLst>
              <a:gd name="adj" fmla="val 7059"/>
            </a:avLst>
          </a:prstGeom>
          <a:solidFill>
            <a:srgbClr val="FBE8D6"/>
          </a:solidFill>
          <a:ln/>
        </p:spPr>
      </p:sp>
      <p:sp>
        <p:nvSpPr>
          <p:cNvPr id="31" name="Text 29"/>
          <p:cNvSpPr/>
          <p:nvPr/>
        </p:nvSpPr>
        <p:spPr>
          <a:xfrm>
            <a:off x="4425696" y="4498848"/>
            <a:ext cx="3538728" cy="201168"/>
          </a:xfrm>
          <a:prstGeom prst="rect">
            <a:avLst/>
          </a:prstGeom>
          <a:noFill/>
          <a:ln/>
        </p:spPr>
        <p:txBody>
          <a:bodyPr wrap="square" lIns="0" tIns="0" rIns="0" bIns="0" rtlCol="0" anchor="ctr"/>
          <a:lstStyle/>
          <a:p>
            <a:pPr marL="0" indent="0">
              <a:buNone/>
            </a:pPr>
            <a:r>
              <a:rPr lang="en-US" sz="880" b="1" dirty="0">
                <a:solidFill>
                  <a:srgbClr val="B4550F"/>
                </a:solidFill>
                <a:latin typeface="Calibri" pitchFamily="34" charset="0"/>
                <a:ea typeface="Calibri" pitchFamily="34" charset="-122"/>
                <a:cs typeface="Calibri" pitchFamily="34" charset="-120"/>
              </a:rPr>
              <a:t>Round 4 — Hidden intent, indirect</a:t>
            </a:r>
            <a:endParaRPr lang="en-US" sz="880" dirty="0"/>
          </a:p>
        </p:txBody>
      </p:sp>
      <p:sp>
        <p:nvSpPr>
          <p:cNvPr id="32" name="Text 30"/>
          <p:cNvSpPr/>
          <p:nvPr/>
        </p:nvSpPr>
        <p:spPr>
          <a:xfrm>
            <a:off x="4425696" y="4700016"/>
            <a:ext cx="3538728" cy="201168"/>
          </a:xfrm>
          <a:prstGeom prst="rect">
            <a:avLst/>
          </a:prstGeom>
          <a:noFill/>
          <a:ln/>
        </p:spPr>
        <p:txBody>
          <a:bodyPr wrap="square" lIns="0" tIns="0" rIns="0" bIns="0" rtlCol="0" anchor="ctr"/>
          <a:lstStyle/>
          <a:p>
            <a:pPr marL="0" indent="0">
              <a:buNone/>
            </a:pPr>
            <a:r>
              <a:rPr lang="en-US" sz="830" i="1" dirty="0">
                <a:solidFill>
                  <a:srgbClr val="5C4A3D"/>
                </a:solidFill>
                <a:latin typeface="Calibri" pitchFamily="34" charset="0"/>
                <a:ea typeface="Calibri" pitchFamily="34" charset="-122"/>
                <a:cs typeface="Calibri" pitchFamily="34" charset="-120"/>
              </a:rPr>
              <a:t>“my wife missed her period...”</a:t>
            </a:r>
            <a:endParaRPr lang="en-US" sz="830" dirty="0"/>
          </a:p>
        </p:txBody>
      </p:sp>
      <p:sp>
        <p:nvSpPr>
          <p:cNvPr id="33" name="Text 31"/>
          <p:cNvSpPr/>
          <p:nvPr/>
        </p:nvSpPr>
        <p:spPr>
          <a:xfrm>
            <a:off x="4425696" y="4910328"/>
            <a:ext cx="3538728" cy="292608"/>
          </a:xfrm>
          <a:prstGeom prst="rect">
            <a:avLst/>
          </a:prstGeom>
          <a:noFill/>
          <a:ln/>
        </p:spPr>
        <p:txBody>
          <a:bodyPr wrap="square" lIns="0" tIns="0" rIns="0" bIns="0" rtlCol="0" anchor="ctr"/>
          <a:lstStyle/>
          <a:p>
            <a:pPr marL="0" indent="0">
              <a:lnSpc>
                <a:spcPct val="105000"/>
              </a:lnSpc>
              <a:buNone/>
            </a:pPr>
            <a:r>
              <a:rPr lang="en-US" sz="770" dirty="0">
                <a:solidFill>
                  <a:srgbClr val="3A2E26"/>
                </a:solidFill>
                <a:latin typeface="Calibri" pitchFamily="34" charset="0"/>
                <a:ea typeface="Calibri" pitchFamily="34" charset="-122"/>
                <a:cs typeface="Calibri" pitchFamily="34" charset="-120"/>
              </a:rPr>
              <a:t>The hardest case — required the clinical signal boost to surface correctly.</a:t>
            </a:r>
            <a:endParaRPr lang="en-US" sz="770" dirty="0"/>
          </a:p>
        </p:txBody>
      </p:sp>
      <p:sp>
        <p:nvSpPr>
          <p:cNvPr id="34" name="Text 32"/>
          <p:cNvSpPr/>
          <p:nvPr/>
        </p:nvSpPr>
        <p:spPr>
          <a:xfrm>
            <a:off x="8321040" y="1600200"/>
            <a:ext cx="3322015" cy="237744"/>
          </a:xfrm>
          <a:prstGeom prst="rect">
            <a:avLst/>
          </a:prstGeom>
          <a:noFill/>
          <a:ln/>
        </p:spPr>
        <p:txBody>
          <a:bodyPr wrap="square" lIns="0" tIns="0" rIns="0" bIns="0" rtlCol="0" anchor="ctr"/>
          <a:lstStyle/>
          <a:p>
            <a:pPr marL="0" indent="0">
              <a:buNone/>
            </a:pPr>
            <a:r>
              <a:rPr lang="en-US" sz="1080" b="1" dirty="0">
                <a:solidFill>
                  <a:srgbClr val="241611"/>
                </a:solidFill>
                <a:latin typeface="Calibri" pitchFamily="34" charset="0"/>
                <a:ea typeface="Calibri" pitchFamily="34" charset="-122"/>
                <a:cs typeface="Calibri" pitchFamily="34" charset="-120"/>
              </a:rPr>
              <a:t>From Raw Registry to a Working Tool</a:t>
            </a:r>
            <a:endParaRPr lang="en-US" sz="1080" dirty="0"/>
          </a:p>
        </p:txBody>
      </p:sp>
      <p:sp>
        <p:nvSpPr>
          <p:cNvPr id="35" name="Shape 33"/>
          <p:cNvSpPr/>
          <p:nvPr/>
        </p:nvSpPr>
        <p:spPr>
          <a:xfrm>
            <a:off x="8321040" y="1901952"/>
            <a:ext cx="1592428" cy="932688"/>
          </a:xfrm>
          <a:prstGeom prst="roundRect">
            <a:avLst>
              <a:gd name="adj" fmla="val 6863"/>
            </a:avLst>
          </a:prstGeom>
          <a:solidFill>
            <a:srgbClr val="FBE8D6"/>
          </a:solidFill>
          <a:ln/>
        </p:spPr>
      </p:sp>
      <p:sp>
        <p:nvSpPr>
          <p:cNvPr id="36" name="Text 34"/>
          <p:cNvSpPr/>
          <p:nvPr/>
        </p:nvSpPr>
        <p:spPr>
          <a:xfrm>
            <a:off x="8439912" y="1975104"/>
            <a:ext cx="1354684" cy="391729"/>
          </a:xfrm>
          <a:prstGeom prst="rect">
            <a:avLst/>
          </a:prstGeom>
          <a:noFill/>
          <a:ln/>
        </p:spPr>
        <p:txBody>
          <a:bodyPr wrap="square" lIns="0" tIns="0" rIns="0" bIns="0" rtlCol="0" anchor="ctr"/>
          <a:lstStyle/>
          <a:p>
            <a:pPr marL="0" indent="0">
              <a:buNone/>
            </a:pPr>
            <a:r>
              <a:rPr lang="en-US" sz="1500" b="1" dirty="0">
                <a:solidFill>
                  <a:srgbClr val="B4550F"/>
                </a:solidFill>
                <a:latin typeface="Cambria" pitchFamily="34" charset="0"/>
                <a:ea typeface="Cambria" pitchFamily="34" charset="-122"/>
                <a:cs typeface="Cambria" pitchFamily="34" charset="-120"/>
              </a:rPr>
              <a:t>12,050</a:t>
            </a:r>
            <a:endParaRPr lang="en-US" sz="1500" dirty="0"/>
          </a:p>
        </p:txBody>
      </p:sp>
      <p:sp>
        <p:nvSpPr>
          <p:cNvPr id="37" name="Text 35"/>
          <p:cNvSpPr/>
          <p:nvPr/>
        </p:nvSpPr>
        <p:spPr>
          <a:xfrm>
            <a:off x="8439912" y="2312335"/>
            <a:ext cx="1354684" cy="484998"/>
          </a:xfrm>
          <a:prstGeom prst="rect">
            <a:avLst/>
          </a:prstGeom>
          <a:noFill/>
          <a:ln/>
        </p:spPr>
        <p:txBody>
          <a:bodyPr wrap="square" lIns="0" tIns="0" rIns="0" bIns="0" rtlCol="0" anchor="t"/>
          <a:lstStyle/>
          <a:p>
            <a:pPr marL="0" indent="0">
              <a:lnSpc>
                <a:spcPct val="102000"/>
              </a:lnSpc>
              <a:buNone/>
            </a:pPr>
            <a:r>
              <a:rPr lang="en-US" sz="760" dirty="0">
                <a:solidFill>
                  <a:srgbClr val="5C4A3D"/>
                </a:solidFill>
                <a:latin typeface="Calibri" pitchFamily="34" charset="0"/>
                <a:ea typeface="Calibri" pitchFamily="34" charset="-122"/>
                <a:cs typeface="Calibri" pitchFamily="34" charset="-120"/>
              </a:rPr>
              <a:t>facilities profiled in the Master List</a:t>
            </a:r>
            <a:endParaRPr lang="en-US" sz="760" dirty="0"/>
          </a:p>
        </p:txBody>
      </p:sp>
      <p:sp>
        <p:nvSpPr>
          <p:cNvPr id="38" name="Shape 36"/>
          <p:cNvSpPr/>
          <p:nvPr/>
        </p:nvSpPr>
        <p:spPr>
          <a:xfrm>
            <a:off x="10050628" y="1901952"/>
            <a:ext cx="1592428" cy="932688"/>
          </a:xfrm>
          <a:prstGeom prst="roundRect">
            <a:avLst>
              <a:gd name="adj" fmla="val 6863"/>
            </a:avLst>
          </a:prstGeom>
          <a:solidFill>
            <a:srgbClr val="FBE8D6"/>
          </a:solidFill>
          <a:ln/>
        </p:spPr>
      </p:sp>
      <p:sp>
        <p:nvSpPr>
          <p:cNvPr id="39" name="Text 37"/>
          <p:cNvSpPr/>
          <p:nvPr/>
        </p:nvSpPr>
        <p:spPr>
          <a:xfrm>
            <a:off x="10169500" y="1975104"/>
            <a:ext cx="1354684" cy="391729"/>
          </a:xfrm>
          <a:prstGeom prst="rect">
            <a:avLst/>
          </a:prstGeom>
          <a:noFill/>
          <a:ln/>
        </p:spPr>
        <p:txBody>
          <a:bodyPr wrap="square" lIns="0" tIns="0" rIns="0" bIns="0" rtlCol="0" anchor="ctr"/>
          <a:lstStyle/>
          <a:p>
            <a:pPr marL="0" indent="0">
              <a:buNone/>
            </a:pPr>
            <a:r>
              <a:rPr lang="en-US" sz="1500" b="1" dirty="0">
                <a:solidFill>
                  <a:srgbClr val="B4550F"/>
                </a:solidFill>
                <a:latin typeface="Cambria" pitchFamily="34" charset="0"/>
                <a:ea typeface="Cambria" pitchFamily="34" charset="-122"/>
                <a:cs typeface="Cambria" pitchFamily="34" charset="-120"/>
              </a:rPr>
              <a:t>205,078</a:t>
            </a:r>
            <a:endParaRPr lang="en-US" sz="1500" dirty="0"/>
          </a:p>
        </p:txBody>
      </p:sp>
      <p:sp>
        <p:nvSpPr>
          <p:cNvPr id="40" name="Text 38"/>
          <p:cNvSpPr/>
          <p:nvPr/>
        </p:nvSpPr>
        <p:spPr>
          <a:xfrm>
            <a:off x="10169500" y="2312335"/>
            <a:ext cx="1354684" cy="484998"/>
          </a:xfrm>
          <a:prstGeom prst="rect">
            <a:avLst/>
          </a:prstGeom>
          <a:noFill/>
          <a:ln/>
        </p:spPr>
        <p:txBody>
          <a:bodyPr wrap="square" lIns="0" tIns="0" rIns="0" bIns="0" rtlCol="0" anchor="t"/>
          <a:lstStyle/>
          <a:p>
            <a:pPr marL="0" indent="0">
              <a:lnSpc>
                <a:spcPct val="102000"/>
              </a:lnSpc>
              <a:buNone/>
            </a:pPr>
            <a:r>
              <a:rPr lang="en-US" sz="760" dirty="0">
                <a:solidFill>
                  <a:srgbClr val="5C4A3D"/>
                </a:solidFill>
                <a:latin typeface="Calibri" pitchFamily="34" charset="0"/>
                <a:ea typeface="Calibri" pitchFamily="34" charset="-122"/>
                <a:cs typeface="Calibri" pitchFamily="34" charset="-120"/>
              </a:rPr>
              <a:t>cleaned, standardized service records</a:t>
            </a:r>
            <a:endParaRPr lang="en-US" sz="760" dirty="0"/>
          </a:p>
        </p:txBody>
      </p:sp>
      <p:sp>
        <p:nvSpPr>
          <p:cNvPr id="41" name="Shape 39"/>
          <p:cNvSpPr/>
          <p:nvPr/>
        </p:nvSpPr>
        <p:spPr>
          <a:xfrm>
            <a:off x="8321040" y="2926080"/>
            <a:ext cx="1592428" cy="932688"/>
          </a:xfrm>
          <a:prstGeom prst="roundRect">
            <a:avLst>
              <a:gd name="adj" fmla="val 6863"/>
            </a:avLst>
          </a:prstGeom>
          <a:solidFill>
            <a:srgbClr val="FBE8D6"/>
          </a:solidFill>
          <a:ln/>
        </p:spPr>
      </p:sp>
      <p:sp>
        <p:nvSpPr>
          <p:cNvPr id="42" name="Text 40"/>
          <p:cNvSpPr/>
          <p:nvPr/>
        </p:nvSpPr>
        <p:spPr>
          <a:xfrm>
            <a:off x="8439912" y="2999232"/>
            <a:ext cx="1354684" cy="391729"/>
          </a:xfrm>
          <a:prstGeom prst="rect">
            <a:avLst/>
          </a:prstGeom>
          <a:noFill/>
          <a:ln/>
        </p:spPr>
        <p:txBody>
          <a:bodyPr wrap="square" lIns="0" tIns="0" rIns="0" bIns="0" rtlCol="0" anchor="ctr"/>
          <a:lstStyle/>
          <a:p>
            <a:pPr marL="0" indent="0">
              <a:buNone/>
            </a:pPr>
            <a:r>
              <a:rPr lang="en-US" sz="1500" b="1" dirty="0">
                <a:solidFill>
                  <a:srgbClr val="B4550F"/>
                </a:solidFill>
                <a:latin typeface="Cambria" pitchFamily="34" charset="0"/>
                <a:ea typeface="Cambria" pitchFamily="34" charset="-122"/>
                <a:cs typeface="Cambria" pitchFamily="34" charset="-120"/>
              </a:rPr>
              <a:t>340</a:t>
            </a:r>
            <a:endParaRPr lang="en-US" sz="1500" dirty="0"/>
          </a:p>
        </p:txBody>
      </p:sp>
      <p:sp>
        <p:nvSpPr>
          <p:cNvPr id="43" name="Text 41"/>
          <p:cNvSpPr/>
          <p:nvPr/>
        </p:nvSpPr>
        <p:spPr>
          <a:xfrm>
            <a:off x="8439912" y="3336463"/>
            <a:ext cx="1354684" cy="484998"/>
          </a:xfrm>
          <a:prstGeom prst="rect">
            <a:avLst/>
          </a:prstGeom>
          <a:noFill/>
          <a:ln/>
        </p:spPr>
        <p:txBody>
          <a:bodyPr wrap="square" lIns="0" tIns="0" rIns="0" bIns="0" rtlCol="0" anchor="t"/>
          <a:lstStyle/>
          <a:p>
            <a:pPr marL="0" indent="0">
              <a:lnSpc>
                <a:spcPct val="102000"/>
              </a:lnSpc>
              <a:buNone/>
            </a:pPr>
            <a:r>
              <a:rPr lang="en-US" sz="760" dirty="0">
                <a:solidFill>
                  <a:srgbClr val="5C4A3D"/>
                </a:solidFill>
                <a:latin typeface="Calibri" pitchFamily="34" charset="0"/>
                <a:ea typeface="Calibri" pitchFamily="34" charset="-122"/>
                <a:cs typeface="Calibri" pitchFamily="34" charset="-120"/>
              </a:rPr>
              <a:t>health needs mapped in the taxonomy</a:t>
            </a:r>
            <a:endParaRPr lang="en-US" sz="760" dirty="0"/>
          </a:p>
        </p:txBody>
      </p:sp>
      <p:sp>
        <p:nvSpPr>
          <p:cNvPr id="44" name="Shape 42"/>
          <p:cNvSpPr/>
          <p:nvPr/>
        </p:nvSpPr>
        <p:spPr>
          <a:xfrm>
            <a:off x="10050628" y="2926080"/>
            <a:ext cx="1592428" cy="932688"/>
          </a:xfrm>
          <a:prstGeom prst="roundRect">
            <a:avLst>
              <a:gd name="adj" fmla="val 6863"/>
            </a:avLst>
          </a:prstGeom>
          <a:solidFill>
            <a:srgbClr val="FBE8D6"/>
          </a:solidFill>
          <a:ln/>
        </p:spPr>
      </p:sp>
      <p:sp>
        <p:nvSpPr>
          <p:cNvPr id="45" name="Text 43"/>
          <p:cNvSpPr/>
          <p:nvPr/>
        </p:nvSpPr>
        <p:spPr>
          <a:xfrm>
            <a:off x="10169500" y="2999232"/>
            <a:ext cx="1354684" cy="391729"/>
          </a:xfrm>
          <a:prstGeom prst="rect">
            <a:avLst/>
          </a:prstGeom>
          <a:noFill/>
          <a:ln/>
        </p:spPr>
        <p:txBody>
          <a:bodyPr wrap="square" lIns="0" tIns="0" rIns="0" bIns="0" rtlCol="0" anchor="ctr"/>
          <a:lstStyle/>
          <a:p>
            <a:pPr marL="0" indent="0">
              <a:buNone/>
            </a:pPr>
            <a:r>
              <a:rPr lang="en-US" sz="1500" b="1" dirty="0">
                <a:solidFill>
                  <a:srgbClr val="B4550F"/>
                </a:solidFill>
                <a:latin typeface="Cambria" pitchFamily="34" charset="0"/>
                <a:ea typeface="Cambria" pitchFamily="34" charset="-122"/>
                <a:cs typeface="Cambria" pitchFamily="34" charset="-120"/>
              </a:rPr>
              <a:t>3</a:t>
            </a:r>
            <a:endParaRPr lang="en-US" sz="1500" dirty="0"/>
          </a:p>
        </p:txBody>
      </p:sp>
      <p:sp>
        <p:nvSpPr>
          <p:cNvPr id="46" name="Text 44"/>
          <p:cNvSpPr/>
          <p:nvPr/>
        </p:nvSpPr>
        <p:spPr>
          <a:xfrm>
            <a:off x="10169500" y="3336463"/>
            <a:ext cx="1354684" cy="484998"/>
          </a:xfrm>
          <a:prstGeom prst="rect">
            <a:avLst/>
          </a:prstGeom>
          <a:noFill/>
          <a:ln/>
        </p:spPr>
        <p:txBody>
          <a:bodyPr wrap="square" lIns="0" tIns="0" rIns="0" bIns="0" rtlCol="0" anchor="t"/>
          <a:lstStyle/>
          <a:p>
            <a:pPr marL="0" indent="0">
              <a:lnSpc>
                <a:spcPct val="102000"/>
              </a:lnSpc>
              <a:buNone/>
            </a:pPr>
            <a:r>
              <a:rPr lang="en-US" sz="760" dirty="0">
                <a:solidFill>
                  <a:srgbClr val="5C4A3D"/>
                </a:solidFill>
                <a:latin typeface="Calibri" pitchFamily="34" charset="0"/>
                <a:ea typeface="Calibri" pitchFamily="34" charset="-122"/>
                <a:cs typeface="Calibri" pitchFamily="34" charset="-120"/>
              </a:rPr>
              <a:t>matching strategies built and compared</a:t>
            </a:r>
            <a:endParaRPr lang="en-US" sz="760" dirty="0"/>
          </a:p>
        </p:txBody>
      </p:sp>
      <p:sp>
        <p:nvSpPr>
          <p:cNvPr id="47" name="Shape 45"/>
          <p:cNvSpPr/>
          <p:nvPr/>
        </p:nvSpPr>
        <p:spPr>
          <a:xfrm>
            <a:off x="8321040" y="3950208"/>
            <a:ext cx="1592428" cy="932688"/>
          </a:xfrm>
          <a:prstGeom prst="roundRect">
            <a:avLst>
              <a:gd name="adj" fmla="val 6863"/>
            </a:avLst>
          </a:prstGeom>
          <a:solidFill>
            <a:srgbClr val="FBE8D6"/>
          </a:solidFill>
          <a:ln/>
        </p:spPr>
      </p:sp>
      <p:sp>
        <p:nvSpPr>
          <p:cNvPr id="48" name="Text 46"/>
          <p:cNvSpPr/>
          <p:nvPr/>
        </p:nvSpPr>
        <p:spPr>
          <a:xfrm>
            <a:off x="8439912" y="4023360"/>
            <a:ext cx="1354684" cy="391729"/>
          </a:xfrm>
          <a:prstGeom prst="rect">
            <a:avLst/>
          </a:prstGeom>
          <a:noFill/>
          <a:ln/>
        </p:spPr>
        <p:txBody>
          <a:bodyPr wrap="square" lIns="0" tIns="0" rIns="0" bIns="0" rtlCol="0" anchor="ctr"/>
          <a:lstStyle/>
          <a:p>
            <a:pPr marL="0" indent="0">
              <a:buNone/>
            </a:pPr>
            <a:r>
              <a:rPr lang="en-US" sz="1500" b="1" dirty="0">
                <a:solidFill>
                  <a:srgbClr val="B4550F"/>
                </a:solidFill>
                <a:latin typeface="Cambria" pitchFamily="34" charset="0"/>
                <a:ea typeface="Cambria" pitchFamily="34" charset="-122"/>
                <a:cs typeface="Cambria" pitchFamily="34" charset="-120"/>
              </a:rPr>
              <a:t>1</a:t>
            </a:r>
            <a:endParaRPr lang="en-US" sz="1500" dirty="0"/>
          </a:p>
        </p:txBody>
      </p:sp>
      <p:sp>
        <p:nvSpPr>
          <p:cNvPr id="49" name="Text 47"/>
          <p:cNvSpPr/>
          <p:nvPr/>
        </p:nvSpPr>
        <p:spPr>
          <a:xfrm>
            <a:off x="8439912" y="4360591"/>
            <a:ext cx="1354684" cy="484998"/>
          </a:xfrm>
          <a:prstGeom prst="rect">
            <a:avLst/>
          </a:prstGeom>
          <a:noFill/>
          <a:ln/>
        </p:spPr>
        <p:txBody>
          <a:bodyPr wrap="square" lIns="0" tIns="0" rIns="0" bIns="0" rtlCol="0" anchor="t"/>
          <a:lstStyle/>
          <a:p>
            <a:pPr marL="0" indent="0">
              <a:lnSpc>
                <a:spcPct val="102000"/>
              </a:lnSpc>
              <a:buNone/>
            </a:pPr>
            <a:r>
              <a:rPr lang="en-US" sz="760" dirty="0">
                <a:solidFill>
                  <a:srgbClr val="5C4A3D"/>
                </a:solidFill>
                <a:latin typeface="Calibri" pitchFamily="34" charset="0"/>
                <a:ea typeface="Calibri" pitchFamily="34" charset="-122"/>
                <a:cs typeface="Calibri" pitchFamily="34" charset="-120"/>
              </a:rPr>
              <a:t>working, queryable Gradio interface</a:t>
            </a:r>
            <a:endParaRPr lang="en-US" sz="760" dirty="0"/>
          </a:p>
        </p:txBody>
      </p:sp>
      <p:sp>
        <p:nvSpPr>
          <p:cNvPr id="50" name="Shape 48"/>
          <p:cNvSpPr/>
          <p:nvPr/>
        </p:nvSpPr>
        <p:spPr>
          <a:xfrm>
            <a:off x="10050628" y="3950208"/>
            <a:ext cx="1592428" cy="932688"/>
          </a:xfrm>
          <a:prstGeom prst="roundRect">
            <a:avLst>
              <a:gd name="adj" fmla="val 6863"/>
            </a:avLst>
          </a:prstGeom>
          <a:solidFill>
            <a:srgbClr val="FBE8D6"/>
          </a:solidFill>
          <a:ln/>
        </p:spPr>
      </p:sp>
      <p:sp>
        <p:nvSpPr>
          <p:cNvPr id="51" name="Text 49"/>
          <p:cNvSpPr/>
          <p:nvPr/>
        </p:nvSpPr>
        <p:spPr>
          <a:xfrm>
            <a:off x="10169500" y="4023360"/>
            <a:ext cx="1354684" cy="391729"/>
          </a:xfrm>
          <a:prstGeom prst="rect">
            <a:avLst/>
          </a:prstGeom>
          <a:noFill/>
          <a:ln/>
        </p:spPr>
        <p:txBody>
          <a:bodyPr wrap="square" lIns="0" tIns="0" rIns="0" bIns="0" rtlCol="0" anchor="ctr"/>
          <a:lstStyle/>
          <a:p>
            <a:pPr marL="0" indent="0">
              <a:buNone/>
            </a:pPr>
            <a:r>
              <a:rPr lang="en-US" sz="1500" b="1" dirty="0">
                <a:solidFill>
                  <a:srgbClr val="B4550F"/>
                </a:solidFill>
                <a:latin typeface="Cambria" pitchFamily="34" charset="0"/>
                <a:ea typeface="Cambria" pitchFamily="34" charset="-122"/>
                <a:cs typeface="Cambria" pitchFamily="34" charset="-120"/>
              </a:rPr>
              <a:t>6</a:t>
            </a:r>
            <a:endParaRPr lang="en-US" sz="1500" dirty="0"/>
          </a:p>
        </p:txBody>
      </p:sp>
      <p:sp>
        <p:nvSpPr>
          <p:cNvPr id="52" name="Text 50"/>
          <p:cNvSpPr/>
          <p:nvPr/>
        </p:nvSpPr>
        <p:spPr>
          <a:xfrm>
            <a:off x="10169500" y="4360591"/>
            <a:ext cx="1354684" cy="484998"/>
          </a:xfrm>
          <a:prstGeom prst="rect">
            <a:avLst/>
          </a:prstGeom>
          <a:noFill/>
          <a:ln/>
        </p:spPr>
        <p:txBody>
          <a:bodyPr wrap="square" lIns="0" tIns="0" rIns="0" bIns="0" rtlCol="0" anchor="t"/>
          <a:lstStyle/>
          <a:p>
            <a:pPr marL="0" indent="0">
              <a:lnSpc>
                <a:spcPct val="102000"/>
              </a:lnSpc>
              <a:buNone/>
            </a:pPr>
            <a:r>
              <a:rPr lang="en-US" sz="760" dirty="0">
                <a:solidFill>
                  <a:srgbClr val="5C4A3D"/>
                </a:solidFill>
                <a:latin typeface="Calibri" pitchFamily="34" charset="0"/>
                <a:ea typeface="Calibri" pitchFamily="34" charset="-122"/>
                <a:cs typeface="Calibri" pitchFamily="34" charset="-120"/>
              </a:rPr>
              <a:t>KEPH levels used as a scoring input</a:t>
            </a:r>
            <a:endParaRPr lang="en-US" sz="760" dirty="0"/>
          </a:p>
        </p:txBody>
      </p:sp>
      <p:sp>
        <p:nvSpPr>
          <p:cNvPr id="53" name="Text 51"/>
          <p:cNvSpPr/>
          <p:nvPr/>
        </p:nvSpPr>
        <p:spPr>
          <a:xfrm>
            <a:off x="548640" y="6492240"/>
            <a:ext cx="2743200" cy="256032"/>
          </a:xfrm>
          <a:prstGeom prst="rect">
            <a:avLst/>
          </a:prstGeom>
          <a:noFill/>
          <a:ln/>
        </p:spPr>
        <p:txBody>
          <a:bodyPr wrap="square" lIns="0" tIns="0" rIns="0" bIns="0" rtlCol="0" anchor="ctr"/>
          <a:lstStyle/>
          <a:p>
            <a:pPr marL="0" indent="0">
              <a:buNone/>
            </a:pPr>
            <a:r>
              <a:rPr lang="en-US" sz="850" dirty="0">
                <a:solidFill>
                  <a:srgbClr val="8A7364"/>
                </a:solidFill>
                <a:latin typeface="Calibri" pitchFamily="34" charset="0"/>
                <a:ea typeface="Calibri" pitchFamily="34" charset="-122"/>
                <a:cs typeface="Calibri" pitchFamily="34" charset="-120"/>
              </a:rPr>
              <a:t>AfyaGuide</a:t>
            </a:r>
            <a:endParaRPr lang="en-US" sz="850" dirty="0"/>
          </a:p>
        </p:txBody>
      </p:sp>
      <p:sp>
        <p:nvSpPr>
          <p:cNvPr id="54" name="Text 52"/>
          <p:cNvSpPr/>
          <p:nvPr/>
        </p:nvSpPr>
        <p:spPr>
          <a:xfrm>
            <a:off x="10728655" y="6492240"/>
            <a:ext cx="914400" cy="256032"/>
          </a:xfrm>
          <a:prstGeom prst="rect">
            <a:avLst/>
          </a:prstGeom>
          <a:noFill/>
          <a:ln/>
        </p:spPr>
        <p:txBody>
          <a:bodyPr wrap="square" lIns="0" tIns="0" rIns="0" bIns="0" rtlCol="0" anchor="ctr"/>
          <a:lstStyle/>
          <a:p>
            <a:pPr marL="0" indent="0" algn="r">
              <a:buNone/>
            </a:pPr>
            <a:r>
              <a:rPr lang="en-US" sz="850" dirty="0">
                <a:solidFill>
                  <a:srgbClr val="8A7364"/>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marL="0" indent="0">
              <a:buNone/>
            </a:pPr>
            <a:r>
              <a:rPr lang="en-US" sz="1100" b="1" kern="0" spc="200" dirty="0">
                <a:solidFill>
                  <a:srgbClr val="E36F1E"/>
                </a:solidFill>
                <a:latin typeface="Calibri" pitchFamily="34" charset="0"/>
                <a:ea typeface="Calibri" pitchFamily="34" charset="-122"/>
                <a:cs typeface="Calibri" pitchFamily="34" charset="-120"/>
              </a:rPr>
              <a:t>04 — LIMITATIONS &amp; RESPONSIBLE AI USE</a:t>
            </a:r>
            <a:endParaRPr lang="en-US" sz="1100" dirty="0"/>
          </a:p>
        </p:txBody>
      </p:sp>
      <p:sp>
        <p:nvSpPr>
          <p:cNvPr id="3" name="Text 1"/>
          <p:cNvSpPr/>
          <p:nvPr/>
        </p:nvSpPr>
        <p:spPr>
          <a:xfrm>
            <a:off x="548640" y="512064"/>
            <a:ext cx="11094415" cy="457200"/>
          </a:xfrm>
          <a:prstGeom prst="rect">
            <a:avLst/>
          </a:prstGeom>
          <a:noFill/>
          <a:ln/>
        </p:spPr>
        <p:txBody>
          <a:bodyPr wrap="square" lIns="0" tIns="0" rIns="0" bIns="0" rtlCol="0" anchor="ctr"/>
          <a:lstStyle/>
          <a:p>
            <a:pPr marL="0" indent="0">
              <a:buNone/>
            </a:pPr>
            <a:r>
              <a:rPr lang="en-US" sz="2400" b="1" dirty="0">
                <a:solidFill>
                  <a:srgbClr val="241611"/>
                </a:solidFill>
                <a:latin typeface="Cambria" pitchFamily="34" charset="0"/>
                <a:ea typeface="Cambria" pitchFamily="34" charset="-122"/>
                <a:cs typeface="Cambria" pitchFamily="34" charset="-120"/>
              </a:rPr>
              <a:t>Limitations &amp; Responsible AI Use</a:t>
            </a:r>
            <a:endParaRPr lang="en-US" sz="2400" dirty="0"/>
          </a:p>
        </p:txBody>
      </p:sp>
      <p:sp>
        <p:nvSpPr>
          <p:cNvPr id="4" name="Text 2"/>
          <p:cNvSpPr/>
          <p:nvPr/>
        </p:nvSpPr>
        <p:spPr>
          <a:xfrm>
            <a:off x="548640" y="987552"/>
            <a:ext cx="11094415" cy="365760"/>
          </a:xfrm>
          <a:prstGeom prst="rect">
            <a:avLst/>
          </a:prstGeom>
          <a:noFill/>
          <a:ln/>
        </p:spPr>
        <p:txBody>
          <a:bodyPr wrap="square" lIns="0" tIns="0" rIns="0" bIns="0" rtlCol="0" anchor="ctr"/>
          <a:lstStyle/>
          <a:p>
            <a:pPr marL="0" indent="0">
              <a:lnSpc>
                <a:spcPct val="112000"/>
              </a:lnSpc>
              <a:buNone/>
            </a:pPr>
            <a:r>
              <a:rPr lang="en-US" sz="1100" dirty="0">
                <a:solidFill>
                  <a:srgbClr val="4A3B31"/>
                </a:solidFill>
                <a:latin typeface="Calibri" pitchFamily="34" charset="0"/>
                <a:ea typeface="Calibri" pitchFamily="34" charset="-122"/>
                <a:cs typeface="Calibri" pitchFamily="34" charset="-120"/>
              </a:rPr>
              <a:t>AfyaGuide is a working prototype, not a finished clinical product — these are the boundaries of what it currently does, and the principles meant to govern how it's used and improved.</a:t>
            </a:r>
            <a:endParaRPr lang="en-US" sz="1100" dirty="0"/>
          </a:p>
        </p:txBody>
      </p:sp>
      <p:sp>
        <p:nvSpPr>
          <p:cNvPr id="5" name="Text 3"/>
          <p:cNvSpPr/>
          <p:nvPr/>
        </p:nvSpPr>
        <p:spPr>
          <a:xfrm>
            <a:off x="548640" y="1554480"/>
            <a:ext cx="5440680" cy="256032"/>
          </a:xfrm>
          <a:prstGeom prst="rect">
            <a:avLst/>
          </a:prstGeom>
          <a:noFill/>
          <a:ln/>
        </p:spPr>
        <p:txBody>
          <a:bodyPr wrap="square" lIns="0" tIns="0" rIns="0" bIns="0" rtlCol="0" anchor="ctr"/>
          <a:lstStyle/>
          <a:p>
            <a:pPr marL="0" indent="0">
              <a:buNone/>
            </a:pPr>
            <a:r>
              <a:rPr lang="en-US" sz="1200" b="1" dirty="0">
                <a:solidFill>
                  <a:srgbClr val="241611"/>
                </a:solidFill>
                <a:latin typeface="Calibri" pitchFamily="34" charset="0"/>
                <a:ea typeface="Calibri" pitchFamily="34" charset="-122"/>
                <a:cs typeface="Calibri" pitchFamily="34" charset="-120"/>
              </a:rPr>
              <a:t>Limitations</a:t>
            </a:r>
            <a:endParaRPr lang="en-US" sz="1200" dirty="0"/>
          </a:p>
        </p:txBody>
      </p:sp>
      <p:sp>
        <p:nvSpPr>
          <p:cNvPr id="6" name="Shape 4"/>
          <p:cNvSpPr/>
          <p:nvPr/>
        </p:nvSpPr>
        <p:spPr>
          <a:xfrm>
            <a:off x="548640" y="1847088"/>
            <a:ext cx="5440680" cy="786384"/>
          </a:xfrm>
          <a:prstGeom prst="roundRect">
            <a:avLst>
              <a:gd name="adj" fmla="val 6977"/>
            </a:avLst>
          </a:prstGeom>
          <a:solidFill>
            <a:srgbClr val="FBE8D6"/>
          </a:solidFill>
          <a:ln/>
        </p:spPr>
      </p:sp>
      <p:sp>
        <p:nvSpPr>
          <p:cNvPr id="7" name="Text 5"/>
          <p:cNvSpPr/>
          <p:nvPr/>
        </p:nvSpPr>
        <p:spPr>
          <a:xfrm>
            <a:off x="658368" y="1938528"/>
            <a:ext cx="365760" cy="603504"/>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8" name="Text 6"/>
          <p:cNvSpPr/>
          <p:nvPr/>
        </p:nvSpPr>
        <p:spPr>
          <a:xfrm>
            <a:off x="1078992" y="1920240"/>
            <a:ext cx="4754880" cy="219456"/>
          </a:xfrm>
          <a:prstGeom prst="rect">
            <a:avLst/>
          </a:prstGeom>
          <a:noFill/>
          <a:ln/>
        </p:spPr>
        <p:txBody>
          <a:bodyPr wrap="square" lIns="0" tIns="0" rIns="0" bIns="0" rtlCol="0" anchor="ctr"/>
          <a:lstStyle/>
          <a:p>
            <a:pPr marL="0" indent="0">
              <a:buNone/>
            </a:pPr>
            <a:r>
              <a:rPr lang="en-US" sz="950" b="1" dirty="0">
                <a:solidFill>
                  <a:srgbClr val="B4550F"/>
                </a:solidFill>
                <a:latin typeface="Calibri" pitchFamily="34" charset="0"/>
                <a:ea typeface="Calibri" pitchFamily="34" charset="-122"/>
                <a:cs typeface="Calibri" pitchFamily="34" charset="-120"/>
              </a:rPr>
              <a:t>Static snapshot</a:t>
            </a:r>
            <a:endParaRPr lang="en-US" sz="950" dirty="0"/>
          </a:p>
        </p:txBody>
      </p:sp>
      <p:sp>
        <p:nvSpPr>
          <p:cNvPr id="9" name="Text 7"/>
          <p:cNvSpPr/>
          <p:nvPr/>
        </p:nvSpPr>
        <p:spPr>
          <a:xfrm>
            <a:off x="1078992" y="2139696"/>
            <a:ext cx="4754880" cy="457200"/>
          </a:xfrm>
          <a:prstGeom prst="rect">
            <a:avLst/>
          </a:prstGeom>
          <a:noFill/>
          <a:ln/>
        </p:spPr>
        <p:txBody>
          <a:bodyPr wrap="square" lIns="0" tIns="0" rIns="0" bIns="0" rtlCol="0" anchor="ctr"/>
          <a:lstStyle/>
          <a:p>
            <a:pPr marL="0" indent="0">
              <a:lnSpc>
                <a:spcPct val="108000"/>
              </a:lnSpc>
              <a:buNone/>
            </a:pPr>
            <a:r>
              <a:rPr lang="en-US" sz="800" dirty="0">
                <a:solidFill>
                  <a:srgbClr val="5C4A3D"/>
                </a:solidFill>
                <a:latin typeface="Calibri" pitchFamily="34" charset="0"/>
                <a:ea typeface="Calibri" pitchFamily="34" charset="-122"/>
                <a:cs typeface="Calibri" pitchFamily="34" charset="-120"/>
              </a:rPr>
              <a:t>KMHFR data reflects a point-in-time export — it does not capture real-time stockouts, staff availability, or bed capacity.</a:t>
            </a:r>
            <a:endParaRPr lang="en-US" sz="800" dirty="0"/>
          </a:p>
        </p:txBody>
      </p:sp>
      <p:sp>
        <p:nvSpPr>
          <p:cNvPr id="10" name="Shape 8"/>
          <p:cNvSpPr/>
          <p:nvPr/>
        </p:nvSpPr>
        <p:spPr>
          <a:xfrm>
            <a:off x="548640" y="2724912"/>
            <a:ext cx="5440680" cy="786384"/>
          </a:xfrm>
          <a:prstGeom prst="roundRect">
            <a:avLst>
              <a:gd name="adj" fmla="val 6977"/>
            </a:avLst>
          </a:prstGeom>
          <a:solidFill>
            <a:srgbClr val="FBE8D6"/>
          </a:solidFill>
          <a:ln/>
        </p:spPr>
      </p:sp>
      <p:sp>
        <p:nvSpPr>
          <p:cNvPr id="11" name="Text 9"/>
          <p:cNvSpPr/>
          <p:nvPr/>
        </p:nvSpPr>
        <p:spPr>
          <a:xfrm>
            <a:off x="658368" y="2816352"/>
            <a:ext cx="365760" cy="603504"/>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2" name="Text 10"/>
          <p:cNvSpPr/>
          <p:nvPr/>
        </p:nvSpPr>
        <p:spPr>
          <a:xfrm>
            <a:off x="1078992" y="2798064"/>
            <a:ext cx="4754880" cy="219456"/>
          </a:xfrm>
          <a:prstGeom prst="rect">
            <a:avLst/>
          </a:prstGeom>
          <a:noFill/>
          <a:ln/>
        </p:spPr>
        <p:txBody>
          <a:bodyPr wrap="square" lIns="0" tIns="0" rIns="0" bIns="0" rtlCol="0" anchor="ctr"/>
          <a:lstStyle/>
          <a:p>
            <a:pPr marL="0" indent="0">
              <a:buNone/>
            </a:pPr>
            <a:r>
              <a:rPr lang="en-US" sz="950" b="1" dirty="0">
                <a:solidFill>
                  <a:srgbClr val="B4550F"/>
                </a:solidFill>
                <a:latin typeface="Calibri" pitchFamily="34" charset="0"/>
                <a:ea typeface="Calibri" pitchFamily="34" charset="-122"/>
                <a:cs typeface="Calibri" pitchFamily="34" charset="-120"/>
              </a:rPr>
              <a:t>Straight-line distance</a:t>
            </a:r>
            <a:endParaRPr lang="en-US" sz="950" dirty="0"/>
          </a:p>
        </p:txBody>
      </p:sp>
      <p:sp>
        <p:nvSpPr>
          <p:cNvPr id="13" name="Text 11"/>
          <p:cNvSpPr/>
          <p:nvPr/>
        </p:nvSpPr>
        <p:spPr>
          <a:xfrm>
            <a:off x="1078992" y="3017520"/>
            <a:ext cx="4754880" cy="457200"/>
          </a:xfrm>
          <a:prstGeom prst="rect">
            <a:avLst/>
          </a:prstGeom>
          <a:noFill/>
          <a:ln/>
        </p:spPr>
        <p:txBody>
          <a:bodyPr wrap="square" lIns="0" tIns="0" rIns="0" bIns="0" rtlCol="0" anchor="ctr"/>
          <a:lstStyle/>
          <a:p>
            <a:pPr marL="0" indent="0">
              <a:lnSpc>
                <a:spcPct val="108000"/>
              </a:lnSpc>
              <a:buNone/>
            </a:pPr>
            <a:r>
              <a:rPr lang="en-US" sz="800" dirty="0">
                <a:solidFill>
                  <a:srgbClr val="5C4A3D"/>
                </a:solidFill>
                <a:latin typeface="Calibri" pitchFamily="34" charset="0"/>
                <a:ea typeface="Calibri" pitchFamily="34" charset="-122"/>
                <a:cs typeface="Calibri" pitchFamily="34" charset="-120"/>
              </a:rPr>
              <a:t>Distance scoring uses Haversine (as-the-crow-flies) distance, not actual road conditions or realistic travel time.</a:t>
            </a:r>
            <a:endParaRPr lang="en-US" sz="800" dirty="0"/>
          </a:p>
        </p:txBody>
      </p:sp>
      <p:sp>
        <p:nvSpPr>
          <p:cNvPr id="14" name="Shape 12"/>
          <p:cNvSpPr/>
          <p:nvPr/>
        </p:nvSpPr>
        <p:spPr>
          <a:xfrm>
            <a:off x="548640" y="3602736"/>
            <a:ext cx="5440680" cy="786384"/>
          </a:xfrm>
          <a:prstGeom prst="roundRect">
            <a:avLst>
              <a:gd name="adj" fmla="val 6977"/>
            </a:avLst>
          </a:prstGeom>
          <a:solidFill>
            <a:srgbClr val="FBE8D6"/>
          </a:solidFill>
          <a:ln/>
        </p:spPr>
      </p:sp>
      <p:sp>
        <p:nvSpPr>
          <p:cNvPr id="15" name="Text 13"/>
          <p:cNvSpPr/>
          <p:nvPr/>
        </p:nvSpPr>
        <p:spPr>
          <a:xfrm>
            <a:off x="658368" y="3694176"/>
            <a:ext cx="365760" cy="603504"/>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6" name="Text 14"/>
          <p:cNvSpPr/>
          <p:nvPr/>
        </p:nvSpPr>
        <p:spPr>
          <a:xfrm>
            <a:off x="1078992" y="3675888"/>
            <a:ext cx="4754880" cy="219456"/>
          </a:xfrm>
          <a:prstGeom prst="rect">
            <a:avLst/>
          </a:prstGeom>
          <a:noFill/>
          <a:ln/>
        </p:spPr>
        <p:txBody>
          <a:bodyPr wrap="square" lIns="0" tIns="0" rIns="0" bIns="0" rtlCol="0" anchor="ctr"/>
          <a:lstStyle/>
          <a:p>
            <a:pPr marL="0" indent="0">
              <a:buNone/>
            </a:pPr>
            <a:r>
              <a:rPr lang="en-US" sz="950" b="1" dirty="0">
                <a:solidFill>
                  <a:srgbClr val="B4550F"/>
                </a:solidFill>
                <a:latin typeface="Calibri" pitchFamily="34" charset="0"/>
                <a:ea typeface="Calibri" pitchFamily="34" charset="-122"/>
                <a:cs typeface="Calibri" pitchFamily="34" charset="-120"/>
              </a:rPr>
              <a:t>Matching isn't perfect</a:t>
            </a:r>
            <a:endParaRPr lang="en-US" sz="950" dirty="0"/>
          </a:p>
        </p:txBody>
      </p:sp>
      <p:sp>
        <p:nvSpPr>
          <p:cNvPr id="17" name="Text 15"/>
          <p:cNvSpPr/>
          <p:nvPr/>
        </p:nvSpPr>
        <p:spPr>
          <a:xfrm>
            <a:off x="1078992" y="3895344"/>
            <a:ext cx="4754880" cy="457200"/>
          </a:xfrm>
          <a:prstGeom prst="rect">
            <a:avLst/>
          </a:prstGeom>
          <a:noFill/>
          <a:ln/>
        </p:spPr>
        <p:txBody>
          <a:bodyPr wrap="square" lIns="0" tIns="0" rIns="0" bIns="0" rtlCol="0" anchor="ctr"/>
          <a:lstStyle/>
          <a:p>
            <a:pPr marL="0" indent="0">
              <a:lnSpc>
                <a:spcPct val="108000"/>
              </a:lnSpc>
              <a:buNone/>
            </a:pPr>
            <a:r>
              <a:rPr lang="en-US" sz="800" dirty="0">
                <a:solidFill>
                  <a:srgbClr val="5C4A3D"/>
                </a:solidFill>
                <a:latin typeface="Calibri" pitchFamily="34" charset="0"/>
                <a:ea typeface="Calibri" pitchFamily="34" charset="-122"/>
                <a:cs typeface="Calibri" pitchFamily="34" charset="-120"/>
              </a:rPr>
              <a:t>Fuzzy, TF-IDF, and hybrid matching can still misread highly ambiguous, vague, or indirect phrasing.</a:t>
            </a:r>
            <a:endParaRPr lang="en-US" sz="800" dirty="0"/>
          </a:p>
        </p:txBody>
      </p:sp>
      <p:sp>
        <p:nvSpPr>
          <p:cNvPr id="18" name="Shape 16"/>
          <p:cNvSpPr/>
          <p:nvPr/>
        </p:nvSpPr>
        <p:spPr>
          <a:xfrm>
            <a:off x="548640" y="4480560"/>
            <a:ext cx="5440680" cy="786384"/>
          </a:xfrm>
          <a:prstGeom prst="roundRect">
            <a:avLst>
              <a:gd name="adj" fmla="val 6977"/>
            </a:avLst>
          </a:prstGeom>
          <a:solidFill>
            <a:srgbClr val="FBE8D6"/>
          </a:solidFill>
          <a:ln/>
        </p:spPr>
      </p:sp>
      <p:sp>
        <p:nvSpPr>
          <p:cNvPr id="19" name="Text 17"/>
          <p:cNvSpPr/>
          <p:nvPr/>
        </p:nvSpPr>
        <p:spPr>
          <a:xfrm>
            <a:off x="658368" y="4572000"/>
            <a:ext cx="365760" cy="603504"/>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0" name="Text 18"/>
          <p:cNvSpPr/>
          <p:nvPr/>
        </p:nvSpPr>
        <p:spPr>
          <a:xfrm>
            <a:off x="1078992" y="4553712"/>
            <a:ext cx="4754880" cy="219456"/>
          </a:xfrm>
          <a:prstGeom prst="rect">
            <a:avLst/>
          </a:prstGeom>
          <a:noFill/>
          <a:ln/>
        </p:spPr>
        <p:txBody>
          <a:bodyPr wrap="square" lIns="0" tIns="0" rIns="0" bIns="0" rtlCol="0" anchor="ctr"/>
          <a:lstStyle/>
          <a:p>
            <a:pPr marL="0" indent="0">
              <a:buNone/>
            </a:pPr>
            <a:r>
              <a:rPr lang="en-US" sz="950" b="1" dirty="0">
                <a:solidFill>
                  <a:srgbClr val="B4550F"/>
                </a:solidFill>
                <a:latin typeface="Calibri" pitchFamily="34" charset="0"/>
                <a:ea typeface="Calibri" pitchFamily="34" charset="-122"/>
                <a:cs typeface="Calibri" pitchFamily="34" charset="-120"/>
              </a:rPr>
              <a:t>English-only input</a:t>
            </a:r>
            <a:endParaRPr lang="en-US" sz="950" dirty="0"/>
          </a:p>
        </p:txBody>
      </p:sp>
      <p:sp>
        <p:nvSpPr>
          <p:cNvPr id="21" name="Text 19"/>
          <p:cNvSpPr/>
          <p:nvPr/>
        </p:nvSpPr>
        <p:spPr>
          <a:xfrm>
            <a:off x="1078992" y="4773168"/>
            <a:ext cx="4754880" cy="457200"/>
          </a:xfrm>
          <a:prstGeom prst="rect">
            <a:avLst/>
          </a:prstGeom>
          <a:noFill/>
          <a:ln/>
        </p:spPr>
        <p:txBody>
          <a:bodyPr wrap="square" lIns="0" tIns="0" rIns="0" bIns="0" rtlCol="0" anchor="ctr"/>
          <a:lstStyle/>
          <a:p>
            <a:pPr marL="0" indent="0">
              <a:lnSpc>
                <a:spcPct val="108000"/>
              </a:lnSpc>
              <a:buNone/>
            </a:pPr>
            <a:r>
              <a:rPr lang="en-US" sz="800" dirty="0">
                <a:solidFill>
                  <a:srgbClr val="5C4A3D"/>
                </a:solidFill>
                <a:latin typeface="Calibri" pitchFamily="34" charset="0"/>
                <a:ea typeface="Calibri" pitchFamily="34" charset="-122"/>
                <a:cs typeface="Calibri" pitchFamily="34" charset="-120"/>
              </a:rPr>
              <a:t>The matcher hasn't yet been tested on Swahili, Sheng, or the mixed-language queries common in everyday use.</a:t>
            </a:r>
            <a:endParaRPr lang="en-US" sz="800" dirty="0"/>
          </a:p>
        </p:txBody>
      </p:sp>
      <p:sp>
        <p:nvSpPr>
          <p:cNvPr id="22" name="Shape 20"/>
          <p:cNvSpPr/>
          <p:nvPr/>
        </p:nvSpPr>
        <p:spPr>
          <a:xfrm>
            <a:off x="548640" y="5358384"/>
            <a:ext cx="5440680" cy="786384"/>
          </a:xfrm>
          <a:prstGeom prst="roundRect">
            <a:avLst>
              <a:gd name="adj" fmla="val 6977"/>
            </a:avLst>
          </a:prstGeom>
          <a:solidFill>
            <a:srgbClr val="FBE8D6"/>
          </a:solidFill>
          <a:ln/>
        </p:spPr>
      </p:sp>
      <p:sp>
        <p:nvSpPr>
          <p:cNvPr id="23" name="Text 21"/>
          <p:cNvSpPr/>
          <p:nvPr/>
        </p:nvSpPr>
        <p:spPr>
          <a:xfrm>
            <a:off x="658368" y="5449824"/>
            <a:ext cx="365760" cy="603504"/>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4" name="Text 22"/>
          <p:cNvSpPr/>
          <p:nvPr/>
        </p:nvSpPr>
        <p:spPr>
          <a:xfrm>
            <a:off x="1078992" y="5431536"/>
            <a:ext cx="4754880" cy="219456"/>
          </a:xfrm>
          <a:prstGeom prst="rect">
            <a:avLst/>
          </a:prstGeom>
          <a:noFill/>
          <a:ln/>
        </p:spPr>
        <p:txBody>
          <a:bodyPr wrap="square" lIns="0" tIns="0" rIns="0" bIns="0" rtlCol="0" anchor="ctr"/>
          <a:lstStyle/>
          <a:p>
            <a:pPr marL="0" indent="0">
              <a:buNone/>
            </a:pPr>
            <a:r>
              <a:rPr lang="en-US" sz="950" b="1" dirty="0">
                <a:solidFill>
                  <a:srgbClr val="B4550F"/>
                </a:solidFill>
                <a:latin typeface="Calibri" pitchFamily="34" charset="0"/>
                <a:ea typeface="Calibri" pitchFamily="34" charset="-122"/>
                <a:cs typeface="Calibri" pitchFamily="34" charset="-120"/>
              </a:rPr>
              <a:t>Prototype stage</a:t>
            </a:r>
            <a:endParaRPr lang="en-US" sz="950" dirty="0"/>
          </a:p>
        </p:txBody>
      </p:sp>
      <p:sp>
        <p:nvSpPr>
          <p:cNvPr id="25" name="Text 23"/>
          <p:cNvSpPr/>
          <p:nvPr/>
        </p:nvSpPr>
        <p:spPr>
          <a:xfrm>
            <a:off x="1078992" y="5650992"/>
            <a:ext cx="4754880" cy="457200"/>
          </a:xfrm>
          <a:prstGeom prst="rect">
            <a:avLst/>
          </a:prstGeom>
          <a:noFill/>
          <a:ln/>
        </p:spPr>
        <p:txBody>
          <a:bodyPr wrap="square" lIns="0" tIns="0" rIns="0" bIns="0" rtlCol="0" anchor="ctr"/>
          <a:lstStyle/>
          <a:p>
            <a:pPr marL="0" indent="0">
              <a:lnSpc>
                <a:spcPct val="108000"/>
              </a:lnSpc>
              <a:buNone/>
            </a:pPr>
            <a:r>
              <a:rPr lang="en-US" sz="800" dirty="0">
                <a:solidFill>
                  <a:srgbClr val="5C4A3D"/>
                </a:solidFill>
                <a:latin typeface="Calibri" pitchFamily="34" charset="0"/>
                <a:ea typeface="Calibri" pitchFamily="34" charset="-122"/>
                <a:cs typeface="Calibri" pitchFamily="34" charset="-120"/>
              </a:rPr>
              <a:t>AfyaGuide has not been tested with real users or reviewed by a clinician — it is a capstone prototype, not a deployed clinical tool.</a:t>
            </a:r>
            <a:endParaRPr lang="en-US" sz="800" dirty="0"/>
          </a:p>
        </p:txBody>
      </p:sp>
      <p:sp>
        <p:nvSpPr>
          <p:cNvPr id="26" name="Text 24"/>
          <p:cNvSpPr/>
          <p:nvPr/>
        </p:nvSpPr>
        <p:spPr>
          <a:xfrm>
            <a:off x="6217920" y="1554480"/>
            <a:ext cx="5425135" cy="256032"/>
          </a:xfrm>
          <a:prstGeom prst="rect">
            <a:avLst/>
          </a:prstGeom>
          <a:noFill/>
          <a:ln/>
        </p:spPr>
        <p:txBody>
          <a:bodyPr wrap="square" lIns="0" tIns="0" rIns="0" bIns="0" rtlCol="0" anchor="ctr"/>
          <a:lstStyle/>
          <a:p>
            <a:pPr marL="0" indent="0">
              <a:buNone/>
            </a:pPr>
            <a:r>
              <a:rPr lang="en-US" sz="1200" b="1" dirty="0">
                <a:solidFill>
                  <a:srgbClr val="241611"/>
                </a:solidFill>
                <a:latin typeface="Calibri" pitchFamily="34" charset="0"/>
                <a:ea typeface="Calibri" pitchFamily="34" charset="-122"/>
                <a:cs typeface="Calibri" pitchFamily="34" charset="-120"/>
              </a:rPr>
              <a:t>Responsible AI Use</a:t>
            </a:r>
            <a:endParaRPr lang="en-US" sz="1200" dirty="0"/>
          </a:p>
        </p:txBody>
      </p:sp>
      <p:sp>
        <p:nvSpPr>
          <p:cNvPr id="27" name="Shape 25"/>
          <p:cNvSpPr/>
          <p:nvPr/>
        </p:nvSpPr>
        <p:spPr>
          <a:xfrm>
            <a:off x="6217920" y="1847088"/>
            <a:ext cx="5425135" cy="786384"/>
          </a:xfrm>
          <a:prstGeom prst="roundRect">
            <a:avLst>
              <a:gd name="adj" fmla="val 6977"/>
            </a:avLst>
          </a:prstGeom>
          <a:solidFill>
            <a:srgbClr val="FDF3E9"/>
          </a:solidFill>
          <a:ln w="9525">
            <a:solidFill>
              <a:srgbClr val="E9D9C8"/>
            </a:solidFill>
            <a:prstDash val="solid"/>
          </a:ln>
        </p:spPr>
      </p:sp>
      <p:sp>
        <p:nvSpPr>
          <p:cNvPr id="28" name="Text 26"/>
          <p:cNvSpPr/>
          <p:nvPr/>
        </p:nvSpPr>
        <p:spPr>
          <a:xfrm>
            <a:off x="6345936" y="1920240"/>
            <a:ext cx="5169103" cy="219456"/>
          </a:xfrm>
          <a:prstGeom prst="rect">
            <a:avLst/>
          </a:prstGeom>
          <a:noFill/>
          <a:ln/>
        </p:spPr>
        <p:txBody>
          <a:bodyPr wrap="square" lIns="0" tIns="0" rIns="0" bIns="0" rtlCol="0" anchor="ctr"/>
          <a:lstStyle/>
          <a:p>
            <a:pPr marL="0" indent="0">
              <a:buNone/>
            </a:pPr>
            <a:r>
              <a:rPr lang="en-US" sz="950" b="1" dirty="0">
                <a:solidFill>
                  <a:srgbClr val="B4550F"/>
                </a:solidFill>
                <a:latin typeface="Calibri" pitchFamily="34" charset="0"/>
                <a:ea typeface="Calibri" pitchFamily="34" charset="-122"/>
                <a:cs typeface="Calibri" pitchFamily="34" charset="-120"/>
              </a:rPr>
              <a:t>Not a diagnostic tool</a:t>
            </a:r>
            <a:endParaRPr lang="en-US" sz="950" dirty="0"/>
          </a:p>
        </p:txBody>
      </p:sp>
      <p:sp>
        <p:nvSpPr>
          <p:cNvPr id="29" name="Text 27"/>
          <p:cNvSpPr/>
          <p:nvPr/>
        </p:nvSpPr>
        <p:spPr>
          <a:xfrm>
            <a:off x="6345936" y="2139696"/>
            <a:ext cx="5169103" cy="457200"/>
          </a:xfrm>
          <a:prstGeom prst="rect">
            <a:avLst/>
          </a:prstGeom>
          <a:noFill/>
          <a:ln/>
        </p:spPr>
        <p:txBody>
          <a:bodyPr wrap="square" lIns="0" tIns="0" rIns="0" bIns="0" rtlCol="0" anchor="ctr"/>
          <a:lstStyle/>
          <a:p>
            <a:pPr marL="0" indent="0">
              <a:lnSpc>
                <a:spcPct val="108000"/>
              </a:lnSpc>
              <a:buNone/>
            </a:pPr>
            <a:r>
              <a:rPr lang="en-US" sz="800" dirty="0">
                <a:solidFill>
                  <a:srgbClr val="3A2E26"/>
                </a:solidFill>
                <a:latin typeface="Calibri" pitchFamily="34" charset="0"/>
                <a:ea typeface="Calibri" pitchFamily="34" charset="-122"/>
                <a:cs typeface="Calibri" pitchFamily="34" charset="-120"/>
              </a:rPr>
              <a:t>AfyaGuide recommends where to seek care, not what condition someone has or how urgent it is. For emergencies, contact emergency services first.</a:t>
            </a:r>
            <a:endParaRPr lang="en-US" sz="800" dirty="0"/>
          </a:p>
        </p:txBody>
      </p:sp>
      <p:sp>
        <p:nvSpPr>
          <p:cNvPr id="30" name="Shape 28"/>
          <p:cNvSpPr/>
          <p:nvPr/>
        </p:nvSpPr>
        <p:spPr>
          <a:xfrm>
            <a:off x="6217920" y="2724912"/>
            <a:ext cx="5425135" cy="786384"/>
          </a:xfrm>
          <a:prstGeom prst="roundRect">
            <a:avLst>
              <a:gd name="adj" fmla="val 6977"/>
            </a:avLst>
          </a:prstGeom>
          <a:solidFill>
            <a:srgbClr val="FDF3E9"/>
          </a:solidFill>
          <a:ln w="9525">
            <a:solidFill>
              <a:srgbClr val="E9D9C8"/>
            </a:solidFill>
            <a:prstDash val="solid"/>
          </a:ln>
        </p:spPr>
      </p:sp>
      <p:sp>
        <p:nvSpPr>
          <p:cNvPr id="31" name="Text 29"/>
          <p:cNvSpPr/>
          <p:nvPr/>
        </p:nvSpPr>
        <p:spPr>
          <a:xfrm>
            <a:off x="6345936" y="2798064"/>
            <a:ext cx="5169103" cy="219456"/>
          </a:xfrm>
          <a:prstGeom prst="rect">
            <a:avLst/>
          </a:prstGeom>
          <a:noFill/>
          <a:ln/>
        </p:spPr>
        <p:txBody>
          <a:bodyPr wrap="square" lIns="0" tIns="0" rIns="0" bIns="0" rtlCol="0" anchor="ctr"/>
          <a:lstStyle/>
          <a:p>
            <a:pPr marL="0" indent="0">
              <a:buNone/>
            </a:pPr>
            <a:r>
              <a:rPr lang="en-US" sz="950" b="1" dirty="0">
                <a:solidFill>
                  <a:srgbClr val="B4550F"/>
                </a:solidFill>
                <a:latin typeface="Calibri" pitchFamily="34" charset="0"/>
                <a:ea typeface="Calibri" pitchFamily="34" charset="-122"/>
                <a:cs typeface="Calibri" pitchFamily="34" charset="-120"/>
              </a:rPr>
              <a:t>Explainable by design</a:t>
            </a:r>
            <a:endParaRPr lang="en-US" sz="950" dirty="0"/>
          </a:p>
        </p:txBody>
      </p:sp>
      <p:sp>
        <p:nvSpPr>
          <p:cNvPr id="32" name="Text 30"/>
          <p:cNvSpPr/>
          <p:nvPr/>
        </p:nvSpPr>
        <p:spPr>
          <a:xfrm>
            <a:off x="6345936" y="3017520"/>
            <a:ext cx="5169103" cy="457200"/>
          </a:xfrm>
          <a:prstGeom prst="rect">
            <a:avLst/>
          </a:prstGeom>
          <a:noFill/>
          <a:ln/>
        </p:spPr>
        <p:txBody>
          <a:bodyPr wrap="square" lIns="0" tIns="0" rIns="0" bIns="0" rtlCol="0" anchor="ctr"/>
          <a:lstStyle/>
          <a:p>
            <a:pPr marL="0" indent="0">
              <a:lnSpc>
                <a:spcPct val="108000"/>
              </a:lnSpc>
              <a:buNone/>
            </a:pPr>
            <a:r>
              <a:rPr lang="en-US" sz="800" dirty="0">
                <a:solidFill>
                  <a:srgbClr val="3A2E26"/>
                </a:solidFill>
                <a:latin typeface="Calibri" pitchFamily="34" charset="0"/>
                <a:ea typeface="Calibri" pitchFamily="34" charset="-122"/>
                <a:cs typeface="Calibri" pitchFamily="34" charset="-120"/>
              </a:rPr>
              <a:t>Every recommendation states its reasoning — service offered, facility level, distance — rather than an unexplained ranking a user has to trust blindly.</a:t>
            </a:r>
            <a:endParaRPr lang="en-US" sz="800" dirty="0"/>
          </a:p>
        </p:txBody>
      </p:sp>
      <p:sp>
        <p:nvSpPr>
          <p:cNvPr id="33" name="Shape 31"/>
          <p:cNvSpPr/>
          <p:nvPr/>
        </p:nvSpPr>
        <p:spPr>
          <a:xfrm>
            <a:off x="6217920" y="3602736"/>
            <a:ext cx="5425135" cy="786384"/>
          </a:xfrm>
          <a:prstGeom prst="roundRect">
            <a:avLst>
              <a:gd name="adj" fmla="val 6977"/>
            </a:avLst>
          </a:prstGeom>
          <a:solidFill>
            <a:srgbClr val="FDF3E9"/>
          </a:solidFill>
          <a:ln w="9525">
            <a:solidFill>
              <a:srgbClr val="E9D9C8"/>
            </a:solidFill>
            <a:prstDash val="solid"/>
          </a:ln>
        </p:spPr>
      </p:sp>
      <p:sp>
        <p:nvSpPr>
          <p:cNvPr id="34" name="Text 32"/>
          <p:cNvSpPr/>
          <p:nvPr/>
        </p:nvSpPr>
        <p:spPr>
          <a:xfrm>
            <a:off x="6345936" y="3675888"/>
            <a:ext cx="5169103" cy="219456"/>
          </a:xfrm>
          <a:prstGeom prst="rect">
            <a:avLst/>
          </a:prstGeom>
          <a:noFill/>
          <a:ln/>
        </p:spPr>
        <p:txBody>
          <a:bodyPr wrap="square" lIns="0" tIns="0" rIns="0" bIns="0" rtlCol="0" anchor="ctr"/>
          <a:lstStyle/>
          <a:p>
            <a:pPr marL="0" indent="0">
              <a:buNone/>
            </a:pPr>
            <a:r>
              <a:rPr lang="en-US" sz="950" b="1" dirty="0">
                <a:solidFill>
                  <a:srgbClr val="B4550F"/>
                </a:solidFill>
                <a:latin typeface="Calibri" pitchFamily="34" charset="0"/>
                <a:ea typeface="Calibri" pitchFamily="34" charset="-122"/>
                <a:cs typeface="Calibri" pitchFamily="34" charset="-120"/>
              </a:rPr>
              <a:t>Equity awareness</a:t>
            </a:r>
            <a:endParaRPr lang="en-US" sz="950" dirty="0"/>
          </a:p>
        </p:txBody>
      </p:sp>
      <p:sp>
        <p:nvSpPr>
          <p:cNvPr id="35" name="Text 33"/>
          <p:cNvSpPr/>
          <p:nvPr/>
        </p:nvSpPr>
        <p:spPr>
          <a:xfrm>
            <a:off x="6345936" y="3895344"/>
            <a:ext cx="5169103" cy="457200"/>
          </a:xfrm>
          <a:prstGeom prst="rect">
            <a:avLst/>
          </a:prstGeom>
          <a:noFill/>
          <a:ln/>
        </p:spPr>
        <p:txBody>
          <a:bodyPr wrap="square" lIns="0" tIns="0" rIns="0" bIns="0" rtlCol="0" anchor="ctr"/>
          <a:lstStyle/>
          <a:p>
            <a:pPr marL="0" indent="0">
              <a:lnSpc>
                <a:spcPct val="108000"/>
              </a:lnSpc>
              <a:buNone/>
            </a:pPr>
            <a:r>
              <a:rPr lang="en-US" sz="800" dirty="0">
                <a:solidFill>
                  <a:srgbClr val="3A2E26"/>
                </a:solidFill>
                <a:latin typeface="Calibri" pitchFamily="34" charset="0"/>
                <a:ea typeface="Calibri" pitchFamily="34" charset="-122"/>
                <a:cs typeface="Calibri" pitchFamily="34" charset="-120"/>
              </a:rPr>
              <a:t>Facilities in some counties are documented more thoroughly than others. Sparse data should prompt caution, not be read as “worse care.”</a:t>
            </a:r>
            <a:endParaRPr lang="en-US" sz="800" dirty="0"/>
          </a:p>
        </p:txBody>
      </p:sp>
      <p:sp>
        <p:nvSpPr>
          <p:cNvPr id="36" name="Shape 34"/>
          <p:cNvSpPr/>
          <p:nvPr/>
        </p:nvSpPr>
        <p:spPr>
          <a:xfrm>
            <a:off x="6217920" y="4480560"/>
            <a:ext cx="5425135" cy="786384"/>
          </a:xfrm>
          <a:prstGeom prst="roundRect">
            <a:avLst>
              <a:gd name="adj" fmla="val 6977"/>
            </a:avLst>
          </a:prstGeom>
          <a:solidFill>
            <a:srgbClr val="FDF3E9"/>
          </a:solidFill>
          <a:ln w="9525">
            <a:solidFill>
              <a:srgbClr val="E9D9C8"/>
            </a:solidFill>
            <a:prstDash val="solid"/>
          </a:ln>
        </p:spPr>
      </p:sp>
      <p:sp>
        <p:nvSpPr>
          <p:cNvPr id="37" name="Text 35"/>
          <p:cNvSpPr/>
          <p:nvPr/>
        </p:nvSpPr>
        <p:spPr>
          <a:xfrm>
            <a:off x="6345936" y="4553712"/>
            <a:ext cx="5169103" cy="219456"/>
          </a:xfrm>
          <a:prstGeom prst="rect">
            <a:avLst/>
          </a:prstGeom>
          <a:noFill/>
          <a:ln/>
        </p:spPr>
        <p:txBody>
          <a:bodyPr wrap="square" lIns="0" tIns="0" rIns="0" bIns="0" rtlCol="0" anchor="ctr"/>
          <a:lstStyle/>
          <a:p>
            <a:pPr marL="0" indent="0">
              <a:buNone/>
            </a:pPr>
            <a:r>
              <a:rPr lang="en-US" sz="950" b="1" dirty="0">
                <a:solidFill>
                  <a:srgbClr val="B4550F"/>
                </a:solidFill>
                <a:latin typeface="Calibri" pitchFamily="34" charset="0"/>
                <a:ea typeface="Calibri" pitchFamily="34" charset="-122"/>
                <a:cs typeface="Calibri" pitchFamily="34" charset="-120"/>
              </a:rPr>
              <a:t>Minimal data handling</a:t>
            </a:r>
            <a:endParaRPr lang="en-US" sz="950" dirty="0"/>
          </a:p>
        </p:txBody>
      </p:sp>
      <p:sp>
        <p:nvSpPr>
          <p:cNvPr id="38" name="Text 36"/>
          <p:cNvSpPr/>
          <p:nvPr/>
        </p:nvSpPr>
        <p:spPr>
          <a:xfrm>
            <a:off x="6345936" y="4773168"/>
            <a:ext cx="5169103" cy="457200"/>
          </a:xfrm>
          <a:prstGeom prst="rect">
            <a:avLst/>
          </a:prstGeom>
          <a:noFill/>
          <a:ln/>
        </p:spPr>
        <p:txBody>
          <a:bodyPr wrap="square" lIns="0" tIns="0" rIns="0" bIns="0" rtlCol="0" anchor="ctr"/>
          <a:lstStyle/>
          <a:p>
            <a:pPr marL="0" indent="0">
              <a:lnSpc>
                <a:spcPct val="108000"/>
              </a:lnSpc>
              <a:buNone/>
            </a:pPr>
            <a:r>
              <a:rPr lang="en-US" sz="800" dirty="0">
                <a:solidFill>
                  <a:srgbClr val="3A2E26"/>
                </a:solidFill>
                <a:latin typeface="Calibri" pitchFamily="34" charset="0"/>
                <a:ea typeface="Calibri" pitchFamily="34" charset="-122"/>
                <a:cs typeface="Calibri" pitchFamily="34" charset="-120"/>
              </a:rPr>
              <a:t>Location is used only to compute distance for a single session; in this prototype it is not stored, tracked, or linked to identity.</a:t>
            </a:r>
            <a:endParaRPr lang="en-US" sz="800" dirty="0"/>
          </a:p>
        </p:txBody>
      </p:sp>
      <p:sp>
        <p:nvSpPr>
          <p:cNvPr id="39" name="Shape 37"/>
          <p:cNvSpPr/>
          <p:nvPr/>
        </p:nvSpPr>
        <p:spPr>
          <a:xfrm>
            <a:off x="6217920" y="5358384"/>
            <a:ext cx="5425135" cy="786384"/>
          </a:xfrm>
          <a:prstGeom prst="roundRect">
            <a:avLst>
              <a:gd name="adj" fmla="val 6977"/>
            </a:avLst>
          </a:prstGeom>
          <a:solidFill>
            <a:srgbClr val="FDF3E9"/>
          </a:solidFill>
          <a:ln w="9525">
            <a:solidFill>
              <a:srgbClr val="E9D9C8"/>
            </a:solidFill>
            <a:prstDash val="solid"/>
          </a:ln>
        </p:spPr>
      </p:sp>
      <p:sp>
        <p:nvSpPr>
          <p:cNvPr id="40" name="Text 38"/>
          <p:cNvSpPr/>
          <p:nvPr/>
        </p:nvSpPr>
        <p:spPr>
          <a:xfrm>
            <a:off x="6345936" y="5431536"/>
            <a:ext cx="5169103" cy="219456"/>
          </a:xfrm>
          <a:prstGeom prst="rect">
            <a:avLst/>
          </a:prstGeom>
          <a:noFill/>
          <a:ln/>
        </p:spPr>
        <p:txBody>
          <a:bodyPr wrap="square" lIns="0" tIns="0" rIns="0" bIns="0" rtlCol="0" anchor="ctr"/>
          <a:lstStyle/>
          <a:p>
            <a:pPr marL="0" indent="0">
              <a:buNone/>
            </a:pPr>
            <a:r>
              <a:rPr lang="en-US" sz="950" b="1" dirty="0">
                <a:solidFill>
                  <a:srgbClr val="B4550F"/>
                </a:solidFill>
                <a:latin typeface="Calibri" pitchFamily="34" charset="0"/>
                <a:ea typeface="Calibri" pitchFamily="34" charset="-122"/>
                <a:cs typeface="Calibri" pitchFamily="34" charset="-120"/>
              </a:rPr>
              <a:t>Human oversight stays central</a:t>
            </a:r>
            <a:endParaRPr lang="en-US" sz="950" dirty="0"/>
          </a:p>
        </p:txBody>
      </p:sp>
      <p:sp>
        <p:nvSpPr>
          <p:cNvPr id="41" name="Text 39"/>
          <p:cNvSpPr/>
          <p:nvPr/>
        </p:nvSpPr>
        <p:spPr>
          <a:xfrm>
            <a:off x="6345936" y="5650992"/>
            <a:ext cx="5169103" cy="457200"/>
          </a:xfrm>
          <a:prstGeom prst="rect">
            <a:avLst/>
          </a:prstGeom>
          <a:noFill/>
          <a:ln/>
        </p:spPr>
        <p:txBody>
          <a:bodyPr wrap="square" lIns="0" tIns="0" rIns="0" bIns="0" rtlCol="0" anchor="ctr"/>
          <a:lstStyle/>
          <a:p>
            <a:pPr marL="0" indent="0">
              <a:lnSpc>
                <a:spcPct val="108000"/>
              </a:lnSpc>
              <a:buNone/>
            </a:pPr>
            <a:r>
              <a:rPr lang="en-US" sz="800" dirty="0">
                <a:solidFill>
                  <a:srgbClr val="3A2E26"/>
                </a:solidFill>
                <a:latin typeface="Calibri" pitchFamily="34" charset="0"/>
                <a:ea typeface="Calibri" pitchFamily="34" charset="-122"/>
                <a:cs typeface="Calibri" pitchFamily="34" charset="-120"/>
              </a:rPr>
              <a:t>AfyaGuide narrows options and explains its reasoning, but the person — not the algorithm — always makes the final decision.</a:t>
            </a:r>
            <a:endParaRPr lang="en-US" sz="800" dirty="0"/>
          </a:p>
        </p:txBody>
      </p:sp>
      <p:sp>
        <p:nvSpPr>
          <p:cNvPr id="42" name="Text 40"/>
          <p:cNvSpPr/>
          <p:nvPr/>
        </p:nvSpPr>
        <p:spPr>
          <a:xfrm>
            <a:off x="548640" y="6492240"/>
            <a:ext cx="2743200" cy="256032"/>
          </a:xfrm>
          <a:prstGeom prst="rect">
            <a:avLst/>
          </a:prstGeom>
          <a:noFill/>
          <a:ln/>
        </p:spPr>
        <p:txBody>
          <a:bodyPr wrap="square" lIns="0" tIns="0" rIns="0" bIns="0" rtlCol="0" anchor="ctr"/>
          <a:lstStyle/>
          <a:p>
            <a:pPr marL="0" indent="0">
              <a:buNone/>
            </a:pPr>
            <a:r>
              <a:rPr lang="en-US" sz="850" dirty="0">
                <a:solidFill>
                  <a:srgbClr val="8A7364"/>
                </a:solidFill>
                <a:latin typeface="Calibri" pitchFamily="34" charset="0"/>
                <a:ea typeface="Calibri" pitchFamily="34" charset="-122"/>
                <a:cs typeface="Calibri" pitchFamily="34" charset="-120"/>
              </a:rPr>
              <a:t>AfyaGuide</a:t>
            </a:r>
            <a:endParaRPr lang="en-US" sz="850" dirty="0"/>
          </a:p>
        </p:txBody>
      </p:sp>
      <p:sp>
        <p:nvSpPr>
          <p:cNvPr id="43" name="Text 41"/>
          <p:cNvSpPr/>
          <p:nvPr/>
        </p:nvSpPr>
        <p:spPr>
          <a:xfrm>
            <a:off x="10728655" y="6492240"/>
            <a:ext cx="914400" cy="256032"/>
          </a:xfrm>
          <a:prstGeom prst="rect">
            <a:avLst/>
          </a:prstGeom>
          <a:noFill/>
          <a:ln/>
        </p:spPr>
        <p:txBody>
          <a:bodyPr wrap="square" lIns="0" tIns="0" rIns="0" bIns="0" rtlCol="0" anchor="ctr"/>
          <a:lstStyle/>
          <a:p>
            <a:pPr marL="0" indent="0" algn="r">
              <a:buNone/>
            </a:pPr>
            <a:r>
              <a:rPr lang="en-US" sz="850" dirty="0">
                <a:solidFill>
                  <a:srgbClr val="8A7364"/>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41611"/>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669280" cy="5669280"/>
          </a:xfrm>
          <a:prstGeom prst="ellipse">
            <a:avLst/>
          </a:prstGeom>
          <a:solidFill>
            <a:srgbClr val="B4550F">
              <a:alpha val="45000"/>
            </a:srgbClr>
          </a:solidFill>
          <a:ln/>
        </p:spPr>
      </p:sp>
      <p:sp>
        <p:nvSpPr>
          <p:cNvPr id="3" name="Shape 1"/>
          <p:cNvSpPr/>
          <p:nvPr/>
        </p:nvSpPr>
        <p:spPr>
          <a:xfrm>
            <a:off x="-1280160" y="4572000"/>
            <a:ext cx="3291840" cy="3291840"/>
          </a:xfrm>
          <a:prstGeom prst="ellipse">
            <a:avLst/>
          </a:prstGeom>
          <a:solidFill>
            <a:srgbClr val="E36F1E">
              <a:alpha val="55000"/>
            </a:srgbClr>
          </a:solidFill>
          <a:ln/>
        </p:spPr>
        <p:txBody>
          <a:bodyPr/>
          <a:lstStyle/>
          <a:p>
            <a:endParaRPr lang="en-GB" dirty="0"/>
          </a:p>
        </p:txBody>
      </p:sp>
      <p:sp>
        <p:nvSpPr>
          <p:cNvPr id="4" name="Text 2"/>
          <p:cNvSpPr/>
          <p:nvPr/>
        </p:nvSpPr>
        <p:spPr>
          <a:xfrm>
            <a:off x="548640" y="457200"/>
            <a:ext cx="8229600" cy="274320"/>
          </a:xfrm>
          <a:prstGeom prst="rect">
            <a:avLst/>
          </a:prstGeom>
          <a:noFill/>
          <a:ln/>
        </p:spPr>
        <p:txBody>
          <a:bodyPr wrap="square" lIns="0" tIns="0" rIns="0" bIns="0" rtlCol="0" anchor="ctr"/>
          <a:lstStyle/>
          <a:p>
            <a:pPr marL="0" indent="0">
              <a:buNone/>
            </a:pPr>
            <a:r>
              <a:rPr lang="en-US" sz="1150" b="1" kern="0" spc="200" dirty="0">
                <a:solidFill>
                  <a:srgbClr val="E36F1E"/>
                </a:solidFill>
                <a:latin typeface="Calibri" pitchFamily="34" charset="0"/>
                <a:ea typeface="Calibri" pitchFamily="34" charset="-122"/>
                <a:cs typeface="Calibri" pitchFamily="34" charset="-120"/>
              </a:rPr>
              <a:t>WHERE AFYAGUIDE GOES NEXT</a:t>
            </a:r>
            <a:endParaRPr lang="en-US" sz="1150" dirty="0"/>
          </a:p>
        </p:txBody>
      </p:sp>
      <p:sp>
        <p:nvSpPr>
          <p:cNvPr id="5" name="Text 3"/>
          <p:cNvSpPr/>
          <p:nvPr/>
        </p:nvSpPr>
        <p:spPr>
          <a:xfrm>
            <a:off x="548640" y="731520"/>
            <a:ext cx="9601200" cy="594360"/>
          </a:xfrm>
          <a:prstGeom prst="rect">
            <a:avLst/>
          </a:prstGeom>
          <a:noFill/>
          <a:ln/>
        </p:spPr>
        <p:txBody>
          <a:bodyPr wrap="square" lIns="0" tIns="0" rIns="0" bIns="0" rtlCol="0" anchor="ctr"/>
          <a:lstStyle/>
          <a:p>
            <a:pPr marL="0" indent="0">
              <a:buNone/>
            </a:pPr>
            <a:r>
              <a:rPr lang="en-US" sz="2500" b="1" dirty="0">
                <a:solidFill>
                  <a:srgbClr val="FFF6EC"/>
                </a:solidFill>
                <a:latin typeface="Cambria" pitchFamily="34" charset="0"/>
                <a:ea typeface="Cambria" pitchFamily="34" charset="-122"/>
                <a:cs typeface="Cambria" pitchFamily="34" charset="-120"/>
              </a:rPr>
              <a:t>Addressing These Limitations, Responsibly</a:t>
            </a:r>
            <a:endParaRPr lang="en-US" sz="2500" dirty="0"/>
          </a:p>
        </p:txBody>
      </p:sp>
      <p:sp>
        <p:nvSpPr>
          <p:cNvPr id="6" name="Text 4"/>
          <p:cNvSpPr/>
          <p:nvPr/>
        </p:nvSpPr>
        <p:spPr>
          <a:xfrm>
            <a:off x="548640" y="1325880"/>
            <a:ext cx="10515600" cy="411480"/>
          </a:xfrm>
          <a:prstGeom prst="rect">
            <a:avLst/>
          </a:prstGeom>
          <a:noFill/>
          <a:ln/>
        </p:spPr>
        <p:txBody>
          <a:bodyPr wrap="square" lIns="0" tIns="0" rIns="0" bIns="0" rtlCol="0" anchor="ctr"/>
          <a:lstStyle/>
          <a:p>
            <a:pPr marL="0" indent="0">
              <a:lnSpc>
                <a:spcPct val="115000"/>
              </a:lnSpc>
              <a:buNone/>
            </a:pPr>
            <a:r>
              <a:rPr lang="en-US" sz="1100" dirty="0">
                <a:solidFill>
                  <a:srgbClr val="C9B7A8"/>
                </a:solidFill>
                <a:latin typeface="Calibri" pitchFamily="34" charset="0"/>
                <a:ea typeface="Calibri" pitchFamily="34" charset="-122"/>
                <a:cs typeface="Calibri" pitchFamily="34" charset="-120"/>
              </a:rPr>
              <a:t>The limitations above point directly to the next phase of work — each one has a concrete, planned response rather than being treated as a fixed ceiling on what AfyaGuide can become.</a:t>
            </a:r>
            <a:endParaRPr lang="en-US" sz="1100" dirty="0"/>
          </a:p>
        </p:txBody>
      </p:sp>
      <p:sp>
        <p:nvSpPr>
          <p:cNvPr id="7" name="Shape 5"/>
          <p:cNvSpPr/>
          <p:nvPr/>
        </p:nvSpPr>
        <p:spPr>
          <a:xfrm>
            <a:off x="548640" y="1874520"/>
            <a:ext cx="3502152" cy="2880360"/>
          </a:xfrm>
          <a:prstGeom prst="roundRect">
            <a:avLst>
              <a:gd name="adj" fmla="val 2540"/>
            </a:avLst>
          </a:prstGeom>
          <a:solidFill>
            <a:srgbClr val="2E2018"/>
          </a:solidFill>
          <a:ln/>
        </p:spPr>
      </p:sp>
      <p:sp>
        <p:nvSpPr>
          <p:cNvPr id="8" name="Shape 6"/>
          <p:cNvSpPr/>
          <p:nvPr/>
        </p:nvSpPr>
        <p:spPr>
          <a:xfrm>
            <a:off x="731520" y="2057400"/>
            <a:ext cx="310896" cy="310896"/>
          </a:xfrm>
          <a:prstGeom prst="ellipse">
            <a:avLst/>
          </a:prstGeom>
          <a:solidFill>
            <a:srgbClr val="E36F1E"/>
          </a:solidFill>
          <a:ln/>
        </p:spPr>
      </p:sp>
      <p:sp>
        <p:nvSpPr>
          <p:cNvPr id="9" name="Text 7"/>
          <p:cNvSpPr/>
          <p:nvPr/>
        </p:nvSpPr>
        <p:spPr>
          <a:xfrm>
            <a:off x="731520" y="205740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731520" y="2514600"/>
            <a:ext cx="3136392" cy="594360"/>
          </a:xfrm>
          <a:prstGeom prst="rect">
            <a:avLst/>
          </a:prstGeom>
          <a:noFill/>
          <a:ln/>
        </p:spPr>
        <p:txBody>
          <a:bodyPr wrap="square" lIns="0" tIns="0" rIns="0" bIns="0" rtlCol="0" anchor="ctr"/>
          <a:lstStyle/>
          <a:p>
            <a:pPr marL="0" indent="0">
              <a:lnSpc>
                <a:spcPct val="110000"/>
              </a:lnSpc>
              <a:buNone/>
            </a:pPr>
            <a:r>
              <a:rPr lang="en-US" sz="1250" b="1" dirty="0">
                <a:solidFill>
                  <a:srgbClr val="E36F1E"/>
                </a:solidFill>
                <a:latin typeface="Calibri" pitchFamily="34" charset="0"/>
                <a:ea typeface="Calibri" pitchFamily="34" charset="-122"/>
                <a:cs typeface="Calibri" pitchFamily="34" charset="-120"/>
              </a:rPr>
              <a:t>Semantic embeddings</a:t>
            </a:r>
            <a:endParaRPr lang="en-US" sz="1250" dirty="0"/>
          </a:p>
        </p:txBody>
      </p:sp>
      <p:sp>
        <p:nvSpPr>
          <p:cNvPr id="11" name="Text 9"/>
          <p:cNvSpPr/>
          <p:nvPr/>
        </p:nvSpPr>
        <p:spPr>
          <a:xfrm>
            <a:off x="731520" y="3108960"/>
            <a:ext cx="3136392" cy="1508760"/>
          </a:xfrm>
          <a:prstGeom prst="rect">
            <a:avLst/>
          </a:prstGeom>
          <a:noFill/>
          <a:ln/>
        </p:spPr>
        <p:txBody>
          <a:bodyPr wrap="square" lIns="0" tIns="0" rIns="0" bIns="0" rtlCol="0" anchor="ctr"/>
          <a:lstStyle/>
          <a:p>
            <a:pPr marL="0" indent="0">
              <a:lnSpc>
                <a:spcPct val="120000"/>
              </a:lnSpc>
              <a:buNone/>
            </a:pPr>
            <a:r>
              <a:rPr lang="en-US" sz="930" dirty="0">
                <a:solidFill>
                  <a:srgbClr val="D8C6B6"/>
                </a:solidFill>
                <a:latin typeface="Calibri" pitchFamily="34" charset="0"/>
                <a:ea typeface="Calibri" pitchFamily="34" charset="-122"/>
                <a:cs typeface="Calibri" pitchFamily="34" charset="-120"/>
              </a:rPr>
              <a:t>Upgrade query matching beyond TF-IDF toward embeddings that capture deeper meaning, closing the gap seen on indirect or hidden-intent queries like Round 4 of testing.</a:t>
            </a:r>
            <a:endParaRPr lang="en-US" sz="930" dirty="0"/>
          </a:p>
        </p:txBody>
      </p:sp>
      <p:sp>
        <p:nvSpPr>
          <p:cNvPr id="12" name="Shape 10"/>
          <p:cNvSpPr/>
          <p:nvPr/>
        </p:nvSpPr>
        <p:spPr>
          <a:xfrm>
            <a:off x="4251960" y="1874520"/>
            <a:ext cx="3502152" cy="2880360"/>
          </a:xfrm>
          <a:prstGeom prst="roundRect">
            <a:avLst>
              <a:gd name="adj" fmla="val 2540"/>
            </a:avLst>
          </a:prstGeom>
          <a:solidFill>
            <a:srgbClr val="2E2018"/>
          </a:solidFill>
          <a:ln/>
        </p:spPr>
      </p:sp>
      <p:sp>
        <p:nvSpPr>
          <p:cNvPr id="13" name="Shape 11"/>
          <p:cNvSpPr/>
          <p:nvPr/>
        </p:nvSpPr>
        <p:spPr>
          <a:xfrm>
            <a:off x="4434840" y="2057400"/>
            <a:ext cx="310896" cy="310896"/>
          </a:xfrm>
          <a:prstGeom prst="ellipse">
            <a:avLst/>
          </a:prstGeom>
          <a:solidFill>
            <a:srgbClr val="E36F1E"/>
          </a:solidFill>
          <a:ln/>
        </p:spPr>
      </p:sp>
      <p:sp>
        <p:nvSpPr>
          <p:cNvPr id="14" name="Text 12"/>
          <p:cNvSpPr/>
          <p:nvPr/>
        </p:nvSpPr>
        <p:spPr>
          <a:xfrm>
            <a:off x="4434840" y="205740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4434840" y="2514600"/>
            <a:ext cx="3136392" cy="594360"/>
          </a:xfrm>
          <a:prstGeom prst="rect">
            <a:avLst/>
          </a:prstGeom>
          <a:noFill/>
          <a:ln/>
        </p:spPr>
        <p:txBody>
          <a:bodyPr wrap="square" lIns="0" tIns="0" rIns="0" bIns="0" rtlCol="0" anchor="ctr"/>
          <a:lstStyle/>
          <a:p>
            <a:pPr marL="0" indent="0">
              <a:lnSpc>
                <a:spcPct val="110000"/>
              </a:lnSpc>
              <a:buNone/>
            </a:pPr>
            <a:r>
              <a:rPr lang="en-US" sz="1250" b="1" dirty="0">
                <a:solidFill>
                  <a:srgbClr val="E36F1E"/>
                </a:solidFill>
                <a:latin typeface="Calibri" pitchFamily="34" charset="0"/>
                <a:ea typeface="Calibri" pitchFamily="34" charset="-122"/>
                <a:cs typeface="Calibri" pitchFamily="34" charset="-120"/>
              </a:rPr>
              <a:t>Feedback-tuned weights &amp; clinical review</a:t>
            </a:r>
            <a:endParaRPr lang="en-US" sz="1250" dirty="0"/>
          </a:p>
        </p:txBody>
      </p:sp>
      <p:sp>
        <p:nvSpPr>
          <p:cNvPr id="16" name="Text 14"/>
          <p:cNvSpPr/>
          <p:nvPr/>
        </p:nvSpPr>
        <p:spPr>
          <a:xfrm>
            <a:off x="4434840" y="3108960"/>
            <a:ext cx="3136392" cy="1508760"/>
          </a:xfrm>
          <a:prstGeom prst="rect">
            <a:avLst/>
          </a:prstGeom>
          <a:noFill/>
          <a:ln/>
        </p:spPr>
        <p:txBody>
          <a:bodyPr wrap="square" lIns="0" tIns="0" rIns="0" bIns="0" rtlCol="0" anchor="ctr"/>
          <a:lstStyle/>
          <a:p>
            <a:pPr marL="0" indent="0">
              <a:lnSpc>
                <a:spcPct val="120000"/>
              </a:lnSpc>
              <a:buNone/>
            </a:pPr>
            <a:r>
              <a:rPr lang="en-US" sz="930" dirty="0">
                <a:solidFill>
                  <a:srgbClr val="D8C6B6"/>
                </a:solidFill>
                <a:latin typeface="Calibri" pitchFamily="34" charset="0"/>
                <a:ea typeface="Calibri" pitchFamily="34" charset="-122"/>
                <a:cs typeface="Calibri" pitchFamily="34" charset="-120"/>
              </a:rPr>
              <a:t>Refine the service / level / distance weighting using real usage data, and have the taxonomy and scoring formally reviewed by a health professional before any wider use.</a:t>
            </a:r>
            <a:endParaRPr lang="en-US" sz="930" dirty="0"/>
          </a:p>
        </p:txBody>
      </p:sp>
      <p:sp>
        <p:nvSpPr>
          <p:cNvPr id="17" name="Shape 15"/>
          <p:cNvSpPr/>
          <p:nvPr/>
        </p:nvSpPr>
        <p:spPr>
          <a:xfrm>
            <a:off x="7955280" y="1874520"/>
            <a:ext cx="3502152" cy="2880360"/>
          </a:xfrm>
          <a:prstGeom prst="roundRect">
            <a:avLst>
              <a:gd name="adj" fmla="val 2540"/>
            </a:avLst>
          </a:prstGeom>
          <a:solidFill>
            <a:srgbClr val="2E2018"/>
          </a:solidFill>
          <a:ln/>
        </p:spPr>
      </p:sp>
      <p:sp>
        <p:nvSpPr>
          <p:cNvPr id="18" name="Shape 16"/>
          <p:cNvSpPr/>
          <p:nvPr/>
        </p:nvSpPr>
        <p:spPr>
          <a:xfrm>
            <a:off x="8138160" y="2057400"/>
            <a:ext cx="310896" cy="310896"/>
          </a:xfrm>
          <a:prstGeom prst="ellipse">
            <a:avLst/>
          </a:prstGeom>
          <a:solidFill>
            <a:srgbClr val="E36F1E"/>
          </a:solidFill>
          <a:ln/>
        </p:spPr>
      </p:sp>
      <p:sp>
        <p:nvSpPr>
          <p:cNvPr id="19" name="Text 17"/>
          <p:cNvSpPr/>
          <p:nvPr/>
        </p:nvSpPr>
        <p:spPr>
          <a:xfrm>
            <a:off x="8138160" y="205740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8138160" y="2514600"/>
            <a:ext cx="3136392" cy="594360"/>
          </a:xfrm>
          <a:prstGeom prst="rect">
            <a:avLst/>
          </a:prstGeom>
          <a:noFill/>
          <a:ln/>
        </p:spPr>
        <p:txBody>
          <a:bodyPr wrap="square" lIns="0" tIns="0" rIns="0" bIns="0" rtlCol="0" anchor="ctr"/>
          <a:lstStyle/>
          <a:p>
            <a:pPr marL="0" indent="0">
              <a:lnSpc>
                <a:spcPct val="110000"/>
              </a:lnSpc>
              <a:buNone/>
            </a:pPr>
            <a:r>
              <a:rPr lang="en-US" sz="1250" b="1" dirty="0">
                <a:solidFill>
                  <a:srgbClr val="E36F1E"/>
                </a:solidFill>
                <a:latin typeface="Calibri" pitchFamily="34" charset="0"/>
                <a:ea typeface="Calibri" pitchFamily="34" charset="-122"/>
                <a:cs typeface="Calibri" pitchFamily="34" charset="-120"/>
              </a:rPr>
              <a:t>Wider, lower-bandwidth access</a:t>
            </a:r>
            <a:endParaRPr lang="en-US" sz="1250" dirty="0"/>
          </a:p>
        </p:txBody>
      </p:sp>
      <p:sp>
        <p:nvSpPr>
          <p:cNvPr id="21" name="Text 19"/>
          <p:cNvSpPr/>
          <p:nvPr/>
        </p:nvSpPr>
        <p:spPr>
          <a:xfrm>
            <a:off x="8138160" y="3108960"/>
            <a:ext cx="3136392" cy="1508760"/>
          </a:xfrm>
          <a:prstGeom prst="rect">
            <a:avLst/>
          </a:prstGeom>
          <a:noFill/>
          <a:ln/>
        </p:spPr>
        <p:txBody>
          <a:bodyPr wrap="square" lIns="0" tIns="0" rIns="0" bIns="0" rtlCol="0" anchor="ctr"/>
          <a:lstStyle/>
          <a:p>
            <a:pPr marL="0" indent="0">
              <a:lnSpc>
                <a:spcPct val="120000"/>
              </a:lnSpc>
              <a:buNone/>
            </a:pPr>
            <a:r>
              <a:rPr lang="en-US" sz="930" dirty="0">
                <a:solidFill>
                  <a:srgbClr val="D8C6B6"/>
                </a:solidFill>
                <a:latin typeface="Calibri" pitchFamily="34" charset="0"/>
                <a:ea typeface="Calibri" pitchFamily="34" charset="-122"/>
                <a:cs typeface="Calibri" pitchFamily="34" charset="-120"/>
              </a:rPr>
              <a:t>Extend beyond the Gradio prototype toward mobile and low-bandwidth channels, so the tool reaches the underserved areas it's meant to help most.</a:t>
            </a:r>
            <a:endParaRPr lang="en-US" sz="930" dirty="0"/>
          </a:p>
        </p:txBody>
      </p:sp>
      <p:sp>
        <p:nvSpPr>
          <p:cNvPr id="22" name="Shape 20"/>
          <p:cNvSpPr/>
          <p:nvPr/>
        </p:nvSpPr>
        <p:spPr>
          <a:xfrm>
            <a:off x="548640" y="4937760"/>
            <a:ext cx="10908792" cy="0"/>
          </a:xfrm>
          <a:prstGeom prst="line">
            <a:avLst/>
          </a:prstGeom>
          <a:noFill/>
          <a:ln w="12700">
            <a:solidFill>
              <a:srgbClr val="4A392E"/>
            </a:solidFill>
            <a:prstDash val="solid"/>
          </a:ln>
        </p:spPr>
      </p:sp>
      <p:sp>
        <p:nvSpPr>
          <p:cNvPr id="23" name="Text 21"/>
          <p:cNvSpPr/>
          <p:nvPr/>
        </p:nvSpPr>
        <p:spPr>
          <a:xfrm>
            <a:off x="548640" y="5074920"/>
            <a:ext cx="10908792" cy="411480"/>
          </a:xfrm>
          <a:prstGeom prst="rect">
            <a:avLst/>
          </a:prstGeom>
          <a:noFill/>
          <a:ln/>
        </p:spPr>
        <p:txBody>
          <a:bodyPr wrap="square" lIns="0" tIns="0" rIns="0" bIns="0" rtlCol="0" anchor="ctr"/>
          <a:lstStyle/>
          <a:p>
            <a:pPr marL="0" indent="0">
              <a:buNone/>
            </a:pPr>
            <a:r>
              <a:rPr lang="en-US" sz="1150" i="1" dirty="0">
                <a:solidFill>
                  <a:srgbClr val="8A7364"/>
                </a:solidFill>
                <a:latin typeface="Calibri" pitchFamily="34" charset="0"/>
                <a:ea typeface="Calibri" pitchFamily="34" charset="-122"/>
                <a:cs typeface="Calibri" pitchFamily="34" charset="-120"/>
              </a:rPr>
              <a:t>12,050 facilities and over 200,000 raw service records, turned into an explainable, queryable recommendation tool.</a:t>
            </a:r>
            <a:endParaRPr lang="en-US" sz="1150" dirty="0"/>
          </a:p>
        </p:txBody>
      </p:sp>
      <p:sp>
        <p:nvSpPr>
          <p:cNvPr id="24" name="Text 22"/>
          <p:cNvSpPr/>
          <p:nvPr/>
        </p:nvSpPr>
        <p:spPr>
          <a:xfrm>
            <a:off x="548640" y="5989320"/>
            <a:ext cx="731520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  Thank you</a:t>
            </a:r>
            <a:endParaRPr lang="en-US" sz="1700" dirty="0"/>
          </a:p>
        </p:txBody>
      </p:sp>
      <p:sp>
        <p:nvSpPr>
          <p:cNvPr id="25" name="Text 23"/>
          <p:cNvSpPr/>
          <p:nvPr/>
        </p:nvSpPr>
        <p:spPr>
          <a:xfrm>
            <a:off x="548640" y="6492240"/>
            <a:ext cx="2743200" cy="256032"/>
          </a:xfrm>
          <a:prstGeom prst="rect">
            <a:avLst/>
          </a:prstGeom>
          <a:noFill/>
          <a:ln/>
        </p:spPr>
        <p:txBody>
          <a:bodyPr wrap="square" lIns="0" tIns="0" rIns="0" bIns="0" rtlCol="0" anchor="ctr"/>
          <a:lstStyle/>
          <a:p>
            <a:pPr marL="0" indent="0">
              <a:buNone/>
            </a:pPr>
            <a:r>
              <a:rPr lang="en-US" sz="850" dirty="0">
                <a:solidFill>
                  <a:srgbClr val="C9B7A8"/>
                </a:solidFill>
                <a:latin typeface="Calibri" pitchFamily="34" charset="0"/>
                <a:ea typeface="Calibri" pitchFamily="34" charset="-122"/>
                <a:cs typeface="Calibri" pitchFamily="34" charset="-120"/>
              </a:rPr>
              <a:t>AfyaGuide</a:t>
            </a:r>
            <a:endParaRPr lang="en-US" sz="850" dirty="0"/>
          </a:p>
        </p:txBody>
      </p:sp>
      <p:sp>
        <p:nvSpPr>
          <p:cNvPr id="26" name="Text 24"/>
          <p:cNvSpPr/>
          <p:nvPr/>
        </p:nvSpPr>
        <p:spPr>
          <a:xfrm>
            <a:off x="10728655" y="6492240"/>
            <a:ext cx="914400" cy="256032"/>
          </a:xfrm>
          <a:prstGeom prst="rect">
            <a:avLst/>
          </a:prstGeom>
          <a:noFill/>
          <a:ln/>
        </p:spPr>
        <p:txBody>
          <a:bodyPr wrap="square" lIns="0" tIns="0" rIns="0" bIns="0" rtlCol="0" anchor="ctr"/>
          <a:lstStyle/>
          <a:p>
            <a:pPr marL="0" indent="0" algn="r">
              <a:buNone/>
            </a:pPr>
            <a:r>
              <a:rPr lang="en-US" sz="850" dirty="0">
                <a:solidFill>
                  <a:srgbClr val="C9B7A8"/>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942</TotalTime>
  <Words>2585</Words>
  <Application>Microsoft Office PowerPoint</Application>
  <PresentationFormat>Widescreen</PresentationFormat>
  <Paragraphs>272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Lenovo</cp:lastModifiedBy>
  <cp:revision>3</cp:revision>
  <dcterms:created xsi:type="dcterms:W3CDTF">2026-08-12T08:30:55Z</dcterms:created>
  <dcterms:modified xsi:type="dcterms:W3CDTF">2026-08-13T09:03:08Z</dcterms:modified>
</cp:coreProperties>
</file>